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24"/>
  </p:notesMasterIdLst>
  <p:sldIdLst>
    <p:sldId id="256" r:id="rId3"/>
    <p:sldId id="308" r:id="rId4"/>
    <p:sldId id="277" r:id="rId5"/>
    <p:sldId id="284" r:id="rId6"/>
    <p:sldId id="285" r:id="rId7"/>
    <p:sldId id="314" r:id="rId8"/>
    <p:sldId id="307" r:id="rId9"/>
    <p:sldId id="313" r:id="rId10"/>
    <p:sldId id="287" r:id="rId11"/>
    <p:sldId id="296" r:id="rId12"/>
    <p:sldId id="298" r:id="rId13"/>
    <p:sldId id="299" r:id="rId14"/>
    <p:sldId id="315" r:id="rId15"/>
    <p:sldId id="300" r:id="rId16"/>
    <p:sldId id="310" r:id="rId17"/>
    <p:sldId id="302" r:id="rId18"/>
    <p:sldId id="305" r:id="rId19"/>
    <p:sldId id="303" r:id="rId20"/>
    <p:sldId id="290" r:id="rId21"/>
    <p:sldId id="276" r:id="rId22"/>
    <p:sldId id="306" r:id="rId23"/>
  </p:sldIdLst>
  <p:sldSz cx="12192000" cy="6858000"/>
  <p:notesSz cx="6858000" cy="9144000"/>
  <p:embeddedFontLst>
    <p:embeddedFont>
      <p:font typeface="Cambria Math" panose="02040503050406030204" pitchFamily="18" charset="0"/>
      <p:regular r:id="rId25"/>
    </p:embeddedFont>
    <p:embeddedFont>
      <p:font typeface="Play"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454"/>
    <a:srgbClr val="FEE1B9"/>
    <a:srgbClr val="F7A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82A912-CFDB-4CDC-AB56-0BD1045EF94E}" v="1" dt="2026-03-01T12:31:33.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42" autoAdjust="0"/>
    <p:restoredTop sz="86811" autoAdjust="0"/>
  </p:normalViewPr>
  <p:slideViewPr>
    <p:cSldViewPr snapToGrid="0">
      <p:cViewPr varScale="1">
        <p:scale>
          <a:sx n="65" d="100"/>
          <a:sy n="65" d="100"/>
        </p:scale>
        <p:origin x="804" y="5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dirty="0"/>
              <a:t>Good afternoon, thank you very much for your time. This paper analyzes the macroeconomic determinants of corporate debt spreads in local currency in Brazil, with a focus on IPCA-indexed corporate bonds over the period 2010–2025. The central objective is to understand which factors (global, sovereign, and idiosyncratic) explain the cost of real corporate financing in an emerging economy that has a relatively deep local-currency debt market.</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4588-153A-5C8F-074D-84A2C9F36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DEBE3-8100-96F3-2A93-5E745A9B1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5DC44-E50C-A13F-F4D8-78D50636DEEA}"/>
              </a:ext>
            </a:extLst>
          </p:cNvPr>
          <p:cNvSpPr>
            <a:spLocks noGrp="1"/>
          </p:cNvSpPr>
          <p:nvPr>
            <p:ph type="body" idx="1"/>
          </p:nvPr>
        </p:nvSpPr>
        <p:spPr/>
        <p:txBody>
          <a:bodyPr/>
          <a:lstStyle/>
          <a:p>
            <a:r>
              <a:rPr lang="en-US" dirty="0"/>
              <a:t>Before going into the details, let me give you an overview of the paper.</a:t>
            </a:r>
            <a:br>
              <a:rPr lang="en-US" dirty="0"/>
            </a:br>
            <a:r>
              <a:rPr lang="en-US" dirty="0"/>
              <a:t>What I study: corporate debt spreads in local currency in Brazil, between 2010 and 2025.</a:t>
            </a:r>
            <a:br>
              <a:rPr lang="en-US" dirty="0"/>
            </a:br>
            <a:r>
              <a:rPr lang="en-US" dirty="0"/>
              <a:t>Why it is relevant: because the evidence on local-currency corporate debt in emerging economies is limited, and because it is important to understand how global and sovereign shocks are transmitted to the corporate sector.</a:t>
            </a:r>
            <a:br>
              <a:rPr lang="en-US" dirty="0"/>
            </a:br>
            <a:r>
              <a:rPr lang="en-US" dirty="0"/>
              <a:t>How I analyze it: using bond-level panel data with fixed effects, combining a systematic mapping of the literature with an empirical strategy and several robustness exercises.</a:t>
            </a:r>
            <a:br>
              <a:rPr lang="en-US" dirty="0"/>
            </a:br>
            <a:r>
              <a:rPr lang="en-US" dirty="0"/>
              <a:t>And what I find: that macroeconomic and global factors dominate the formation of spreads, that the sovereign–corporate relationship is not standard, and that there are natural extensions of the analysis incorporating ratings and CDS.</a:t>
            </a:r>
          </a:p>
        </p:txBody>
      </p:sp>
      <p:sp>
        <p:nvSpPr>
          <p:cNvPr id="4" name="Slide Number Placeholder 3">
            <a:extLst>
              <a:ext uri="{FF2B5EF4-FFF2-40B4-BE49-F238E27FC236}">
                <a16:creationId xmlns:a16="http://schemas.microsoft.com/office/drawing/2014/main" id="{E132DADD-95E8-81F6-C23A-555991EFEAD8}"/>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s-E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lang="es-E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717014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for the presentation. First, I present the motivation and objectives of the paper. Then I explain the empirical strategy, including the literature review, data construction, and econometric methodology. In the second part, I show the main results, the robustness exercises, and their economic interpretation. Finally, I discuss possible extensions of the analysis and conclude with the main contributions and limitations.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3</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949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dirty="0"/>
              <a:t>In this slide, I present the basic conceptual framework of the paper. The central idea is that local-currency corporate debt spreads arise from the interaction between two main blocks. On the one hand, global financial conditions, captured by global risk aversion (measured by the VIX) and by the U.S. monetary policy cycle, through the three-month forward rate. On the other hand, Brazil’s local and sovereign factors, which include local-currency sovereign risk, the exchange rate as a channel of risk perception and balance-sheet effects, and the evolution of real economic activity. The combination of these factors is reflected in the spreads of IPCA-indexed corporate bonds, which measure the cost of real corporate financing in Brazil over the period 2010–2025.</a:t>
            </a:r>
            <a:endParaRPr lang="es-ES" sz="1200" dirty="0">
              <a:latin typeface="Arial"/>
              <a:ea typeface="Arial"/>
              <a:cs typeface="Arial"/>
              <a:sym typeface="Arial"/>
            </a:endParaRP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4</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1289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this conceptual framework, the main objective of the paper is to identify and quantify the global, sovereign, and idiosyncratic determinants of local-currency corporate debt spreads in Brazil. To achieve this objective, the paper is organized into four components. First, it establishes the conceptual and empirical framework based on the literature, identifying the relevant factors in emerging economies. Second, it addresses the measurement problem by constructing a consistent measure of real spreads, taking into account the OTC structure of the Brazilian market. Third, it specifies and estimates the econometric model to assess the impact of the different factors on spreads. Finally, it evaluates the robustness of the results using alternative specifications and estimators.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5</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6514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937AF-3A87-12A6-F666-842C4AB22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F0DBD-D65A-3577-8540-D68E54FF8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40D86-76AA-AE08-5670-E64A44653DBA}"/>
              </a:ext>
            </a:extLst>
          </p:cNvPr>
          <p:cNvSpPr>
            <a:spLocks noGrp="1"/>
          </p:cNvSpPr>
          <p:nvPr>
            <p:ph type="body" idx="1"/>
          </p:nvPr>
        </p:nvSpPr>
        <p:spPr/>
        <p:txBody>
          <a:bodyPr/>
          <a:lstStyle/>
          <a:p>
            <a:r>
              <a:rPr lang="pt-BR" dirty="0"/>
              <a:t>Antes de entrar na metodologia, vale organizar a pergunta central do trabalho. O objetivo é entender quais são os determinantes dos spreads corporativos em moeda local no Brasil, e isso envolve três dimensões: fatores globais, risco soberano e características específicas das empresas e dos títulos. </a:t>
            </a:r>
            <a:r>
              <a:rPr lang="pt-BR"/>
              <a:t>É essa estrutura que vai guiar tanto as hipóteses quanto a análise empírica.</a:t>
            </a:r>
            <a:endParaRPr lang="en-US" dirty="0"/>
          </a:p>
        </p:txBody>
      </p:sp>
      <p:sp>
        <p:nvSpPr>
          <p:cNvPr id="4" name="Slide Number Placeholder 3">
            <a:extLst>
              <a:ext uri="{FF2B5EF4-FFF2-40B4-BE49-F238E27FC236}">
                <a16:creationId xmlns:a16="http://schemas.microsoft.com/office/drawing/2014/main" id="{7C4EE3CC-D64B-8C86-C040-269701EEB1C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6</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7969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in a schematic way, the empirical strategy and data construction. We start from issuance information and bond characteristics, secondary-market prices in a highly fragmented OTC market, and inflation-linked derivatives. From these sources, corporate yields are constructed, along with a real risk-free curve consistent with IPCA, and finally bond-level corporate spreads. These spreads are the dependent variable of the model and are explained by global factors, sovereign risk, local macroeconomic conditions, and bond- and firm-level characteristics. The purpose of this scheme is not to show every technical step, but to make clear that the analysis relies on a consistent and transparent data construction.</a:t>
            </a:r>
            <a:endParaRPr lang="es-E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7</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3905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6,926 securities, after restricting to fixed-rate, inflation-linked bonds and excluding government and financial issuers, we get 1,220 securities. Of those, </a:t>
            </a:r>
            <a:r>
              <a:rPr lang="en-US" b="1" dirty="0"/>
              <a:t>only 8.4% belong to the financial sector</a:t>
            </a:r>
            <a:r>
              <a:rPr lang="en-US" dirty="0"/>
              <a:t>, while </a:t>
            </a:r>
            <a:r>
              <a:rPr lang="en-US" b="1" dirty="0"/>
              <a:t>91.6% are non-financial corporates</a:t>
            </a:r>
            <a:r>
              <a:rPr lang="en-US" dirty="0"/>
              <a:t>.</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8</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5876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Clr>
                <a:schemeClr val="dk1"/>
              </a:buClr>
              <a:buSzPts val="1100"/>
              <a:buFont typeface="Arial"/>
              <a:buNone/>
            </a:pPr>
            <a:r>
              <a:rPr lang="en-US" dirty="0"/>
              <a:t>Before moving directly to the data and estimation, let me briefly explain how the literature informs the paper’s empirical strategy. A systematic literature review and bibliometric mapping exercise was conducted using Scopus, with a focus on sovereign and corporate spreads in emerging economies and in Brazil. This exercise makes it possible to identify the most commonly studied determinants in the literature (global factors, sovereign risk, macro-financial channels, and firm-level controls) while also detecting relevant gaps. In particular, the evidence on local-currency corporate debt, with a focus on Brazil and using bond-level data, is limited. This diagnosis directly guides the choice of variables, the model specification, and the identification strategy used in the empirical analysis.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9</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3504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phase, I move on to describe the data and the market structure. The analysis is based on a monthly panel of non-financial corporate bonds in Brazil, denominated in reais and exclusively indexed to IPCA, covering the period from 2010 to 2025. The final sample includes 103 bonds issued by 48 firms, with just over 4,200 monthly observations. It is important to note that this is a predominantly OTC market, with no centralized price formation, where quotes come from multiple dealers and institutions and liquidity is heterogeneous. For this reason, a central part of the paper consists of consolidating prices from up to 28 different sources, selecting for each bond and date the most reliable and continuous quote, and filtering outliers. This procedure makes it possible to construct consistent time series for the estimation of the panel data model.</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10</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264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second phase, I explain how the spread is constructed and which explanatory variables are included in the model. The corporate spread is defined as the difference between the yield on the corporate bond and a real risk-free curve consistent with IPCA. In this way, the spread measures the cost of corporate financing in real terms. The exclusive focus on IPCA-indexed bonds makes it possible to isolate real credit risk, avoiding contamination from inflation or nominal monetary policy. To construct the real risk-free curve, IPCA futures are used at the short end (up to five years) and sovereign NTN-B bonds at the long end, extending the curve using a Nelson–Siegel approach and ensuring a smooth transition at the splice point. As for the explanatory variables, they are grouped into four blocks: global factors, sovereign risk and local macroeconomic conditions, and bond- and firm-level characteristics. This classification reflects the different channels through which spreads are formed, which are then evaluated empirically in the model.</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11</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7835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third phase, I turn to the econometric methodology. The baseline model is a static panel with bond-level fixed effects, estimated using monthly data from 2010 to 2025 and with standard errors clustered at the issuer level. The choice of fixed effects is motivated by strong unobserved heterogeneity across bonds and issuers: around 82% of the variance of spreads is explained by structural differences between bonds. In addition, the Hausman test rejects the random-effects specification, indicating that these unobserved characteristics are correlated with the regressors. As for dynamic models, they were considered as an alternative, but in this context the lagged spread mechanically dominates the regression, with a coefficient close to 0.9. This reflects frictions inherent to the OTC market and reduces the interpretability of the economic channels. For this reason, the dynamic model is used only as a robustness exercise, while the static fixed-effects model is adopted as the main specification.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12</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2379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2E07-47AC-3B28-D4BD-0B03030DA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A1987-DA2E-6C17-6739-039DAA20B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0C586-B1D4-7D7A-922B-694830C2AFF7}"/>
              </a:ext>
            </a:extLst>
          </p:cNvPr>
          <p:cNvSpPr>
            <a:spLocks noGrp="1"/>
          </p:cNvSpPr>
          <p:nvPr>
            <p:ph type="body" idx="1"/>
          </p:nvPr>
        </p:nvSpPr>
        <p:spPr/>
        <p:txBody>
          <a:bodyPr/>
          <a:lstStyle/>
          <a:p>
            <a:r>
              <a:rPr lang="en-US" dirty="0"/>
              <a:t>In this third phase, I turn to the econometric methodology. The baseline model is a static panel with bond-level fixed effects, estimated using monthly data from 2010 to 2025 and with standard errors clustered at the issuer level. The choice of fixed effects is motivated by strong unobserved heterogeneity across bonds and issuers: around 82% of the variance of spreads is explained by structural differences between bonds. In addition, the Hausman test rejects the random-effects specification, indicating that these unobserved characteristics are correlated with the regressors. As for dynamic models, they were considered as an alternative, but in this context the lagged spread mechanically dominates the regression, with a coefficient close to 0.9. This reflects frictions inherent to the OTC market and reduces the interpretability of the economic channels. For this reason, the dynamic model is used only as a robustness exercise, while the static fixed-effects model is adopted as the main specification.</a:t>
            </a:r>
          </a:p>
        </p:txBody>
      </p:sp>
      <p:sp>
        <p:nvSpPr>
          <p:cNvPr id="4" name="Slide Number Placeholder 3">
            <a:extLst>
              <a:ext uri="{FF2B5EF4-FFF2-40B4-BE49-F238E27FC236}">
                <a16:creationId xmlns:a16="http://schemas.microsoft.com/office/drawing/2014/main" id="{70774E28-14A6-BCD1-69BD-BF81976DCE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13</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2947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now turn to the main results of the fixed-effects model. The first clear message is that global and macroeconomic factors dominate the formation of local-currency corporate spreads. In particular, a tightening of international monetary conditions (captured by the three-month Fed forward rate) significantly increases spreads. Likewise, an exchange rate depreciation has a strong positive effect, confirming that the exchange-rate channel is central to corporate risk. By contrast, stronger economic growth reduces spreads, consistent with lower default expectations.</a:t>
            </a:r>
          </a:p>
          <a:p>
            <a:r>
              <a:rPr lang="en-US" dirty="0"/>
              <a:t>A second important result concerns local-currency sovereign risk. The coefficient on the synthetic sovereign CDS is negative and statistically significant, implying that corporate spreads do not mechanically follow the traditional sovereign ceiling approach. This is a non-standard result, suggesting the presence of non-linear effects or portfolio rebalancing in the IPCA-linked bond segment. Finally, among bond- and firm-level variables, the relative size of the issuance is the only robust determinant: larger issues exhibit lower spreads, pointing to a liquidity effect. Overall, the results indicate that macroeconomic and global factors explain most of the variation in spreads.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14</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8053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FAB4-4DFA-727B-3547-9C96CE70A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1748E-0509-B48B-9477-FE1B5D175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F25C4-679E-BB9E-813F-5B603F6C1C9D}"/>
              </a:ext>
            </a:extLst>
          </p:cNvPr>
          <p:cNvSpPr>
            <a:spLocks noGrp="1"/>
          </p:cNvSpPr>
          <p:nvPr>
            <p:ph type="body" idx="1"/>
          </p:nvPr>
        </p:nvSpPr>
        <p:spPr/>
        <p:txBody>
          <a:bodyPr/>
          <a:lstStyle/>
          <a:p>
            <a:r>
              <a:rPr lang="en-US" dirty="0"/>
              <a:t>In this slide, I present the main robustness exercises. Alternative specifications were estimated, including a fixed-effects model with a lagged spread and PCSE estimators with different correlation structures. The first important result is that the signs and significance of the main determinants are generally preserved. However, when the lagged spread is included, it dominates the regression with a coefficient close to 0.9, reflecting mechanical persistence associated with price frictions in an OTC market rather than an economic adjustment process. The PCSE estimators prove to be unstable in this large and unbalanced panel. Overall, these exercises confirm that the static fixed-effects model is the most stable and interpretable specification, and therefore it is adopted as the baseline model.</a:t>
            </a:r>
          </a:p>
        </p:txBody>
      </p:sp>
      <p:sp>
        <p:nvSpPr>
          <p:cNvPr id="4" name="Slide Number Placeholder 3">
            <a:extLst>
              <a:ext uri="{FF2B5EF4-FFF2-40B4-BE49-F238E27FC236}">
                <a16:creationId xmlns:a16="http://schemas.microsoft.com/office/drawing/2014/main" id="{36FD7C75-86B7-1401-30DD-E0D9557C1A1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15</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8339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move from the results to their economic interpretation. The first point is that local-currency corporate spreads respond mainly to global and macroeconomic factors, in particular to international monetary conditions and the exchange rate. This implies that local-currency corporate debt is not insulated from the global financial cycle, and that the exchange-rate channel plays a central role in the transmission of risk. Second, when we look at bond- and firm-level characteristics, issuance size emerges as the only robust determinant, suggesting that secondary-market liquidity is more relevant than traditional accounting indicators. Most other structural characteristics are largely absorbed by the fixed effects.</a:t>
            </a:r>
          </a:p>
          <a:p>
            <a:r>
              <a:rPr lang="en-US" dirty="0"/>
              <a:t>A particularly interesting result is the relationship between sovereign risk and corporate spreads. The negative coefficient on local-currency sovereign CDS challenges the traditional sovereign ceiling view. One possible interpretation is that, during episodes of sovereign stress, investors rebalance portfolios toward higher-quality corporates, especially in the IPCA-linked segment, which may function as a relatively safe local-currency asset. Finally, the persistence observed in spreads appears to reflect frictions inherent to the OTC market and price formation processes, rather than a slow adjustment to economic information.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16</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43899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AD30-C954-C3A3-FFB0-148392A8B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EB0A8-6F49-A96F-A105-17DE6C8BA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6F88B-8F0C-0D18-14F1-2E05699DE5B8}"/>
              </a:ext>
            </a:extLst>
          </p:cNvPr>
          <p:cNvSpPr>
            <a:spLocks noGrp="1"/>
          </p:cNvSpPr>
          <p:nvPr>
            <p:ph type="body" idx="1"/>
          </p:nvPr>
        </p:nvSpPr>
        <p:spPr/>
        <p:txBody>
          <a:bodyPr/>
          <a:lstStyle/>
          <a:p>
            <a:r>
              <a:rPr lang="en-US" dirty="0"/>
              <a:t>To conclude, I summarize the main conclusions and contributions of the paper. In terms of results, the central message is that local-currency corporate spreads in Brazil are determined primarily by global monetary conditions and the exchange rate. Once heterogeneity across bonds and issuers is controlled for, firm fundamentals play a secondary role. In addition, the sovereign–corporate relationship in IPCA-indexed bonds is not mechanical, and the OTC structure of the market is key to understanding the observed dynamics.</a:t>
            </a:r>
          </a:p>
          <a:p>
            <a:r>
              <a:rPr lang="en-US" dirty="0"/>
              <a:t>From an academic perspective, the paper provides new empirical evidence on local-currency corporate debt in a relevant emerging economy and challenges the traditional sovereign ceiling view in this market segment. From a methodological standpoint, it highlights the construction of a real risk-free curve consistent with IPCA and the rigorous treatment of prices in a fragmented OTC market, using a bond-level fixed-effects panel. Finally, from an applied perspective, the results are relevant for pricing, risk management, and relative-value strategies, and offer useful insights for investors, issuers, and regulators in emerging debt markets.</a:t>
            </a:r>
          </a:p>
        </p:txBody>
      </p:sp>
      <p:sp>
        <p:nvSpPr>
          <p:cNvPr id="4" name="Slide Number Placeholder 3">
            <a:extLst>
              <a:ext uri="{FF2B5EF4-FFF2-40B4-BE49-F238E27FC236}">
                <a16:creationId xmlns:a16="http://schemas.microsoft.com/office/drawing/2014/main" id="{4D392823-0939-5BCE-DB1C-2DB5B363EF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17</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8729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A0B0-DAB2-F9C1-0A90-EF6E2CA70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C9BE6-BC1A-CF9D-8BD2-FFA79D679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3594A-1CEC-52A8-A69B-CC488D48045C}"/>
              </a:ext>
            </a:extLst>
          </p:cNvPr>
          <p:cNvSpPr>
            <a:spLocks noGrp="1"/>
          </p:cNvSpPr>
          <p:nvPr>
            <p:ph type="body" idx="1"/>
          </p:nvPr>
        </p:nvSpPr>
        <p:spPr/>
        <p:txBody>
          <a:bodyPr/>
          <a:lstStyle/>
          <a:p>
            <a:r>
              <a:rPr lang="en-US" dirty="0"/>
              <a:t>Before closing, I would like to briefly highlight some limitations of the analysis and a clear avenue for future research. Regarding limitations, the paper relies on indicative prices from an OTC market rather than on observed transactions. In addition, the baseline econometric model does not explicitly incorporate credit ratings, and the monthly frequency limits the analysis of market microstructure. Finally, the results focus on the segment of IPCA-indexed corporate bonds in Brazil.</a:t>
            </a:r>
          </a:p>
          <a:p>
            <a:r>
              <a:rPr lang="en-US" dirty="0"/>
              <a:t>These limitations, however, naturally motivate an extension of the work. The results point to a non-standard sovereign–corporate relationship, and it is possible that market-based measures (such as spreads) react more quickly than ratings, which capture long-term structural credit risk. A natural extension is to incorporate long-term local-currency ratings, both sovereign and corporate, for the period 2010–2025, and to analyze the dynamics of rating changes and persistence. In particular, this would make it possible to assess whether spreads anticipate rating changes, how corporate ratings follow sovereign rating cycles, and whether the sovereign ceiling mechanism operates differently depending on the rating level.</a:t>
            </a:r>
          </a:p>
        </p:txBody>
      </p:sp>
      <p:sp>
        <p:nvSpPr>
          <p:cNvPr id="4" name="Slide Number Placeholder 3">
            <a:extLst>
              <a:ext uri="{FF2B5EF4-FFF2-40B4-BE49-F238E27FC236}">
                <a16:creationId xmlns:a16="http://schemas.microsoft.com/office/drawing/2014/main" id="{3B90AA6A-8808-6F4B-48B7-94854E21F3D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18</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0323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part of the work presented today, but I include it as a reference to other academic projects I worked on over the course of the master’s program.</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19</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3591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20</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9522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D4253-8DBC-B443-90F9-2DC3F19C8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3F04E-F237-A616-DFF3-3245AEDFF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86B83-124D-052B-33CE-55AEC7C2701F}"/>
              </a:ext>
            </a:extLst>
          </p:cNvPr>
          <p:cNvSpPr>
            <a:spLocks noGrp="1"/>
          </p:cNvSpPr>
          <p:nvPr>
            <p:ph type="body" idx="1"/>
          </p:nvPr>
        </p:nvSpPr>
        <p:spPr/>
        <p:txBody>
          <a:bodyPr/>
          <a:lstStyle/>
          <a:p>
            <a:r>
              <a:rPr lang="en-US" dirty="0"/>
              <a:t>Thank you for your attention.</a:t>
            </a:r>
            <a:br>
              <a:rPr lang="en-US" dirty="0"/>
            </a:br>
            <a:r>
              <a:rPr lang="en-US" dirty="0"/>
              <a:t>I look forward to your comments and suggestions.</a:t>
            </a:r>
          </a:p>
        </p:txBody>
      </p:sp>
      <p:sp>
        <p:nvSpPr>
          <p:cNvPr id="4" name="Slide Number Placeholder 3">
            <a:extLst>
              <a:ext uri="{FF2B5EF4-FFF2-40B4-BE49-F238E27FC236}">
                <a16:creationId xmlns:a16="http://schemas.microsoft.com/office/drawing/2014/main" id="{592390FC-3B39-8334-654B-2D78B7FD8F8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smtClean="0">
                <a:solidFill>
                  <a:schemeClr val="dk1"/>
                </a:solidFill>
                <a:latin typeface="Calibri"/>
                <a:ea typeface="Calibri"/>
                <a:cs typeface="Calibri"/>
                <a:sym typeface="Calibri"/>
              </a:rPr>
              <a:t>21</a:t>
            </a:fld>
            <a:endParaRPr lang="es-E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5604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F63B83-92C5-4B87-BF29-FD9E790E798E}"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2738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DE0BA-1728-432C-80F9-06EC301EE526}"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88677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EF6540-9ECA-4E22-8C5A-93847E1531D3}"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12600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2B9F11-A965-405F-B7D9-D5FA14A24322}" type="datetime1">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152512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838728-4F4B-4E0E-BAD6-2F184DED51CC}" type="datetime1">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0572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F5293-8089-433B-B76A-2667791DFB3B}" type="datetime1">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5976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95996-2841-4ABE-B904-8E67B5112972}" type="datetime1">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2956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B0674C7B-6395-4177-8482-F8DDB2C60C90}" type="datetime1">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1666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ED208CD3-A498-4048-963F-95C52F22920A}" type="datetime1">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5192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60E96-2860-4EAF-8C9F-165354B055F8}"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555195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F930F8-4D68-4F98-9C03-8FB1ACB0A1C9}" type="datetime1">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29073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0050F886-A410-493D-8568-C8CEE197A811}" type="datetime1">
              <a:rPr lang="en-US" smtClean="0"/>
              <a:t>4/4/2026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3657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hyperlink" Target="https://tsiqueira4.pythonanywhere.com/sov_surface/ipca"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jpeg"/><Relationship Id="rId12" Type="http://schemas.openxmlformats.org/officeDocument/2006/relationships/image" Target="../media/image15.png"/><Relationship Id="rId2" Type="http://schemas.openxmlformats.org/officeDocument/2006/relationships/notesSlide" Target="../notesSlides/notesSlide9.xml"/><Relationship Id="rId16" Type="http://schemas.openxmlformats.org/officeDocument/2006/relationships/image" Target="../media/image19.png"/><Relationship Id="rId1" Type="http://schemas.openxmlformats.org/officeDocument/2006/relationships/slideLayout" Target="../slideLayouts/slideLayout1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jpe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image" Target="../media/image20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descr="Sesión del Consejo Superior - Miércoles 13 - YouTube"/>
          <p:cNvPicPr preferRelativeResize="0"/>
          <p:nvPr/>
        </p:nvPicPr>
        <p:blipFill rotWithShape="1">
          <a:blip r:embed="rId3">
            <a:alphaModFix/>
          </a:blip>
          <a:srcRect b="84905"/>
          <a:stretch/>
        </p:blipFill>
        <p:spPr>
          <a:xfrm>
            <a:off x="0" y="1"/>
            <a:ext cx="12192000" cy="1035170"/>
          </a:xfrm>
          <a:prstGeom prst="rect">
            <a:avLst/>
          </a:prstGeom>
          <a:noFill/>
          <a:ln>
            <a:noFill/>
          </a:ln>
        </p:spPr>
      </p:pic>
      <p:sp>
        <p:nvSpPr>
          <p:cNvPr id="89" name="Google Shape;89;p13"/>
          <p:cNvSpPr txBox="1">
            <a:spLocks noGrp="1"/>
          </p:cNvSpPr>
          <p:nvPr>
            <p:ph type="ctrTitle"/>
          </p:nvPr>
        </p:nvSpPr>
        <p:spPr>
          <a:xfrm>
            <a:off x="381000" y="633352"/>
            <a:ext cx="11430000" cy="84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000"/>
              <a:buFont typeface="Calibri"/>
              <a:buNone/>
            </a:pPr>
            <a:r>
              <a:rPr lang="es-ES" sz="3800" b="1" dirty="0" err="1">
                <a:solidFill>
                  <a:schemeClr val="lt1"/>
                </a:solidFill>
                <a:latin typeface="Calibri" panose="020F0502020204030204" pitchFamily="34" charset="0"/>
                <a:ea typeface="Calibri"/>
                <a:cs typeface="Calibri" panose="020F0502020204030204" pitchFamily="34" charset="0"/>
                <a:sym typeface="Calibri"/>
              </a:rPr>
              <a:t>Master’s</a:t>
            </a:r>
            <a:r>
              <a:rPr lang="es-ES" sz="3800" b="1" dirty="0">
                <a:solidFill>
                  <a:schemeClr val="lt1"/>
                </a:solidFill>
                <a:latin typeface="Calibri" panose="020F0502020204030204" pitchFamily="34" charset="0"/>
                <a:ea typeface="Calibri"/>
                <a:cs typeface="Calibri" panose="020F0502020204030204" pitchFamily="34" charset="0"/>
                <a:sym typeface="Calibri"/>
              </a:rPr>
              <a:t> </a:t>
            </a:r>
            <a:r>
              <a:rPr lang="es-ES" sz="3800" b="1" dirty="0" err="1">
                <a:solidFill>
                  <a:schemeClr val="lt1"/>
                </a:solidFill>
                <a:latin typeface="Calibri" panose="020F0502020204030204" pitchFamily="34" charset="0"/>
                <a:ea typeface="Calibri"/>
                <a:cs typeface="Calibri" panose="020F0502020204030204" pitchFamily="34" charset="0"/>
                <a:sym typeface="Calibri"/>
              </a:rPr>
              <a:t>Thesis</a:t>
            </a:r>
            <a:r>
              <a:rPr lang="es-ES" sz="3800" b="1" dirty="0">
                <a:solidFill>
                  <a:schemeClr val="lt1"/>
                </a:solidFill>
                <a:latin typeface="Calibri" panose="020F0502020204030204" pitchFamily="34" charset="0"/>
                <a:ea typeface="Calibri"/>
                <a:cs typeface="Calibri" panose="020F0502020204030204" pitchFamily="34" charset="0"/>
                <a:sym typeface="Calibri"/>
              </a:rPr>
              <a:t> in </a:t>
            </a:r>
            <a:r>
              <a:rPr lang="es-ES" sz="3800" b="1" dirty="0" err="1">
                <a:solidFill>
                  <a:schemeClr val="lt1"/>
                </a:solidFill>
                <a:latin typeface="Calibri" panose="020F0502020204030204" pitchFamily="34" charset="0"/>
                <a:ea typeface="Calibri"/>
                <a:cs typeface="Calibri" panose="020F0502020204030204" pitchFamily="34" charset="0"/>
                <a:sym typeface="Calibri"/>
              </a:rPr>
              <a:t>Economics</a:t>
            </a:r>
            <a:br>
              <a:rPr lang="es-ES" sz="3800" b="1" dirty="0">
                <a:solidFill>
                  <a:schemeClr val="lt1"/>
                </a:solidFill>
                <a:latin typeface="Calibri" panose="020F0502020204030204" pitchFamily="34" charset="0"/>
                <a:ea typeface="Calibri"/>
                <a:cs typeface="Calibri" panose="020F0502020204030204" pitchFamily="34" charset="0"/>
                <a:sym typeface="Calibri"/>
              </a:rPr>
            </a:br>
            <a:br>
              <a:rPr lang="es-ES" sz="3800" b="1" dirty="0">
                <a:solidFill>
                  <a:schemeClr val="lt1"/>
                </a:solidFill>
                <a:latin typeface="Calibri" panose="020F0502020204030204" pitchFamily="34" charset="0"/>
                <a:ea typeface="Calibri"/>
                <a:cs typeface="Calibri" panose="020F0502020204030204" pitchFamily="34" charset="0"/>
                <a:sym typeface="Calibri"/>
              </a:rPr>
            </a:br>
            <a:endParaRPr lang="es-ES" sz="3800" b="1" dirty="0">
              <a:solidFill>
                <a:schemeClr val="lt1"/>
              </a:solidFill>
              <a:latin typeface="Calibri" panose="020F0502020204030204" pitchFamily="34" charset="0"/>
              <a:ea typeface="Calibri"/>
              <a:cs typeface="Calibri" panose="020F0502020204030204" pitchFamily="34" charset="0"/>
              <a:sym typeface="Calibri"/>
            </a:endParaRPr>
          </a:p>
        </p:txBody>
      </p:sp>
      <p:pic>
        <p:nvPicPr>
          <p:cNvPr id="90" name="Google Shape;90;p13" descr="Sesión del Consejo Superior - Miércoles 13 - YouTube"/>
          <p:cNvPicPr preferRelativeResize="0"/>
          <p:nvPr/>
        </p:nvPicPr>
        <p:blipFill rotWithShape="1">
          <a:blip r:embed="rId3">
            <a:alphaModFix/>
          </a:blip>
          <a:srcRect l="23798" t="30231" r="22711" b="27883"/>
          <a:stretch/>
        </p:blipFill>
        <p:spPr>
          <a:xfrm>
            <a:off x="6237863" y="5846818"/>
            <a:ext cx="1683126" cy="741379"/>
          </a:xfrm>
          <a:prstGeom prst="rect">
            <a:avLst/>
          </a:prstGeom>
          <a:noFill/>
          <a:ln>
            <a:noFill/>
          </a:ln>
        </p:spPr>
      </p:pic>
      <p:sp>
        <p:nvSpPr>
          <p:cNvPr id="92" name="Google Shape;92;p13"/>
          <p:cNvSpPr txBox="1"/>
          <p:nvPr/>
        </p:nvSpPr>
        <p:spPr>
          <a:xfrm>
            <a:off x="300242" y="2155508"/>
            <a:ext cx="11591515" cy="121333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4400"/>
              <a:buFont typeface="Calibri"/>
              <a:buNone/>
            </a:pPr>
            <a:r>
              <a:rPr lang="en-US" sz="4400" b="1" i="0" u="none" strike="noStrike" cap="none" dirty="0">
                <a:solidFill>
                  <a:schemeClr val="dk1"/>
                </a:solidFill>
                <a:latin typeface="Calibri" panose="020F0502020204030204" pitchFamily="34" charset="0"/>
                <a:ea typeface="Calibri"/>
                <a:cs typeface="Calibri" panose="020F0502020204030204" pitchFamily="34" charset="0"/>
                <a:sym typeface="Calibri"/>
              </a:rPr>
              <a:t>The determinants of corporate bond spreads in local currency in Brazil: a panel study 2010-2025</a:t>
            </a:r>
            <a:endParaRPr sz="4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93" name="Google Shape;93;p13"/>
          <p:cNvSpPr txBox="1"/>
          <p:nvPr/>
        </p:nvSpPr>
        <p:spPr>
          <a:xfrm>
            <a:off x="1326863" y="4478545"/>
            <a:ext cx="4911000" cy="741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Calibri"/>
              <a:buNone/>
            </a:pPr>
            <a:r>
              <a:rPr lang="es-ES" sz="20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Student</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Thiago da Silva Siqueira</a:t>
            </a:r>
            <a:endParaRPr dirty="0">
              <a:latin typeface="Calibri" panose="020F0502020204030204" pitchFamily="34" charset="0"/>
              <a:cs typeface="Calibri" panose="020F0502020204030204" pitchFamily="34" charset="0"/>
            </a:endParaRPr>
          </a:p>
          <a:p>
            <a:pPr marL="0" marR="0" lvl="0" indent="0" algn="l" rtl="0">
              <a:lnSpc>
                <a:spcPct val="90000"/>
              </a:lnSpc>
              <a:spcBef>
                <a:spcPts val="0"/>
              </a:spcBef>
              <a:spcAft>
                <a:spcPts val="0"/>
              </a:spcAft>
              <a:buNone/>
            </a:pP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Supervisor: </a:t>
            </a:r>
            <a:r>
              <a:rPr lang="es-ES" sz="2000" dirty="0">
                <a:solidFill>
                  <a:schemeClr val="dk1"/>
                </a:solidFill>
                <a:latin typeface="Calibri" panose="020F0502020204030204" pitchFamily="34" charset="0"/>
                <a:ea typeface="Calibri"/>
                <a:cs typeface="Calibri" panose="020F0502020204030204" pitchFamily="34" charset="0"/>
                <a:sym typeface="Calibri"/>
              </a:rPr>
              <a:t>Prof. Dr. </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Martín Grandes</a:t>
            </a:r>
            <a:endParaRPr sz="20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94" name="Google Shape;94;p13"/>
          <p:cNvSpPr txBox="1"/>
          <p:nvPr/>
        </p:nvSpPr>
        <p:spPr>
          <a:xfrm>
            <a:off x="7175119" y="4478545"/>
            <a:ext cx="4223400" cy="844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Calibri"/>
              <a:buNone/>
            </a:pP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Buenos Aires, </a:t>
            </a:r>
            <a:r>
              <a:rPr lang="es-ES" sz="20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December</a:t>
            </a:r>
            <a:r>
              <a:rPr lang="es-ES"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23, 2025</a:t>
            </a:r>
            <a:endParaRPr sz="20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pic>
        <p:nvPicPr>
          <p:cNvPr id="3" name="Picture 2" descr="A blue and yellow logo&#10;&#10;AI-generated content may be incorrect.">
            <a:extLst>
              <a:ext uri="{FF2B5EF4-FFF2-40B4-BE49-F238E27FC236}">
                <a16:creationId xmlns:a16="http://schemas.microsoft.com/office/drawing/2014/main" id="{D9D6D60E-B6E5-AB26-EBB0-A152E703BF19}"/>
              </a:ext>
            </a:extLst>
          </p:cNvPr>
          <p:cNvPicPr>
            <a:picLocks noChangeAspect="1"/>
          </p:cNvPicPr>
          <p:nvPr/>
        </p:nvPicPr>
        <p:blipFill>
          <a:blip r:embed="rId4"/>
          <a:stretch>
            <a:fillRect/>
          </a:stretch>
        </p:blipFill>
        <p:spPr>
          <a:xfrm>
            <a:off x="4634047" y="5761407"/>
            <a:ext cx="847558" cy="912202"/>
          </a:xfrm>
          <a:prstGeom prst="rect">
            <a:avLst/>
          </a:prstGeom>
        </p:spPr>
      </p:pic>
      <p:cxnSp>
        <p:nvCxnSpPr>
          <p:cNvPr id="4" name="Conector reto 8">
            <a:extLst>
              <a:ext uri="{FF2B5EF4-FFF2-40B4-BE49-F238E27FC236}">
                <a16:creationId xmlns:a16="http://schemas.microsoft.com/office/drawing/2014/main" id="{C84780A9-220E-46AB-21B5-9A9BE62AF1F3}"/>
              </a:ext>
            </a:extLst>
          </p:cNvPr>
          <p:cNvCxnSpPr/>
          <p:nvPr/>
        </p:nvCxnSpPr>
        <p:spPr>
          <a:xfrm>
            <a:off x="0" y="5526862"/>
            <a:ext cx="12192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4861-5B8C-A56D-808B-1676E9475413}"/>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CA8C65C2-08DC-CC96-D8BE-E96FE646C72F}"/>
              </a:ext>
            </a:extLst>
          </p:cNvPr>
          <p:cNvSpPr txBox="1"/>
          <p:nvPr/>
        </p:nvSpPr>
        <p:spPr>
          <a:xfrm>
            <a:off x="179400" y="56951"/>
            <a:ext cx="10810420" cy="492443"/>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prstClr val="black"/>
                </a:solidFill>
                <a:effectLst/>
                <a:uLnTx/>
                <a:uFillTx/>
                <a:latin typeface="Calibri"/>
                <a:ea typeface="M PLUS 2" pitchFamily="2" charset="-128"/>
                <a:cs typeface="Arial"/>
                <a:sym typeface="Arial"/>
              </a:rPr>
              <a:t>Bird view </a:t>
            </a:r>
          </a:p>
        </p:txBody>
      </p:sp>
      <p:sp>
        <p:nvSpPr>
          <p:cNvPr id="4" name="TextBox 5">
            <a:extLst>
              <a:ext uri="{FF2B5EF4-FFF2-40B4-BE49-F238E27FC236}">
                <a16:creationId xmlns:a16="http://schemas.microsoft.com/office/drawing/2014/main" id="{3B3DE881-4CCA-562F-0F64-BEECB925CED0}"/>
              </a:ext>
            </a:extLst>
          </p:cNvPr>
          <p:cNvSpPr txBox="1"/>
          <p:nvPr/>
        </p:nvSpPr>
        <p:spPr>
          <a:xfrm>
            <a:off x="1930136" y="1240487"/>
            <a:ext cx="9139101" cy="5232202"/>
          </a:xfrm>
          <a:prstGeom prst="rect">
            <a:avLst/>
          </a:prstGeom>
        </p:spPr>
        <p:txBody>
          <a:bodyPr wrap="square" lIns="0" tIns="0" rIns="0" bIns="0" rtlCol="0" anchor="t">
            <a:spAutoFit/>
          </a:bodyPr>
          <a:lstStyle/>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Corporate bond spreads in local currency (BRL) in Brazil (2010-2025)</a:t>
            </a:r>
            <a:endParaRPr kumimoji="0" lang="pt-BR"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lang="pt-BR" sz="2000" b="1" kern="1200" dirty="0">
              <a:solidFill>
                <a:prstClr val="black"/>
              </a:solidFill>
              <a:latin typeface="Calibri" panose="020F0502020204030204" pitchFamily="34" charset="0"/>
              <a:ea typeface="+mn-ea"/>
              <a:cs typeface="Calibri" panose="020F0502020204030204" pitchFamily="34"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lang="pt-BR" sz="2000" b="1" kern="1200" dirty="0">
              <a:solidFill>
                <a:prstClr val="black"/>
              </a:solidFill>
              <a:latin typeface="Calibri" panose="020F0502020204030204" pitchFamily="34" charset="0"/>
              <a:ea typeface="+mn-ea"/>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Limited evidence on local-currency corporate debt in Ems</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Need to understand global-sovereign</a:t>
            </a:r>
            <a:r>
              <a:rPr lang="en-US" sz="2000" b="1" kern="1200" dirty="0">
                <a:solidFill>
                  <a:prstClr val="black"/>
                </a:solidFill>
                <a:latin typeface="Calibri" panose="020F0502020204030204" pitchFamily="34" charset="0"/>
                <a:ea typeface="M PLUS 2" pitchFamily="2" charset="-128"/>
                <a:cs typeface="Calibri" panose="020F0502020204030204" pitchFamily="34" charset="0"/>
              </a:rPr>
              <a:t>-</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corporate transmission</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Bond-level panel data (FE)</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Systematic literature mapping + empirical strategy</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Robustness across specifications</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Macro and global factors dominate spreads</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Non-standard sovereign-corporate relationship</a:t>
            </a:r>
          </a:p>
          <a:p>
            <a:pPr marL="342900" marR="0" lvl="0" indent="-34290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rPr>
              <a:t>Clear extensions using ratings and CDS</a:t>
            </a:r>
          </a:p>
          <a:p>
            <a:pPr marL="0" marR="0" lvl="0" indent="0" algn="l" defTabSz="609630" rtl="0" eaLnBrk="1" fontAlgn="auto" latinLnBrk="0" hangingPunct="1">
              <a:lnSpc>
                <a:spcPct val="100000"/>
              </a:lnSpc>
              <a:spcBef>
                <a:spcPts val="0"/>
              </a:spcBef>
              <a:spcAft>
                <a:spcPts val="0"/>
              </a:spcAft>
              <a:buClrTx/>
              <a:buSzTx/>
              <a:buFontTx/>
              <a:buNone/>
              <a:tabLst/>
              <a:defRPr/>
            </a:pPr>
            <a:endParaRPr lang="en-US" sz="2000" b="1" kern="1200" dirty="0">
              <a:solidFill>
                <a:prstClr val="black"/>
              </a:solidFill>
              <a:latin typeface="Calibri" panose="020F0502020204030204" pitchFamily="34" charset="0"/>
              <a:ea typeface="M PLUS 2" pitchFamily="2" charset="-128"/>
              <a:cs typeface="Calibri" panose="020F0502020204030204" pitchFamily="34" charset="0"/>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 PLUS 2" pitchFamily="2" charset="-128"/>
              <a:cs typeface="Calibri" panose="020F0502020204030204" pitchFamily="34" charset="0"/>
            </a:endParaRPr>
          </a:p>
        </p:txBody>
      </p:sp>
      <p:sp>
        <p:nvSpPr>
          <p:cNvPr id="6" name="Retângulo 92">
            <a:extLst>
              <a:ext uri="{FF2B5EF4-FFF2-40B4-BE49-F238E27FC236}">
                <a16:creationId xmlns:a16="http://schemas.microsoft.com/office/drawing/2014/main" id="{41EC5767-2E2D-7049-8E2D-1BB7A8DFE3D4}"/>
              </a:ext>
            </a:extLst>
          </p:cNvPr>
          <p:cNvSpPr/>
          <p:nvPr/>
        </p:nvSpPr>
        <p:spPr>
          <a:xfrm>
            <a:off x="1519901" y="1198336"/>
            <a:ext cx="9437041" cy="51819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7" name="Retângulo 13">
            <a:extLst>
              <a:ext uri="{FF2B5EF4-FFF2-40B4-BE49-F238E27FC236}">
                <a16:creationId xmlns:a16="http://schemas.microsoft.com/office/drawing/2014/main" id="{D5D96539-5646-23F1-5244-E8778C1357AA}"/>
              </a:ext>
            </a:extLst>
          </p:cNvPr>
          <p:cNvSpPr/>
          <p:nvPr/>
        </p:nvSpPr>
        <p:spPr>
          <a:xfrm>
            <a:off x="1688331" y="1037838"/>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What</a:t>
            </a:r>
          </a:p>
        </p:txBody>
      </p:sp>
      <p:sp>
        <p:nvSpPr>
          <p:cNvPr id="8" name="Retângulo 92">
            <a:extLst>
              <a:ext uri="{FF2B5EF4-FFF2-40B4-BE49-F238E27FC236}">
                <a16:creationId xmlns:a16="http://schemas.microsoft.com/office/drawing/2014/main" id="{B075D138-2030-4FBE-95F4-7C53055D325D}"/>
              </a:ext>
            </a:extLst>
          </p:cNvPr>
          <p:cNvSpPr/>
          <p:nvPr/>
        </p:nvSpPr>
        <p:spPr>
          <a:xfrm>
            <a:off x="1527924" y="2030484"/>
            <a:ext cx="9437039" cy="88100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Retângulo 13">
            <a:extLst>
              <a:ext uri="{FF2B5EF4-FFF2-40B4-BE49-F238E27FC236}">
                <a16:creationId xmlns:a16="http://schemas.microsoft.com/office/drawing/2014/main" id="{6E69D2CF-E515-B144-58A7-2837C1C38E58}"/>
              </a:ext>
            </a:extLst>
          </p:cNvPr>
          <p:cNvSpPr/>
          <p:nvPr/>
        </p:nvSpPr>
        <p:spPr>
          <a:xfrm>
            <a:off x="1688331" y="1916051"/>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Why</a:t>
            </a:r>
          </a:p>
        </p:txBody>
      </p:sp>
      <p:sp>
        <p:nvSpPr>
          <p:cNvPr id="11" name="Retângulo 92">
            <a:extLst>
              <a:ext uri="{FF2B5EF4-FFF2-40B4-BE49-F238E27FC236}">
                <a16:creationId xmlns:a16="http://schemas.microsoft.com/office/drawing/2014/main" id="{15B2F4D4-AA65-5DD7-0018-D7E6938AF5BB}"/>
              </a:ext>
            </a:extLst>
          </p:cNvPr>
          <p:cNvSpPr/>
          <p:nvPr/>
        </p:nvSpPr>
        <p:spPr>
          <a:xfrm>
            <a:off x="1551988" y="3225448"/>
            <a:ext cx="9437039" cy="120741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Retângulo 13">
            <a:extLst>
              <a:ext uri="{FF2B5EF4-FFF2-40B4-BE49-F238E27FC236}">
                <a16:creationId xmlns:a16="http://schemas.microsoft.com/office/drawing/2014/main" id="{F22D3711-DD35-A81A-F740-F3E7D12810CD}"/>
              </a:ext>
            </a:extLst>
          </p:cNvPr>
          <p:cNvSpPr/>
          <p:nvPr/>
        </p:nvSpPr>
        <p:spPr>
          <a:xfrm>
            <a:off x="1688331" y="3157077"/>
            <a:ext cx="742930" cy="24835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How</a:t>
            </a:r>
          </a:p>
        </p:txBody>
      </p:sp>
      <p:sp>
        <p:nvSpPr>
          <p:cNvPr id="15" name="Retângulo 92">
            <a:extLst>
              <a:ext uri="{FF2B5EF4-FFF2-40B4-BE49-F238E27FC236}">
                <a16:creationId xmlns:a16="http://schemas.microsoft.com/office/drawing/2014/main" id="{99A181CF-AB98-070D-8848-6490CA4CFAFD}"/>
              </a:ext>
            </a:extLst>
          </p:cNvPr>
          <p:cNvSpPr/>
          <p:nvPr/>
        </p:nvSpPr>
        <p:spPr>
          <a:xfrm>
            <a:off x="1552352" y="4746816"/>
            <a:ext cx="9428655" cy="1207413"/>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0" name="Retângulo 13">
            <a:extLst>
              <a:ext uri="{FF2B5EF4-FFF2-40B4-BE49-F238E27FC236}">
                <a16:creationId xmlns:a16="http://schemas.microsoft.com/office/drawing/2014/main" id="{0991DB72-FD5D-0ABC-CB45-03564146BA19}"/>
              </a:ext>
            </a:extLst>
          </p:cNvPr>
          <p:cNvSpPr/>
          <p:nvPr/>
        </p:nvSpPr>
        <p:spPr>
          <a:xfrm>
            <a:off x="1688331" y="4692647"/>
            <a:ext cx="1098879" cy="23010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r>
              <a:rPr lang="pt-BR" b="1" i="1" dirty="0">
                <a:solidFill>
                  <a:srgbClr val="012EA5"/>
                </a:solidFill>
                <a:latin typeface="Calibri" panose="020F0502020204030204" pitchFamily="34" charset="0"/>
                <a:cs typeface="Calibri" panose="020F0502020204030204" pitchFamily="34" charset="0"/>
              </a:rPr>
              <a:t>Outcome</a:t>
            </a:r>
          </a:p>
        </p:txBody>
      </p:sp>
    </p:spTree>
    <p:extLst>
      <p:ext uri="{BB962C8B-B14F-4D97-AF65-F5344CB8AC3E}">
        <p14:creationId xmlns:p14="http://schemas.microsoft.com/office/powerpoint/2010/main" val="1219532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E1B9"/>
        </a:solidFill>
        <a:effectLst/>
      </p:bgPr>
    </p:bg>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545D9955-955B-F50A-BCAE-EF63EF54E23E}"/>
              </a:ext>
            </a:extLst>
          </p:cNvPr>
          <p:cNvSpPr txBox="1"/>
          <p:nvPr/>
        </p:nvSpPr>
        <p:spPr>
          <a:xfrm>
            <a:off x="4542813" y="342175"/>
            <a:ext cx="6675119" cy="6463308"/>
          </a:xfrm>
          <a:prstGeom prst="rect">
            <a:avLst/>
          </a:prstGeom>
        </p:spPr>
        <p:txBody>
          <a:bodyPr wrap="square" lIns="0" tIns="0" rIns="0" bIns="0" rtlCol="0" anchor="t">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a:ln>
                  <a:noFill/>
                </a:ln>
                <a:solidFill>
                  <a:schemeClr val="tx1"/>
                </a:solidFill>
                <a:effectLst/>
                <a:uLnTx/>
                <a:uFillTx/>
                <a:latin typeface="+mj-lt"/>
                <a:ea typeface="+mn-ea"/>
                <a:cs typeface="+mn-cs"/>
              </a:rPr>
              <a:t>Introduction</a:t>
            </a:r>
          </a:p>
          <a:p>
            <a:pPr marL="0" marR="0" lvl="0" indent="0" algn="l" defTabSz="609630" rtl="0" eaLnBrk="1" fontAlgn="auto" latinLnBrk="0" hangingPunct="1">
              <a:lnSpc>
                <a:spcPct val="100000"/>
              </a:lnSpc>
              <a:spcBef>
                <a:spcPts val="0"/>
              </a:spcBef>
              <a:spcAft>
                <a:spcPts val="0"/>
              </a:spcAft>
              <a:buClrTx/>
              <a:buSzTx/>
              <a:buFontTx/>
              <a:buNone/>
              <a:tabLst/>
              <a:defRPr/>
            </a:pPr>
            <a:endParaRPr lang="pt-BR" sz="2000" b="1" kern="1200" dirty="0">
              <a:solidFill>
                <a:schemeClr val="tx1"/>
              </a:solidFill>
              <a:latin typeface="+mj-lt"/>
              <a:ea typeface="+mn-ea"/>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Research Objectives</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Research Method (Empirical Strategy &amp; Data Constr.)</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mj-lt"/>
                <a:ea typeface="M PLUS 2" pitchFamily="2" charset="-128"/>
                <a:cs typeface="+mn-cs"/>
              </a:rPr>
              <a:t>Systematic Literature Review &amp; Empirical Strategy</a:t>
            </a:r>
          </a:p>
          <a:p>
            <a:pPr marL="0" marR="0" lvl="0" indent="0" algn="l" defTabSz="609630" rtl="0" eaLnBrk="1" fontAlgn="auto" latinLnBrk="0" hangingPunct="1">
              <a:lnSpc>
                <a:spcPct val="100000"/>
              </a:lnSpc>
              <a:spcBef>
                <a:spcPts val="0"/>
              </a:spcBef>
              <a:spcAft>
                <a:spcPts val="0"/>
              </a:spcAft>
              <a:buClrTx/>
              <a:buSzTx/>
              <a:buFontTx/>
              <a:buNone/>
              <a:tabLst/>
              <a:defRPr/>
            </a:pPr>
            <a:endParaRPr lang="en-US" sz="2000" b="1" kern="1200" dirty="0">
              <a:solidFill>
                <a:schemeClr val="tx1"/>
              </a:solidFill>
              <a:latin typeface="+mj-lt"/>
              <a:ea typeface="M PLUS 2" pitchFamily="2" charset="-128"/>
              <a:cs typeface="+mn-cs"/>
            </a:endParaRPr>
          </a:p>
          <a:p>
            <a:pPr lvl="0" defTabSz="609630">
              <a:buClrTx/>
              <a:defRPr/>
            </a:pPr>
            <a:r>
              <a:rPr lang="en-US" sz="2000" b="1" kern="1200" dirty="0">
                <a:solidFill>
                  <a:schemeClr val="tx1"/>
                </a:solidFill>
                <a:latin typeface="+mj-lt"/>
                <a:ea typeface="M PLUS 2" pitchFamily="2" charset="-128"/>
                <a:cs typeface="+mn-cs"/>
              </a:rPr>
              <a:t>Data &amp; Market Structure</a:t>
            </a:r>
          </a:p>
          <a:p>
            <a:pPr lvl="0" defTabSz="609630">
              <a:buClrTx/>
              <a:defRPr/>
            </a:pPr>
            <a:r>
              <a:rPr lang="en-US" sz="2000" b="1" kern="1200" dirty="0">
                <a:solidFill>
                  <a:schemeClr val="tx1"/>
                </a:solidFill>
                <a:latin typeface="+mj-lt"/>
                <a:ea typeface="M PLUS 2" pitchFamily="2" charset="-128"/>
                <a:cs typeface="+mn-cs"/>
              </a:rPr>
              <a:t>Spread Construction / Variables</a:t>
            </a:r>
          </a:p>
          <a:p>
            <a:pPr lvl="0" defTabSz="609630">
              <a:buClrTx/>
              <a:defRPr/>
            </a:pPr>
            <a:r>
              <a:rPr lang="en-US" sz="2000" b="1" kern="1200" dirty="0">
                <a:solidFill>
                  <a:schemeClr val="tx1"/>
                </a:solidFill>
                <a:latin typeface="+mj-lt"/>
                <a:ea typeface="M PLUS 2" pitchFamily="2" charset="-128"/>
                <a:cs typeface="+mn-cs"/>
              </a:rPr>
              <a:t>Methodology (FE + why not dynamic)</a:t>
            </a:r>
          </a:p>
          <a:p>
            <a:pPr lvl="0" defTabSz="609630">
              <a:buClrTx/>
              <a:defRPr/>
            </a:pPr>
            <a:endParaRPr lang="en-US" sz="2000" b="1" kern="1200" dirty="0">
              <a:solidFill>
                <a:schemeClr val="tx1"/>
              </a:solidFill>
              <a:latin typeface="+mj-lt"/>
              <a:ea typeface="M PLUS 2" pitchFamily="2" charset="-128"/>
              <a:cs typeface="+mn-cs"/>
            </a:endParaRPr>
          </a:p>
          <a:p>
            <a:pPr lvl="0" defTabSz="609630">
              <a:buClrTx/>
              <a:defRPr/>
            </a:pPr>
            <a:r>
              <a:rPr lang="en-US" sz="2000" b="1" kern="1200" dirty="0">
                <a:solidFill>
                  <a:schemeClr val="tx1"/>
                </a:solidFill>
                <a:latin typeface="+mj-lt"/>
                <a:ea typeface="M PLUS 2" pitchFamily="2" charset="-128"/>
                <a:cs typeface="+mn-cs"/>
              </a:rPr>
              <a:t>Main Results</a:t>
            </a:r>
          </a:p>
          <a:p>
            <a:pPr lvl="0" defTabSz="609630">
              <a:buClrTx/>
              <a:defRPr/>
            </a:pPr>
            <a:r>
              <a:rPr lang="en-US" sz="2000" b="1" kern="1200" dirty="0">
                <a:solidFill>
                  <a:schemeClr val="tx1"/>
                </a:solidFill>
                <a:latin typeface="+mj-lt"/>
                <a:ea typeface="M PLUS 2" pitchFamily="2" charset="-128"/>
                <a:cs typeface="+mn-cs"/>
              </a:rPr>
              <a:t>Robustness Checks</a:t>
            </a:r>
          </a:p>
          <a:p>
            <a:pPr lvl="0" defTabSz="609630">
              <a:buClrTx/>
              <a:defRPr/>
            </a:pPr>
            <a:r>
              <a:rPr lang="en-US" sz="2000" b="1" kern="1200" dirty="0">
                <a:solidFill>
                  <a:schemeClr val="tx1"/>
                </a:solidFill>
                <a:latin typeface="+mj-lt"/>
                <a:ea typeface="M PLUS 2" pitchFamily="2" charset="-128"/>
                <a:cs typeface="+mn-cs"/>
              </a:rPr>
              <a:t>Interpretation of Results</a:t>
            </a:r>
          </a:p>
          <a:p>
            <a:pPr lvl="0" defTabSz="609630">
              <a:buClrTx/>
              <a:defRPr/>
            </a:pPr>
            <a:r>
              <a:rPr lang="en-US" sz="2000" b="1" kern="1200" dirty="0">
                <a:solidFill>
                  <a:schemeClr val="tx1"/>
                </a:solidFill>
                <a:latin typeface="+mj-lt"/>
                <a:ea typeface="M PLUS 2" pitchFamily="2" charset="-128"/>
                <a:cs typeface="+mn-cs"/>
              </a:rPr>
              <a:t>Extensions: Credit Ratings</a:t>
            </a:r>
          </a:p>
          <a:p>
            <a:pPr lvl="0" defTabSz="609630">
              <a:buClrTx/>
              <a:defRPr/>
            </a:pPr>
            <a:r>
              <a:rPr lang="en-US" sz="2000" b="1" kern="1200" dirty="0">
                <a:solidFill>
                  <a:schemeClr val="tx1"/>
                </a:solidFill>
                <a:latin typeface="+mj-lt"/>
                <a:ea typeface="M PLUS 2" pitchFamily="2" charset="-128"/>
                <a:cs typeface="+mn-cs"/>
              </a:rPr>
              <a:t>Contributions &amp; Limitations</a:t>
            </a:r>
          </a:p>
          <a:p>
            <a:pPr defTabSz="609630">
              <a:buClrTx/>
              <a:defRPr/>
            </a:pPr>
            <a:r>
              <a:rPr lang="en-US" sz="2000" b="1" kern="1200" dirty="0">
                <a:solidFill>
                  <a:schemeClr val="tx1"/>
                </a:solidFill>
                <a:latin typeface="+mj-lt"/>
                <a:ea typeface="M PLUS 2" pitchFamily="2" charset="-128"/>
              </a:rPr>
              <a:t>Conclusion / Discussions</a:t>
            </a:r>
          </a:p>
          <a:p>
            <a:pPr lvl="0" defTabSz="609630">
              <a:buClrTx/>
              <a:defRPr/>
            </a:pPr>
            <a:endParaRPr lang="en-US" sz="2000" b="1" kern="1200" dirty="0">
              <a:solidFill>
                <a:schemeClr val="tx1"/>
              </a:solidFill>
              <a:latin typeface="+mj-lt"/>
              <a:ea typeface="M PLUS 2" pitchFamily="2" charset="-128"/>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pt-BR" sz="2000" b="1" i="0" u="none" strike="noStrike" kern="1200" cap="none" spc="0" normalizeH="0" baseline="0" noProof="0" dirty="0">
                <a:ln>
                  <a:noFill/>
                </a:ln>
                <a:solidFill>
                  <a:schemeClr val="tx1"/>
                </a:solidFill>
                <a:effectLst/>
                <a:uLnTx/>
                <a:uFillTx/>
                <a:latin typeface="+mj-lt"/>
                <a:ea typeface="+mn-ea"/>
                <a:cs typeface="+mn-cs"/>
              </a:rPr>
              <a:t>Roadmap</a:t>
            </a:r>
            <a:br>
              <a:rPr kumimoji="0" lang="pt-BR" sz="2000" b="1" i="0" u="none" strike="noStrike" kern="1200" cap="none" spc="0" normalizeH="0" baseline="0" noProof="0" dirty="0">
                <a:ln>
                  <a:noFill/>
                </a:ln>
                <a:solidFill>
                  <a:schemeClr val="tx1"/>
                </a:solidFill>
                <a:effectLst/>
                <a:uLnTx/>
                <a:uFillTx/>
                <a:latin typeface="+mj-lt"/>
                <a:ea typeface="+mn-ea"/>
                <a:cs typeface="+mn-cs"/>
              </a:rPr>
            </a:br>
            <a:r>
              <a:rPr kumimoji="0" lang="pt-BR" sz="2000" b="1" i="0" u="none" strike="noStrike" kern="1200" cap="none" spc="0" normalizeH="0" baseline="0" noProof="0" dirty="0">
                <a:ln>
                  <a:noFill/>
                </a:ln>
                <a:solidFill>
                  <a:schemeClr val="tx1"/>
                </a:solidFill>
                <a:effectLst/>
                <a:uLnTx/>
                <a:uFillTx/>
                <a:latin typeface="+mj-lt"/>
                <a:ea typeface="+mn-ea"/>
                <a:cs typeface="+mn-cs"/>
              </a:rPr>
              <a:t>References</a:t>
            </a:r>
          </a:p>
        </p:txBody>
      </p:sp>
      <p:sp>
        <p:nvSpPr>
          <p:cNvPr id="6" name="TextBox 6">
            <a:extLst>
              <a:ext uri="{FF2B5EF4-FFF2-40B4-BE49-F238E27FC236}">
                <a16:creationId xmlns:a16="http://schemas.microsoft.com/office/drawing/2014/main" id="{D9241031-FD0B-95A3-EB57-3F369F451E0A}"/>
              </a:ext>
            </a:extLst>
          </p:cNvPr>
          <p:cNvSpPr txBox="1"/>
          <p:nvPr/>
        </p:nvSpPr>
        <p:spPr>
          <a:xfrm>
            <a:off x="935541" y="2843634"/>
            <a:ext cx="4731838" cy="705321"/>
          </a:xfrm>
          <a:prstGeom prst="rect">
            <a:avLst/>
          </a:prstGeom>
        </p:spPr>
        <p:txBody>
          <a:bodyPr wrap="square" lIns="0" tIns="0" rIns="0" bIns="0" rtlCol="0" anchor="t">
            <a:spAutoFit/>
          </a:bodyPr>
          <a:lstStyle/>
          <a:p>
            <a:pPr marL="0" marR="0" lvl="0" indent="0" algn="l" defTabSz="609630" rtl="0" eaLnBrk="1" fontAlgn="auto" latinLnBrk="0" hangingPunct="1">
              <a:lnSpc>
                <a:spcPts val="5540"/>
              </a:lnSpc>
              <a:spcBef>
                <a:spcPts val="0"/>
              </a:spcBef>
              <a:spcAft>
                <a:spcPts val="0"/>
              </a:spcAft>
              <a:buClrTx/>
              <a:buSzTx/>
              <a:buFontTx/>
              <a:buNone/>
              <a:tabLst/>
              <a:defRPr/>
            </a:pPr>
            <a:r>
              <a:rPr kumimoji="0" lang="en-US" sz="4617" b="1" i="0" u="none" strike="noStrike" kern="1200" cap="none" spc="0" normalizeH="0" baseline="0" noProof="0" dirty="0">
                <a:ln>
                  <a:noFill/>
                </a:ln>
                <a:solidFill>
                  <a:prstClr val="black"/>
                </a:solidFill>
                <a:effectLst/>
                <a:uLnTx/>
                <a:uFillTx/>
                <a:latin typeface="+mj-lt"/>
                <a:ea typeface="M PLUS 2" pitchFamily="2" charset="-128"/>
                <a:cs typeface="+mn-cs"/>
              </a:rPr>
              <a:t>Agenda</a:t>
            </a:r>
          </a:p>
        </p:txBody>
      </p:sp>
      <p:cxnSp>
        <p:nvCxnSpPr>
          <p:cNvPr id="3" name="Conector reto 2">
            <a:extLst>
              <a:ext uri="{FF2B5EF4-FFF2-40B4-BE49-F238E27FC236}">
                <a16:creationId xmlns:a16="http://schemas.microsoft.com/office/drawing/2014/main" id="{ED09B9F6-52FA-298E-07D1-C09DAF325BFF}"/>
              </a:ext>
            </a:extLst>
          </p:cNvPr>
          <p:cNvCxnSpPr>
            <a:cxnSpLocks/>
          </p:cNvCxnSpPr>
          <p:nvPr/>
        </p:nvCxnSpPr>
        <p:spPr>
          <a:xfrm>
            <a:off x="3666040" y="-60960"/>
            <a:ext cx="0" cy="69723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tângulo 92">
            <a:extLst>
              <a:ext uri="{FF2B5EF4-FFF2-40B4-BE49-F238E27FC236}">
                <a16:creationId xmlns:a16="http://schemas.microsoft.com/office/drawing/2014/main" id="{16CF56F8-C5FC-9E49-53AB-EF60F21AF7C5}"/>
              </a:ext>
            </a:extLst>
          </p:cNvPr>
          <p:cNvSpPr/>
          <p:nvPr/>
        </p:nvSpPr>
        <p:spPr>
          <a:xfrm>
            <a:off x="4440683" y="300024"/>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Retângulo 13">
            <a:extLst>
              <a:ext uri="{FF2B5EF4-FFF2-40B4-BE49-F238E27FC236}">
                <a16:creationId xmlns:a16="http://schemas.microsoft.com/office/drawing/2014/main" id="{D93CC4A4-3C77-6DEF-A236-EC3EA706B256}"/>
              </a:ext>
            </a:extLst>
          </p:cNvPr>
          <p:cNvSpPr/>
          <p:nvPr/>
        </p:nvSpPr>
        <p:spPr>
          <a:xfrm>
            <a:off x="4606062" y="237270"/>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What</a:t>
            </a:r>
          </a:p>
        </p:txBody>
      </p:sp>
      <p:sp>
        <p:nvSpPr>
          <p:cNvPr id="12" name="Retângulo 92">
            <a:extLst>
              <a:ext uri="{FF2B5EF4-FFF2-40B4-BE49-F238E27FC236}">
                <a16:creationId xmlns:a16="http://schemas.microsoft.com/office/drawing/2014/main" id="{9C18535E-282A-5AB9-B5B1-EC0E75A6215B}"/>
              </a:ext>
            </a:extLst>
          </p:cNvPr>
          <p:cNvSpPr/>
          <p:nvPr/>
        </p:nvSpPr>
        <p:spPr>
          <a:xfrm>
            <a:off x="4454856" y="856464"/>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3" name="Retângulo 13">
            <a:extLst>
              <a:ext uri="{FF2B5EF4-FFF2-40B4-BE49-F238E27FC236}">
                <a16:creationId xmlns:a16="http://schemas.microsoft.com/office/drawing/2014/main" id="{12A0ECCE-0908-7688-C0E6-FBC21F34AA64}"/>
              </a:ext>
            </a:extLst>
          </p:cNvPr>
          <p:cNvSpPr/>
          <p:nvPr/>
        </p:nvSpPr>
        <p:spPr>
          <a:xfrm>
            <a:off x="4620235" y="793710"/>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Why</a:t>
            </a:r>
          </a:p>
        </p:txBody>
      </p:sp>
      <p:sp>
        <p:nvSpPr>
          <p:cNvPr id="14" name="Retângulo 92">
            <a:extLst>
              <a:ext uri="{FF2B5EF4-FFF2-40B4-BE49-F238E27FC236}">
                <a16:creationId xmlns:a16="http://schemas.microsoft.com/office/drawing/2014/main" id="{3AED74AB-17D8-875C-59EC-6BFBE825A003}"/>
              </a:ext>
            </a:extLst>
          </p:cNvPr>
          <p:cNvSpPr/>
          <p:nvPr/>
        </p:nvSpPr>
        <p:spPr>
          <a:xfrm>
            <a:off x="4458396" y="1466069"/>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5" name="Retângulo 13">
            <a:extLst>
              <a:ext uri="{FF2B5EF4-FFF2-40B4-BE49-F238E27FC236}">
                <a16:creationId xmlns:a16="http://schemas.microsoft.com/office/drawing/2014/main" id="{0392999E-6E52-5A1B-93E0-289861B9FBE0}"/>
              </a:ext>
            </a:extLst>
          </p:cNvPr>
          <p:cNvSpPr/>
          <p:nvPr/>
        </p:nvSpPr>
        <p:spPr>
          <a:xfrm>
            <a:off x="4623775" y="14033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How</a:t>
            </a:r>
          </a:p>
        </p:txBody>
      </p:sp>
      <p:sp>
        <p:nvSpPr>
          <p:cNvPr id="16" name="Retângulo 92">
            <a:extLst>
              <a:ext uri="{FF2B5EF4-FFF2-40B4-BE49-F238E27FC236}">
                <a16:creationId xmlns:a16="http://schemas.microsoft.com/office/drawing/2014/main" id="{79764559-7253-E62E-1540-3293FB9BE810}"/>
              </a:ext>
            </a:extLst>
          </p:cNvPr>
          <p:cNvSpPr/>
          <p:nvPr/>
        </p:nvSpPr>
        <p:spPr>
          <a:xfrm>
            <a:off x="4458397" y="2114648"/>
            <a:ext cx="6675103" cy="3823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7" name="Retângulo 13">
            <a:extLst>
              <a:ext uri="{FF2B5EF4-FFF2-40B4-BE49-F238E27FC236}">
                <a16:creationId xmlns:a16="http://schemas.microsoft.com/office/drawing/2014/main" id="{4B6BB2CA-D6FD-86CC-46AA-DD41010AD229}"/>
              </a:ext>
            </a:extLst>
          </p:cNvPr>
          <p:cNvSpPr/>
          <p:nvPr/>
        </p:nvSpPr>
        <p:spPr>
          <a:xfrm>
            <a:off x="4623775" y="2051894"/>
            <a:ext cx="692507" cy="9707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Why + How</a:t>
            </a:r>
          </a:p>
        </p:txBody>
      </p:sp>
      <p:sp>
        <p:nvSpPr>
          <p:cNvPr id="18" name="Retângulo 92">
            <a:extLst>
              <a:ext uri="{FF2B5EF4-FFF2-40B4-BE49-F238E27FC236}">
                <a16:creationId xmlns:a16="http://schemas.microsoft.com/office/drawing/2014/main" id="{0C3436EB-0128-55AD-9E51-204D7FB65685}"/>
              </a:ext>
            </a:extLst>
          </p:cNvPr>
          <p:cNvSpPr/>
          <p:nvPr/>
        </p:nvSpPr>
        <p:spPr>
          <a:xfrm>
            <a:off x="4482460" y="2774612"/>
            <a:ext cx="6675103" cy="94253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9" name="Retângulo 13">
            <a:extLst>
              <a:ext uri="{FF2B5EF4-FFF2-40B4-BE49-F238E27FC236}">
                <a16:creationId xmlns:a16="http://schemas.microsoft.com/office/drawing/2014/main" id="{FAF083E5-103A-20DB-4903-E8D4ADFBEF9C}"/>
              </a:ext>
            </a:extLst>
          </p:cNvPr>
          <p:cNvSpPr/>
          <p:nvPr/>
        </p:nvSpPr>
        <p:spPr>
          <a:xfrm>
            <a:off x="4687275" y="26860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How</a:t>
            </a:r>
          </a:p>
        </p:txBody>
      </p:sp>
      <p:sp>
        <p:nvSpPr>
          <p:cNvPr id="20" name="Retângulo 92">
            <a:extLst>
              <a:ext uri="{FF2B5EF4-FFF2-40B4-BE49-F238E27FC236}">
                <a16:creationId xmlns:a16="http://schemas.microsoft.com/office/drawing/2014/main" id="{1AE3F1C1-9604-5CE1-34D6-58F9363FBF0A}"/>
              </a:ext>
            </a:extLst>
          </p:cNvPr>
          <p:cNvSpPr/>
          <p:nvPr/>
        </p:nvSpPr>
        <p:spPr>
          <a:xfrm>
            <a:off x="4495160" y="3955712"/>
            <a:ext cx="6675103" cy="187569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1" name="Retângulo 13">
            <a:extLst>
              <a:ext uri="{FF2B5EF4-FFF2-40B4-BE49-F238E27FC236}">
                <a16:creationId xmlns:a16="http://schemas.microsoft.com/office/drawing/2014/main" id="{0EC4C910-5895-0C52-6F84-8E2F8CF5B24A}"/>
              </a:ext>
            </a:extLst>
          </p:cNvPr>
          <p:cNvSpPr/>
          <p:nvPr/>
        </p:nvSpPr>
        <p:spPr>
          <a:xfrm>
            <a:off x="4699975" y="3867115"/>
            <a:ext cx="597700" cy="11852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900" b="1" i="1" dirty="0">
                <a:solidFill>
                  <a:srgbClr val="012EA5"/>
                </a:solidFill>
                <a:latin typeface="+mj-lt"/>
                <a:cs typeface="Times New Roman" panose="02020603050405020304" pitchFamily="18" charset="0"/>
              </a:rPr>
              <a:t>Outcome</a:t>
            </a:r>
          </a:p>
        </p:txBody>
      </p:sp>
    </p:spTree>
    <p:extLst>
      <p:ext uri="{BB962C8B-B14F-4D97-AF65-F5344CB8AC3E}">
        <p14:creationId xmlns:p14="http://schemas.microsoft.com/office/powerpoint/2010/main" val="423955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Cantos Arredondados 4">
            <a:extLst>
              <a:ext uri="{FF2B5EF4-FFF2-40B4-BE49-F238E27FC236}">
                <a16:creationId xmlns:a16="http://schemas.microsoft.com/office/drawing/2014/main" id="{3143A26C-A826-8085-9A2A-9A1F4F1E3718}"/>
              </a:ext>
            </a:extLst>
          </p:cNvPr>
          <p:cNvSpPr/>
          <p:nvPr/>
        </p:nvSpPr>
        <p:spPr>
          <a:xfrm flipH="1">
            <a:off x="8455528" y="1305595"/>
            <a:ext cx="3537998" cy="5072655"/>
          </a:xfrm>
          <a:prstGeom prst="roundRect">
            <a:avLst>
              <a:gd name="adj" fmla="val 0"/>
            </a:avLst>
          </a:prstGeom>
          <a:solidFill>
            <a:srgbClr val="F7A600"/>
          </a:solidFill>
          <a:ln w="3175" cap="flat" cmpd="sng" algn="ctr">
            <a:solidFill>
              <a:sysClr val="windowText" lastClr="000000"/>
            </a:solidFill>
            <a:prstDash val="dash"/>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6" name="Retângulo 15">
            <a:extLst>
              <a:ext uri="{FF2B5EF4-FFF2-40B4-BE49-F238E27FC236}">
                <a16:creationId xmlns:a16="http://schemas.microsoft.com/office/drawing/2014/main" id="{1AC7249B-DE9E-F20C-DE34-913784DDFA7B}"/>
              </a:ext>
            </a:extLst>
          </p:cNvPr>
          <p:cNvSpPr/>
          <p:nvPr/>
        </p:nvSpPr>
        <p:spPr>
          <a:xfrm>
            <a:off x="4411267" y="1305596"/>
            <a:ext cx="3361141" cy="5072654"/>
          </a:xfrm>
          <a:prstGeom prst="rect">
            <a:avLst/>
          </a:prstGeom>
          <a:noFill/>
          <a:ln w="3175" cap="flat" cmpd="sng" algn="ctr">
            <a:solidFill>
              <a:sysClr val="windowText" lastClr="000000"/>
            </a:solidFill>
            <a:prstDash val="solid"/>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based on Durbin &amp; Ng (2001); Grandes &amp; Peter (2005); Liu &amp; Spencer (2013)</a:t>
            </a:r>
          </a:p>
        </p:txBody>
      </p:sp>
      <p:sp>
        <p:nvSpPr>
          <p:cNvPr id="17" name="Retângulo 16">
            <a:extLst>
              <a:ext uri="{FF2B5EF4-FFF2-40B4-BE49-F238E27FC236}">
                <a16:creationId xmlns:a16="http://schemas.microsoft.com/office/drawing/2014/main" id="{B54C2117-6CDF-3413-1137-5F150B053F41}"/>
              </a:ext>
            </a:extLst>
          </p:cNvPr>
          <p:cNvSpPr/>
          <p:nvPr/>
        </p:nvSpPr>
        <p:spPr>
          <a:xfrm>
            <a:off x="4419762" y="1600760"/>
            <a:ext cx="3352645" cy="533458"/>
          </a:xfrm>
          <a:prstGeom prst="rect">
            <a:avLst/>
          </a:prstGeom>
          <a:solidFill>
            <a:srgbClr val="1E2454"/>
          </a:solid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800" b="1" i="0" u="none" strike="noStrike" kern="0" cap="none" spc="0" normalizeH="0" baseline="0" noProof="0" dirty="0">
                <a:ln>
                  <a:noFill/>
                </a:ln>
                <a:solidFill>
                  <a:srgbClr val="FFFFFF"/>
                </a:solidFill>
                <a:effectLst/>
                <a:uLnTx/>
                <a:uFillTx/>
                <a:latin typeface="+mj-lt"/>
                <a:ea typeface="+mn-ea"/>
                <a:cs typeface="Times New Roman" panose="02020603050405020304" pitchFamily="18" charset="0"/>
              </a:rPr>
              <a:t>BRAZIL COUNTRY RISK / MACRO</a:t>
            </a:r>
            <a:endParaRPr kumimoji="0" lang="en-US" sz="1800" b="1" i="0" u="none" strike="noStrike" kern="0" cap="none" spc="0" normalizeH="0" baseline="0" noProof="0" dirty="0">
              <a:ln>
                <a:noFill/>
              </a:ln>
              <a:solidFill>
                <a:srgbClr val="FFFFFF"/>
              </a:solidFill>
              <a:effectLst/>
              <a:uLnTx/>
              <a:uFillTx/>
              <a:latin typeface="+mj-lt"/>
              <a:ea typeface="+mn-ea"/>
              <a:cs typeface="Times New Roman" panose="02020603050405020304" pitchFamily="18" charset="0"/>
            </a:endParaRPr>
          </a:p>
        </p:txBody>
      </p:sp>
      <p:sp>
        <p:nvSpPr>
          <p:cNvPr id="18" name="Retângulo 17">
            <a:extLst>
              <a:ext uri="{FF2B5EF4-FFF2-40B4-BE49-F238E27FC236}">
                <a16:creationId xmlns:a16="http://schemas.microsoft.com/office/drawing/2014/main" id="{D95DB31C-71FC-6FED-0906-1C1F1256C87E}"/>
              </a:ext>
            </a:extLst>
          </p:cNvPr>
          <p:cNvSpPr/>
          <p:nvPr/>
        </p:nvSpPr>
        <p:spPr>
          <a:xfrm>
            <a:off x="4452036" y="2335518"/>
            <a:ext cx="2754997" cy="1093481"/>
          </a:xfrm>
          <a:prstGeom prst="rect">
            <a:avLst/>
          </a:prstGeom>
          <a:noFill/>
          <a:ln w="3175" cap="flat" cmpd="sng" algn="ctr">
            <a:noFill/>
            <a:prstDash val="solid"/>
            <a:miter lim="800000"/>
          </a:ln>
          <a:effectLst/>
        </p:spPr>
        <p:txBody>
          <a:bodyPr lIns="72000" rIns="36000" rtlCol="0" anchor="t"/>
          <a:lstStyle/>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Sovereign risk in local currency: Synthetic CDS BRL</a:t>
            </a: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lang="en-US" sz="1600" dirty="0">
              <a:solidFill>
                <a:srgbClr val="212121"/>
              </a:solidFill>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lang="en-US" sz="1600" dirty="0">
                <a:solidFill>
                  <a:srgbClr val="212121"/>
                </a:solidFill>
                <a:latin typeface="+mj-lt"/>
                <a:ea typeface="+mn-ea"/>
                <a:cs typeface="Times New Roman" panose="02020603050405020304" pitchFamily="18" charset="0"/>
              </a:rPr>
              <a:t>Exchange rate (USD/BRL): Balance-sheet &amp; risk perception channel</a:t>
            </a: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endParaRPr lang="en-US" sz="1600" dirty="0">
              <a:solidFill>
                <a:srgbClr val="212121"/>
              </a:solidFill>
              <a:latin typeface="+mj-lt"/>
              <a:ea typeface="+mn-ea"/>
              <a:cs typeface="Times New Roman" panose="02020603050405020304" pitchFamily="18" charset="0"/>
            </a:endParaRPr>
          </a:p>
          <a:p>
            <a:pPr marL="342900" marR="0" lvl="0" indent="-342900" defTabSz="91440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Real economic activity: GDP growth and default expectations</a:t>
            </a:r>
            <a:endParaRPr lang="en-US" sz="1600" dirty="0">
              <a:solidFill>
                <a:srgbClr val="212121"/>
              </a:solidFill>
              <a:latin typeface="+mj-lt"/>
              <a:ea typeface="+mn-ea"/>
              <a:cs typeface="Times New Roman" panose="02020603050405020304" pitchFamily="18" charset="0"/>
            </a:endParaRP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9" name="Retângulo 18">
            <a:extLst>
              <a:ext uri="{FF2B5EF4-FFF2-40B4-BE49-F238E27FC236}">
                <a16:creationId xmlns:a16="http://schemas.microsoft.com/office/drawing/2014/main" id="{0DD88850-1FFC-F170-157C-EC885C8AFBC4}"/>
              </a:ext>
            </a:extLst>
          </p:cNvPr>
          <p:cNvSpPr/>
          <p:nvPr/>
        </p:nvSpPr>
        <p:spPr>
          <a:xfrm>
            <a:off x="8612081" y="1472965"/>
            <a:ext cx="3009820" cy="893258"/>
          </a:xfrm>
          <a:prstGeom prst="rect">
            <a:avLst/>
          </a:prstGeom>
          <a:no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CORPORATE BOND SPREADS (BRL, IPCA)</a:t>
            </a:r>
          </a:p>
        </p:txBody>
      </p:sp>
      <p:pic>
        <p:nvPicPr>
          <p:cNvPr id="24" name="Picture 8" descr="Free User SVG, PNG Icon, Symbol. Download Image.">
            <a:extLst>
              <a:ext uri="{FF2B5EF4-FFF2-40B4-BE49-F238E27FC236}">
                <a16:creationId xmlns:a16="http://schemas.microsoft.com/office/drawing/2014/main" id="{15FB3AC8-7E47-EED5-61DB-6F7DB65D3206}"/>
              </a:ext>
            </a:extLst>
          </p:cNvPr>
          <p:cNvPicPr>
            <a:picLocks noChangeAspect="1" noChangeArrowheads="1"/>
          </p:cNvPicPr>
          <p:nvPr/>
        </p:nvPicPr>
        <p:blipFill rotWithShape="1">
          <a:blip r:embed="rId3" cstate="hq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bwMode="auto">
          <a:xfrm>
            <a:off x="4895749" y="5276056"/>
            <a:ext cx="438444" cy="440537"/>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Conector reto 25">
            <a:extLst>
              <a:ext uri="{FF2B5EF4-FFF2-40B4-BE49-F238E27FC236}">
                <a16:creationId xmlns:a16="http://schemas.microsoft.com/office/drawing/2014/main" id="{76E66AA6-8E5D-78D5-F942-F9BF3CE2CCBA}"/>
              </a:ext>
            </a:extLst>
          </p:cNvPr>
          <p:cNvCxnSpPr>
            <a:cxnSpLocks/>
          </p:cNvCxnSpPr>
          <p:nvPr/>
        </p:nvCxnSpPr>
        <p:spPr>
          <a:xfrm>
            <a:off x="6481576" y="3942710"/>
            <a:ext cx="0" cy="1207875"/>
          </a:xfrm>
          <a:prstGeom prst="line">
            <a:avLst/>
          </a:prstGeom>
          <a:noFill/>
          <a:ln w="12700" cap="flat" cmpd="sng" algn="ctr">
            <a:solidFill>
              <a:sysClr val="window" lastClr="FFFFFF"/>
            </a:solidFill>
            <a:prstDash val="lgDash"/>
            <a:miter lim="800000"/>
            <a:headEnd type="none" w="med" len="med"/>
            <a:tailEnd type="triangle" w="med" len="med"/>
          </a:ln>
          <a:effectLst/>
        </p:spPr>
      </p:cxnSp>
      <p:sp>
        <p:nvSpPr>
          <p:cNvPr id="31" name="Sinal de Adição 30">
            <a:extLst>
              <a:ext uri="{FF2B5EF4-FFF2-40B4-BE49-F238E27FC236}">
                <a16:creationId xmlns:a16="http://schemas.microsoft.com/office/drawing/2014/main" id="{E4466AB2-D49E-57EA-6744-E05A63739BA0}"/>
              </a:ext>
            </a:extLst>
          </p:cNvPr>
          <p:cNvSpPr/>
          <p:nvPr/>
        </p:nvSpPr>
        <p:spPr>
          <a:xfrm>
            <a:off x="3857780" y="1579489"/>
            <a:ext cx="576000" cy="576000"/>
          </a:xfrm>
          <a:prstGeom prst="mathPlus">
            <a:avLst/>
          </a:prstGeom>
          <a:solidFill>
            <a:srgbClr val="1E245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mn-ea"/>
              <a:cs typeface="Times New Roman" panose="02020603050405020304" pitchFamily="18" charset="0"/>
            </a:endParaRPr>
          </a:p>
        </p:txBody>
      </p:sp>
      <p:sp>
        <p:nvSpPr>
          <p:cNvPr id="32" name="Igual a 31">
            <a:extLst>
              <a:ext uri="{FF2B5EF4-FFF2-40B4-BE49-F238E27FC236}">
                <a16:creationId xmlns:a16="http://schemas.microsoft.com/office/drawing/2014/main" id="{0DC0EEF0-6AF7-CAE4-37D1-C84C6CEAAEDA}"/>
              </a:ext>
            </a:extLst>
          </p:cNvPr>
          <p:cNvSpPr/>
          <p:nvPr/>
        </p:nvSpPr>
        <p:spPr>
          <a:xfrm>
            <a:off x="7827913" y="1600760"/>
            <a:ext cx="576000" cy="576000"/>
          </a:xfrm>
          <a:prstGeom prst="mathEqual">
            <a:avLst/>
          </a:prstGeom>
          <a:solidFill>
            <a:srgbClr val="1E245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mn-ea"/>
              <a:cs typeface="Times New Roman" panose="02020603050405020304" pitchFamily="18" charset="0"/>
            </a:endParaRPr>
          </a:p>
        </p:txBody>
      </p:sp>
      <p:sp>
        <p:nvSpPr>
          <p:cNvPr id="34" name="Retângulo 33">
            <a:extLst>
              <a:ext uri="{FF2B5EF4-FFF2-40B4-BE49-F238E27FC236}">
                <a16:creationId xmlns:a16="http://schemas.microsoft.com/office/drawing/2014/main" id="{78FE1C45-C068-B119-74E7-3128C1513898}"/>
              </a:ext>
            </a:extLst>
          </p:cNvPr>
          <p:cNvSpPr/>
          <p:nvPr/>
        </p:nvSpPr>
        <p:spPr>
          <a:xfrm>
            <a:off x="8670167" y="2400597"/>
            <a:ext cx="3085041" cy="893258"/>
          </a:xfrm>
          <a:prstGeom prst="rect">
            <a:avLst/>
          </a:prstGeom>
          <a:noFill/>
          <a:ln w="3175" cap="flat" cmpd="sng" algn="ctr">
            <a:noFill/>
            <a:prstDash val="solid"/>
            <a:miter lim="800000"/>
          </a:ln>
          <a:effectLst/>
        </p:spPr>
        <p:txBody>
          <a:bodyPr lIns="0" r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Spread = Corporate YTM − IPCA real risk-free curve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mj-lt"/>
                <a:ea typeface="+mn-ea"/>
                <a:cs typeface="Times New Roman" panose="02020603050405020304" pitchFamily="18" charset="0"/>
              </a:rPr>
              <a:t>Observed in:</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IPCA-linked corporate bonds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Non-financial firms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rPr>
              <a:t>Brazil, 2010-2025</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R="0" lvl="0" defTabSz="914400" eaLnBrk="1" fontAlgn="auto" latinLnBrk="0" hangingPunct="1">
              <a:lnSpc>
                <a:spcPct val="100000"/>
              </a:lnSpc>
              <a:spcBef>
                <a:spcPts val="0"/>
              </a:spcBef>
              <a:spcAft>
                <a:spcPts val="0"/>
              </a:spcAft>
              <a:buClrTx/>
              <a:buSzTx/>
              <a:tabLst/>
              <a:defRPr/>
            </a:pPr>
            <a:r>
              <a:rPr lang="en-US" sz="1600" dirty="0">
                <a:solidFill>
                  <a:schemeClr val="tx1"/>
                </a:solidFill>
                <a:latin typeface="+mj-lt"/>
                <a:ea typeface="+mn-ea"/>
                <a:cs typeface="Times New Roman" panose="02020603050405020304" pitchFamily="18" charset="0"/>
              </a:rPr>
              <a:t>Reflects: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Global conditions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Sovereign risk</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chemeClr val="tx1"/>
                </a:solidFill>
                <a:latin typeface="+mj-lt"/>
                <a:ea typeface="+mn-ea"/>
                <a:cs typeface="Times New Roman" panose="02020603050405020304" pitchFamily="18" charset="0"/>
              </a:rPr>
              <a:t>Local macro environment</a:t>
            </a: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dirty="0">
              <a:solidFill>
                <a:schemeClr val="tx1"/>
              </a:solidFill>
              <a:latin typeface="+mj-lt"/>
              <a:ea typeface="+mn-ea"/>
              <a:cs typeface="Times New Roman" panose="02020603050405020304" pitchFamily="18" charset="0"/>
            </a:endParaRPr>
          </a:p>
          <a:p>
            <a:pPr marR="0" lvl="0" algn="ctr" defTabSz="914400" eaLnBrk="1" fontAlgn="auto" latinLnBrk="0" hangingPunct="1">
              <a:lnSpc>
                <a:spcPct val="100000"/>
              </a:lnSpc>
              <a:spcBef>
                <a:spcPts val="0"/>
              </a:spcBef>
              <a:spcAft>
                <a:spcPts val="0"/>
              </a:spcAft>
              <a:buClrTx/>
              <a:buSzTx/>
              <a:tabLst/>
              <a:defRPr/>
            </a:pPr>
            <a:r>
              <a:rPr lang="en-US" sz="1600" dirty="0">
                <a:solidFill>
                  <a:schemeClr val="tx1"/>
                </a:solidFill>
                <a:latin typeface="+mj-lt"/>
                <a:ea typeface="+mn-ea"/>
                <a:cs typeface="Times New Roman" panose="02020603050405020304" pitchFamily="18" charset="0"/>
              </a:rPr>
              <a:t>(Examples: utilities, infrastructure, transportation issuers)</a:t>
            </a:r>
          </a:p>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dirty="0">
              <a:ln>
                <a:noFill/>
              </a:ln>
              <a:solidFill>
                <a:schemeClr val="tx1"/>
              </a:solidFill>
              <a:effectLst/>
              <a:uLnTx/>
              <a:uFillTx/>
              <a:latin typeface="+mj-lt"/>
              <a:ea typeface="+mn-ea"/>
              <a:cs typeface="Times New Roman" panose="02020603050405020304" pitchFamily="18" charset="0"/>
            </a:endParaRPr>
          </a:p>
        </p:txBody>
      </p:sp>
      <p:sp>
        <p:nvSpPr>
          <p:cNvPr id="9" name="Seta: Pentágono 8">
            <a:extLst>
              <a:ext uri="{FF2B5EF4-FFF2-40B4-BE49-F238E27FC236}">
                <a16:creationId xmlns:a16="http://schemas.microsoft.com/office/drawing/2014/main" id="{0A6CFD08-2AB4-3489-1F34-FF783679DC80}"/>
              </a:ext>
            </a:extLst>
          </p:cNvPr>
          <p:cNvSpPr/>
          <p:nvPr/>
        </p:nvSpPr>
        <p:spPr>
          <a:xfrm>
            <a:off x="512396" y="1600761"/>
            <a:ext cx="3350281" cy="533457"/>
          </a:xfrm>
          <a:prstGeom prst="homePlate">
            <a:avLst>
              <a:gd name="adj" fmla="val 0"/>
            </a:avLst>
          </a:prstGeom>
          <a:solidFill>
            <a:srgbClr val="1E2454"/>
          </a:solidFill>
          <a:ln w="3175" cap="flat" cmpd="sng" algn="ctr">
            <a:noFill/>
            <a:prstDash val="solid"/>
            <a:miter lim="800000"/>
          </a:ln>
          <a:effectLst/>
        </p:spPr>
        <p:txBody>
          <a:bodyPr lIns="72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800" b="1" i="0" u="none" strike="noStrike" kern="0" cap="none" spc="0" normalizeH="0" baseline="0" noProof="0" dirty="0">
                <a:ln>
                  <a:noFill/>
                </a:ln>
                <a:solidFill>
                  <a:prstClr val="white"/>
                </a:solidFill>
                <a:effectLst/>
                <a:uLnTx/>
                <a:uFillTx/>
                <a:latin typeface="+mj-lt"/>
                <a:ea typeface="+mn-ea"/>
                <a:cs typeface="Times New Roman" panose="02020603050405020304" pitchFamily="18" charset="0"/>
              </a:rPr>
              <a:t>GLOBAL FINANCIAL CONDITIONS</a:t>
            </a:r>
            <a:endParaRPr kumimoji="0" lang="en-US" sz="1800" b="1" i="0" u="none" strike="noStrike" kern="0" cap="none" spc="0" normalizeH="0" baseline="0" noProof="0" dirty="0">
              <a:ln>
                <a:noFill/>
              </a:ln>
              <a:solidFill>
                <a:prstClr val="white"/>
              </a:solidFill>
              <a:effectLst/>
              <a:uLnTx/>
              <a:uFillTx/>
              <a:latin typeface="+mj-lt"/>
              <a:ea typeface="+mn-ea"/>
              <a:cs typeface="Times New Roman" panose="02020603050405020304" pitchFamily="18" charset="0"/>
            </a:endParaRPr>
          </a:p>
        </p:txBody>
      </p:sp>
      <p:sp>
        <p:nvSpPr>
          <p:cNvPr id="12" name="Retângulo 11">
            <a:extLst>
              <a:ext uri="{FF2B5EF4-FFF2-40B4-BE49-F238E27FC236}">
                <a16:creationId xmlns:a16="http://schemas.microsoft.com/office/drawing/2014/main" id="{B81D4B16-67A0-5771-959C-637FF72B6CED}"/>
              </a:ext>
            </a:extLst>
          </p:cNvPr>
          <p:cNvSpPr/>
          <p:nvPr/>
        </p:nvSpPr>
        <p:spPr>
          <a:xfrm>
            <a:off x="536036" y="3217709"/>
            <a:ext cx="2910473" cy="1008302"/>
          </a:xfrm>
          <a:prstGeom prst="rect">
            <a:avLst/>
          </a:prstGeom>
          <a:noFill/>
          <a:ln w="3175" cap="flat" cmpd="sng" algn="ctr">
            <a:noFill/>
            <a:prstDash val="solid"/>
            <a:miter lim="800000"/>
          </a:ln>
          <a:effectLst/>
        </p:spPr>
        <p:txBody>
          <a:bodyPr lIns="72000" rIns="36000" rtlCol="0" anchor="t"/>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Risk appetite/risk-off: VIX</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US monetary cycle / global liquidity: Fed 3M Forward</a:t>
            </a: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14" name="Retângulo 13">
            <a:extLst>
              <a:ext uri="{FF2B5EF4-FFF2-40B4-BE49-F238E27FC236}">
                <a16:creationId xmlns:a16="http://schemas.microsoft.com/office/drawing/2014/main" id="{DB0D1FCB-9F64-F27D-9DE4-22AAEE9C6F5C}"/>
              </a:ext>
            </a:extLst>
          </p:cNvPr>
          <p:cNvSpPr/>
          <p:nvPr/>
        </p:nvSpPr>
        <p:spPr>
          <a:xfrm>
            <a:off x="501535" y="1305596"/>
            <a:ext cx="3361142" cy="5072654"/>
          </a:xfrm>
          <a:prstGeom prst="rect">
            <a:avLst/>
          </a:prstGeom>
          <a:noFill/>
          <a:ln w="3175" cap="flat" cmpd="sng" algn="ctr">
            <a:solidFill>
              <a:sysClr val="windowText" lastClr="000000"/>
            </a:solidFill>
            <a:prstDash val="solid"/>
            <a:miter lim="800000"/>
          </a:ln>
          <a:effectLst/>
        </p:spPr>
        <p:txBody>
          <a:bodyPr lIns="72000" rIns="36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3" name="TextBox 2">
            <a:extLst>
              <a:ext uri="{FF2B5EF4-FFF2-40B4-BE49-F238E27FC236}">
                <a16:creationId xmlns:a16="http://schemas.microsoft.com/office/drawing/2014/main" id="{ACF735EF-03E2-EA36-4220-F07035BC72C6}"/>
              </a:ext>
            </a:extLst>
          </p:cNvPr>
          <p:cNvSpPr txBox="1"/>
          <p:nvPr/>
        </p:nvSpPr>
        <p:spPr>
          <a:xfrm>
            <a:off x="577639" y="5780686"/>
            <a:ext cx="3224940" cy="52322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based</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a:t>
            </a: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on</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González-Rozada &amp; Levy-</a:t>
            </a:r>
            <a:r>
              <a:rPr kumimoji="0" lang="es-ES" sz="1400" b="0" i="0" u="none" strike="noStrike" kern="0" cap="none" spc="0" normalizeH="0" baseline="0" noProof="0" dirty="0" err="1">
                <a:ln>
                  <a:noFill/>
                </a:ln>
                <a:solidFill>
                  <a:srgbClr val="212121"/>
                </a:solidFill>
                <a:effectLst/>
                <a:uLnTx/>
                <a:uFillTx/>
                <a:latin typeface="+mj-lt"/>
                <a:ea typeface="+mn-ea"/>
                <a:cs typeface="Times New Roman" panose="02020603050405020304" pitchFamily="18" charset="0"/>
              </a:rPr>
              <a:t>Yeyati</a:t>
            </a:r>
            <a:r>
              <a:rPr kumimoji="0" lang="es-E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rPr>
              <a:t> (2008); Grandes et al. (2017)</a:t>
            </a:r>
            <a:endParaRPr kumimoji="0" lang="en-US" sz="1400" b="0" i="0" u="none" strike="noStrike" kern="0" cap="none" spc="0" normalizeH="0" baseline="0" noProof="0" dirty="0">
              <a:ln>
                <a:noFill/>
              </a:ln>
              <a:solidFill>
                <a:srgbClr val="212121"/>
              </a:solidFill>
              <a:effectLst/>
              <a:uLnTx/>
              <a:uFillTx/>
              <a:latin typeface="+mj-lt"/>
              <a:ea typeface="+mn-ea"/>
              <a:cs typeface="Times New Roman" panose="02020603050405020304" pitchFamily="18" charset="0"/>
            </a:endParaRPr>
          </a:p>
        </p:txBody>
      </p:sp>
      <p:sp>
        <p:nvSpPr>
          <p:cNvPr id="2" name="TextBox 6">
            <a:extLst>
              <a:ext uri="{FF2B5EF4-FFF2-40B4-BE49-F238E27FC236}">
                <a16:creationId xmlns:a16="http://schemas.microsoft.com/office/drawing/2014/main" id="{7CAA3CE8-7ABA-A7BA-8855-6C3768740AFA}"/>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Introduction</a:t>
            </a:r>
          </a:p>
        </p:txBody>
      </p:sp>
    </p:spTree>
    <p:extLst>
      <p:ext uri="{BB962C8B-B14F-4D97-AF65-F5344CB8AC3E}">
        <p14:creationId xmlns:p14="http://schemas.microsoft.com/office/powerpoint/2010/main" val="2536958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8078A9D-005C-4B26-0BA0-8E4B493D629D}"/>
              </a:ext>
            </a:extLst>
          </p:cNvPr>
          <p:cNvSpPr txBox="1"/>
          <p:nvPr/>
        </p:nvSpPr>
        <p:spPr>
          <a:xfrm>
            <a:off x="757570" y="1343991"/>
            <a:ext cx="10655594" cy="1015663"/>
          </a:xfrm>
          <a:prstGeom prst="rect">
            <a:avLst/>
          </a:prstGeom>
          <a:solidFill>
            <a:srgbClr val="1E2454"/>
          </a:solidFill>
          <a:ln>
            <a:noFill/>
          </a:ln>
        </p:spPr>
        <p:txBody>
          <a:bodyPr wrap="square">
            <a:spAutoFit/>
          </a:bodyPr>
          <a:lstStyle/>
          <a:p>
            <a:pPr algn="ctr"/>
            <a:r>
              <a:rPr lang="en-US" sz="2000" b="1" dirty="0">
                <a:solidFill>
                  <a:srgbClr val="FFFFFF"/>
                </a:solidFill>
                <a:latin typeface="+mj-lt"/>
              </a:rPr>
              <a:t>Main objective: </a:t>
            </a:r>
          </a:p>
          <a:p>
            <a:pPr algn="ctr"/>
            <a:r>
              <a:rPr lang="en-US" sz="2000" dirty="0">
                <a:solidFill>
                  <a:srgbClr val="FFFFFF"/>
                </a:solidFill>
                <a:latin typeface="+mj-lt"/>
              </a:rPr>
              <a:t>To identify and quantify the global, sovereign, and idiosyncratic determinants of corporate bond spreads in local currency (BRL) in Brazil, using bond-level panel data over the period 2010–2025.</a:t>
            </a:r>
          </a:p>
        </p:txBody>
      </p:sp>
      <p:sp>
        <p:nvSpPr>
          <p:cNvPr id="7" name="CaixaDeTexto 6">
            <a:extLst>
              <a:ext uri="{FF2B5EF4-FFF2-40B4-BE49-F238E27FC236}">
                <a16:creationId xmlns:a16="http://schemas.microsoft.com/office/drawing/2014/main" id="{FF7A0F0C-F707-1764-F279-199554A24AA0}"/>
              </a:ext>
            </a:extLst>
          </p:cNvPr>
          <p:cNvSpPr txBox="1"/>
          <p:nvPr/>
        </p:nvSpPr>
        <p:spPr>
          <a:xfrm>
            <a:off x="757569" y="3322690"/>
            <a:ext cx="2468880"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Conceptual &amp; empirical groundwork:</a:t>
            </a:r>
            <a:r>
              <a:rPr lang="en-US" sz="1800" kern="100" dirty="0">
                <a:effectLst/>
                <a:latin typeface="+mj-lt"/>
                <a:ea typeface="M PLUS 2" pitchFamily="2" charset="-128"/>
                <a:cs typeface="Calibri" panose="020F0502020204030204" pitchFamily="34" charset="0"/>
              </a:rPr>
              <a:t> Identify, from the literature, the main global, sovereign, and firm-level factors associated with corporate bond spreads in emerging markets.</a:t>
            </a:r>
            <a:endParaRPr lang="en-US" sz="1800" dirty="0">
              <a:latin typeface="+mj-lt"/>
              <a:ea typeface="M PLUS 2" pitchFamily="2" charset="-128"/>
            </a:endParaRPr>
          </a:p>
        </p:txBody>
      </p:sp>
      <p:sp>
        <p:nvSpPr>
          <p:cNvPr id="8" name="CaixaDeTexto 7">
            <a:extLst>
              <a:ext uri="{FF2B5EF4-FFF2-40B4-BE49-F238E27FC236}">
                <a16:creationId xmlns:a16="http://schemas.microsoft.com/office/drawing/2014/main" id="{D5875FFD-856D-8D75-3CAA-F5A93E13C2D5}"/>
              </a:ext>
            </a:extLst>
          </p:cNvPr>
          <p:cNvSpPr txBox="1"/>
          <p:nvPr/>
        </p:nvSpPr>
        <p:spPr>
          <a:xfrm>
            <a:off x="3340035" y="3322689"/>
            <a:ext cx="2964028"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Market structure &amp; measurement:</a:t>
            </a:r>
            <a:r>
              <a:rPr lang="en-US" sz="1800" kern="100" dirty="0">
                <a:effectLst/>
                <a:latin typeface="+mj-lt"/>
                <a:ea typeface="M PLUS 2" pitchFamily="2" charset="-128"/>
                <a:cs typeface="Calibri" panose="020F0502020204030204" pitchFamily="34" charset="0"/>
              </a:rPr>
              <a:t> Construct a consistent measure of corporate bond spreads in real terms, accounting for the OTC structure of the Brazilian market and the absence of an observable real risk-free curve.</a:t>
            </a:r>
            <a:endParaRPr lang="en-US" sz="1800" kern="100" dirty="0">
              <a:effectLst/>
              <a:latin typeface="+mj-lt"/>
              <a:ea typeface="M PLUS 2" pitchFamily="2" charset="-128"/>
              <a:cs typeface="Times New Roman" panose="02020603050405020304" pitchFamily="18" charset="0"/>
            </a:endParaRPr>
          </a:p>
        </p:txBody>
      </p:sp>
      <p:sp>
        <p:nvSpPr>
          <p:cNvPr id="9" name="CaixaDeTexto 8">
            <a:extLst>
              <a:ext uri="{FF2B5EF4-FFF2-40B4-BE49-F238E27FC236}">
                <a16:creationId xmlns:a16="http://schemas.microsoft.com/office/drawing/2014/main" id="{41E93BD1-1B51-4188-1F9B-79B6B104A937}"/>
              </a:ext>
            </a:extLst>
          </p:cNvPr>
          <p:cNvSpPr txBox="1"/>
          <p:nvPr/>
        </p:nvSpPr>
        <p:spPr>
          <a:xfrm>
            <a:off x="6417649" y="3322689"/>
            <a:ext cx="2876851"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Empirical model &amp; estimation:</a:t>
            </a:r>
            <a:r>
              <a:rPr lang="en-US" sz="1800" kern="100" dirty="0">
                <a:effectLst/>
                <a:latin typeface="+mj-lt"/>
                <a:ea typeface="M PLUS 2" pitchFamily="2" charset="-128"/>
                <a:cs typeface="Calibri" panose="020F0502020204030204" pitchFamily="34" charset="0"/>
              </a:rPr>
              <a:t>  Specify and estimate an econometric panel data model to evaluate the impact of global financial conditions, sovereign risk, and idiosyncratic factors on corporate bond spreads.</a:t>
            </a:r>
            <a:endParaRPr lang="en-US" sz="1800" kern="100" dirty="0">
              <a:effectLst/>
              <a:latin typeface="+mj-lt"/>
              <a:ea typeface="M PLUS 2" pitchFamily="2" charset="-128"/>
              <a:cs typeface="Times New Roman" panose="02020603050405020304" pitchFamily="18" charset="0"/>
            </a:endParaRPr>
          </a:p>
        </p:txBody>
      </p:sp>
      <p:sp>
        <p:nvSpPr>
          <p:cNvPr id="10" name="CaixaDeTexto 9">
            <a:extLst>
              <a:ext uri="{FF2B5EF4-FFF2-40B4-BE49-F238E27FC236}">
                <a16:creationId xmlns:a16="http://schemas.microsoft.com/office/drawing/2014/main" id="{03E1D13E-7B50-22D6-337C-43B4E9BED65B}"/>
              </a:ext>
            </a:extLst>
          </p:cNvPr>
          <p:cNvSpPr txBox="1"/>
          <p:nvPr/>
        </p:nvSpPr>
        <p:spPr>
          <a:xfrm>
            <a:off x="9408086" y="3322689"/>
            <a:ext cx="2005078" cy="2743200"/>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Validation &amp; robustness:</a:t>
            </a:r>
            <a:r>
              <a:rPr lang="en-US" sz="1800" kern="100" dirty="0">
                <a:effectLst/>
                <a:latin typeface="+mj-lt"/>
                <a:ea typeface="M PLUS 2" pitchFamily="2" charset="-128"/>
                <a:cs typeface="Calibri" panose="020F0502020204030204" pitchFamily="34" charset="0"/>
              </a:rPr>
              <a:t> Assess the robustness and stability of the results using alternative specifications and estimators.</a:t>
            </a:r>
            <a:endParaRPr lang="en-US" sz="1800" dirty="0">
              <a:latin typeface="+mj-lt"/>
              <a:ea typeface="M PLUS 2" pitchFamily="2" charset="-128"/>
            </a:endParaRPr>
          </a:p>
        </p:txBody>
      </p:sp>
      <p:cxnSp>
        <p:nvCxnSpPr>
          <p:cNvPr id="13" name="Conector: Curvo 12">
            <a:extLst>
              <a:ext uri="{FF2B5EF4-FFF2-40B4-BE49-F238E27FC236}">
                <a16:creationId xmlns:a16="http://schemas.microsoft.com/office/drawing/2014/main" id="{26F0EF12-6E85-98B8-591D-25760BA4AE4E}"/>
              </a:ext>
            </a:extLst>
          </p:cNvPr>
          <p:cNvCxnSpPr>
            <a:cxnSpLocks/>
            <a:stCxn id="5" idx="2"/>
            <a:endCxn id="7" idx="0"/>
          </p:cNvCxnSpPr>
          <p:nvPr/>
        </p:nvCxnSpPr>
        <p:spPr>
          <a:xfrm rot="5400000">
            <a:off x="3557170" y="794493"/>
            <a:ext cx="963036" cy="409335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3">
            <a:extLst>
              <a:ext uri="{FF2B5EF4-FFF2-40B4-BE49-F238E27FC236}">
                <a16:creationId xmlns:a16="http://schemas.microsoft.com/office/drawing/2014/main" id="{2E9191EE-0DE4-026A-0826-646D91122D50}"/>
              </a:ext>
            </a:extLst>
          </p:cNvPr>
          <p:cNvCxnSpPr>
            <a:cxnSpLocks/>
            <a:stCxn id="5" idx="2"/>
            <a:endCxn id="8" idx="0"/>
          </p:cNvCxnSpPr>
          <p:nvPr/>
        </p:nvCxnSpPr>
        <p:spPr>
          <a:xfrm rot="5400000">
            <a:off x="4972191" y="2209512"/>
            <a:ext cx="963035" cy="126331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o 16">
            <a:extLst>
              <a:ext uri="{FF2B5EF4-FFF2-40B4-BE49-F238E27FC236}">
                <a16:creationId xmlns:a16="http://schemas.microsoft.com/office/drawing/2014/main" id="{CE49BA19-8199-AAA2-8AE0-3CC1AA04A8EB}"/>
              </a:ext>
            </a:extLst>
          </p:cNvPr>
          <p:cNvCxnSpPr>
            <a:cxnSpLocks/>
            <a:stCxn id="5" idx="2"/>
            <a:endCxn id="9" idx="0"/>
          </p:cNvCxnSpPr>
          <p:nvPr/>
        </p:nvCxnSpPr>
        <p:spPr>
          <a:xfrm rot="16200000" flipH="1">
            <a:off x="6489204" y="1955817"/>
            <a:ext cx="963035" cy="177070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Curvo 19">
            <a:extLst>
              <a:ext uri="{FF2B5EF4-FFF2-40B4-BE49-F238E27FC236}">
                <a16:creationId xmlns:a16="http://schemas.microsoft.com/office/drawing/2014/main" id="{E7314304-D42F-8F0C-E5E5-4AA48F9F13F7}"/>
              </a:ext>
            </a:extLst>
          </p:cNvPr>
          <p:cNvCxnSpPr>
            <a:cxnSpLocks/>
            <a:stCxn id="5" idx="2"/>
            <a:endCxn id="10" idx="0"/>
          </p:cNvCxnSpPr>
          <p:nvPr/>
        </p:nvCxnSpPr>
        <p:spPr>
          <a:xfrm rot="16200000" flipH="1">
            <a:off x="7766479" y="678542"/>
            <a:ext cx="963035" cy="432525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6">
            <a:extLst>
              <a:ext uri="{FF2B5EF4-FFF2-40B4-BE49-F238E27FC236}">
                <a16:creationId xmlns:a16="http://schemas.microsoft.com/office/drawing/2014/main" id="{0C60007D-EBBE-59B0-D018-D8FC6D2D6327}"/>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Research Objectives</a:t>
            </a:r>
          </a:p>
        </p:txBody>
      </p:sp>
    </p:spTree>
    <p:extLst>
      <p:ext uri="{BB962C8B-B14F-4D97-AF65-F5344CB8AC3E}">
        <p14:creationId xmlns:p14="http://schemas.microsoft.com/office/powerpoint/2010/main" val="425647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A5580-2AEB-7D20-3F2C-9EE4AA0814BE}"/>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16960AE7-8E09-AB71-2C80-6E063AF08855}"/>
              </a:ext>
            </a:extLst>
          </p:cNvPr>
          <p:cNvSpPr txBox="1"/>
          <p:nvPr/>
        </p:nvSpPr>
        <p:spPr>
          <a:xfrm>
            <a:off x="757570" y="1343991"/>
            <a:ext cx="10655594" cy="707886"/>
          </a:xfrm>
          <a:prstGeom prst="rect">
            <a:avLst/>
          </a:prstGeom>
          <a:solidFill>
            <a:srgbClr val="1E2454"/>
          </a:solidFill>
          <a:ln>
            <a:noFill/>
          </a:ln>
        </p:spPr>
        <p:txBody>
          <a:bodyPr wrap="square">
            <a:spAutoFit/>
          </a:bodyPr>
          <a:lstStyle/>
          <a:p>
            <a:pPr algn="ctr"/>
            <a:r>
              <a:rPr lang="en-US" sz="2000" b="1" dirty="0">
                <a:solidFill>
                  <a:srgbClr val="FFFFFF"/>
                </a:solidFill>
                <a:latin typeface="+mj-lt"/>
              </a:rPr>
              <a:t>What are the main global, sovereign, and idiosyncratic determinants of corporate bond spreads in local-currency debt markets in Brazil?</a:t>
            </a:r>
            <a:endParaRPr lang="en-US" sz="2000" dirty="0">
              <a:solidFill>
                <a:srgbClr val="FFFFFF"/>
              </a:solidFill>
              <a:latin typeface="+mj-lt"/>
            </a:endParaRPr>
          </a:p>
        </p:txBody>
      </p:sp>
      <p:sp>
        <p:nvSpPr>
          <p:cNvPr id="7" name="CaixaDeTexto 6">
            <a:extLst>
              <a:ext uri="{FF2B5EF4-FFF2-40B4-BE49-F238E27FC236}">
                <a16:creationId xmlns:a16="http://schemas.microsoft.com/office/drawing/2014/main" id="{BA3F2D3A-D837-9571-CBA7-193EEBCFFBD7}"/>
              </a:ext>
            </a:extLst>
          </p:cNvPr>
          <p:cNvSpPr txBox="1"/>
          <p:nvPr/>
        </p:nvSpPr>
        <p:spPr>
          <a:xfrm>
            <a:off x="757569" y="3322690"/>
            <a:ext cx="2468880" cy="1754326"/>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How do corporate bond spreads react to global shocks, such as changes in the VIX or in international interest rates?</a:t>
            </a:r>
            <a:endParaRPr lang="en-US" sz="1800" dirty="0">
              <a:latin typeface="+mj-lt"/>
              <a:ea typeface="M PLUS 2" pitchFamily="2" charset="-128"/>
            </a:endParaRPr>
          </a:p>
        </p:txBody>
      </p:sp>
      <p:sp>
        <p:nvSpPr>
          <p:cNvPr id="8" name="CaixaDeTexto 7">
            <a:extLst>
              <a:ext uri="{FF2B5EF4-FFF2-40B4-BE49-F238E27FC236}">
                <a16:creationId xmlns:a16="http://schemas.microsoft.com/office/drawing/2014/main" id="{407E7899-629E-7CAF-43C1-9A644ED82E6B}"/>
              </a:ext>
            </a:extLst>
          </p:cNvPr>
          <p:cNvSpPr txBox="1"/>
          <p:nvPr/>
        </p:nvSpPr>
        <p:spPr>
          <a:xfrm>
            <a:off x="3340035" y="3322689"/>
            <a:ext cx="2964028" cy="1200329"/>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What is the relationship between sovereign and corporate bond spreads in the Brazilian context?</a:t>
            </a:r>
            <a:endParaRPr lang="en-US" sz="1800" kern="100" dirty="0">
              <a:effectLst/>
              <a:latin typeface="+mj-lt"/>
              <a:ea typeface="M PLUS 2" pitchFamily="2" charset="-128"/>
              <a:cs typeface="Times New Roman" panose="02020603050405020304" pitchFamily="18" charset="0"/>
            </a:endParaRPr>
          </a:p>
        </p:txBody>
      </p:sp>
      <p:sp>
        <p:nvSpPr>
          <p:cNvPr id="9" name="CaixaDeTexto 8">
            <a:extLst>
              <a:ext uri="{FF2B5EF4-FFF2-40B4-BE49-F238E27FC236}">
                <a16:creationId xmlns:a16="http://schemas.microsoft.com/office/drawing/2014/main" id="{97541AF3-9CDD-7E93-6A73-C6CB293E263E}"/>
              </a:ext>
            </a:extLst>
          </p:cNvPr>
          <p:cNvSpPr txBox="1"/>
          <p:nvPr/>
        </p:nvSpPr>
        <p:spPr>
          <a:xfrm>
            <a:off x="6417649" y="3322689"/>
            <a:ext cx="2876851" cy="1754326"/>
          </a:xfrm>
          <a:prstGeom prst="rect">
            <a:avLst/>
          </a:prstGeom>
          <a:noFill/>
          <a:ln>
            <a:solidFill>
              <a:schemeClr val="tx1"/>
            </a:solidFill>
          </a:ln>
        </p:spPr>
        <p:txBody>
          <a:bodyPr wrap="square">
            <a:spAutoFit/>
          </a:bodyPr>
          <a:lstStyle/>
          <a:p>
            <a:pPr lvl="0"/>
            <a:r>
              <a:rPr lang="en-US" sz="1800" b="1" kern="100" dirty="0">
                <a:effectLst/>
                <a:latin typeface="+mj-lt"/>
                <a:ea typeface="M PLUS 2" pitchFamily="2" charset="-128"/>
                <a:cs typeface="Calibri" panose="020F0502020204030204" pitchFamily="34" charset="0"/>
              </a:rPr>
              <a:t>What role do firm- and bond-specific characteristics (such as leverage, liquidity, or maturity) play in determining corporate bond spreads?</a:t>
            </a:r>
            <a:endParaRPr lang="en-US" sz="1800" kern="100" dirty="0">
              <a:effectLst/>
              <a:latin typeface="+mj-lt"/>
              <a:ea typeface="M PLUS 2" pitchFamily="2" charset="-128"/>
              <a:cs typeface="Times New Roman" panose="02020603050405020304" pitchFamily="18" charset="0"/>
            </a:endParaRPr>
          </a:p>
        </p:txBody>
      </p:sp>
      <p:cxnSp>
        <p:nvCxnSpPr>
          <p:cNvPr id="13" name="Conector: Curvo 12">
            <a:extLst>
              <a:ext uri="{FF2B5EF4-FFF2-40B4-BE49-F238E27FC236}">
                <a16:creationId xmlns:a16="http://schemas.microsoft.com/office/drawing/2014/main" id="{648F5B54-0BCD-22E2-0AE7-281754311F9B}"/>
              </a:ext>
            </a:extLst>
          </p:cNvPr>
          <p:cNvCxnSpPr>
            <a:cxnSpLocks/>
            <a:stCxn id="5" idx="2"/>
            <a:endCxn id="7" idx="0"/>
          </p:cNvCxnSpPr>
          <p:nvPr/>
        </p:nvCxnSpPr>
        <p:spPr>
          <a:xfrm rot="5400000">
            <a:off x="3403282" y="640604"/>
            <a:ext cx="1270813" cy="4093358"/>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o 13">
            <a:extLst>
              <a:ext uri="{FF2B5EF4-FFF2-40B4-BE49-F238E27FC236}">
                <a16:creationId xmlns:a16="http://schemas.microsoft.com/office/drawing/2014/main" id="{28BBC993-7C35-D13C-F8C2-6809A857341D}"/>
              </a:ext>
            </a:extLst>
          </p:cNvPr>
          <p:cNvCxnSpPr>
            <a:cxnSpLocks/>
            <a:stCxn id="5" idx="2"/>
            <a:endCxn id="8" idx="0"/>
          </p:cNvCxnSpPr>
          <p:nvPr/>
        </p:nvCxnSpPr>
        <p:spPr>
          <a:xfrm rot="5400000">
            <a:off x="4818302" y="2055624"/>
            <a:ext cx="1270812" cy="126331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Curvo 16">
            <a:extLst>
              <a:ext uri="{FF2B5EF4-FFF2-40B4-BE49-F238E27FC236}">
                <a16:creationId xmlns:a16="http://schemas.microsoft.com/office/drawing/2014/main" id="{753B2CAA-55EC-FB55-786A-AC286376615F}"/>
              </a:ext>
            </a:extLst>
          </p:cNvPr>
          <p:cNvCxnSpPr>
            <a:cxnSpLocks/>
            <a:stCxn id="5" idx="2"/>
            <a:endCxn id="9" idx="0"/>
          </p:cNvCxnSpPr>
          <p:nvPr/>
        </p:nvCxnSpPr>
        <p:spPr>
          <a:xfrm rot="16200000" flipH="1">
            <a:off x="6335315" y="1801929"/>
            <a:ext cx="1270812" cy="177070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6">
            <a:extLst>
              <a:ext uri="{FF2B5EF4-FFF2-40B4-BE49-F238E27FC236}">
                <a16:creationId xmlns:a16="http://schemas.microsoft.com/office/drawing/2014/main" id="{FBDC25D8-4DC3-44E4-6DBF-15126182BB5A}"/>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Motivation: Research Questions</a:t>
            </a:r>
          </a:p>
        </p:txBody>
      </p:sp>
    </p:spTree>
    <p:extLst>
      <p:ext uri="{BB962C8B-B14F-4D97-AF65-F5344CB8AC3E}">
        <p14:creationId xmlns:p14="http://schemas.microsoft.com/office/powerpoint/2010/main" val="194691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0760F4B9-F3F4-136E-D1F2-32E6B7A11BC0}"/>
              </a:ext>
            </a:extLst>
          </p:cNvPr>
          <p:cNvSpPr/>
          <p:nvPr/>
        </p:nvSpPr>
        <p:spPr>
          <a:xfrm>
            <a:off x="255399" y="5689287"/>
            <a:ext cx="11662914" cy="105073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ctr"/>
          <a:lstStyle/>
          <a:p>
            <a:r>
              <a:rPr lang="pt-BR" sz="1400" dirty="0">
                <a:solidFill>
                  <a:schemeClr val="tx1"/>
                </a:solidFill>
                <a:latin typeface="+mj-lt"/>
              </a:rPr>
              <a:t>Stata / Microsoft Word: </a:t>
            </a:r>
          </a:p>
          <a:p>
            <a:r>
              <a:rPr lang="pt-BR" sz="1400" b="1" dirty="0">
                <a:solidFill>
                  <a:schemeClr val="tx1"/>
                </a:solidFill>
                <a:latin typeface="+mj-lt"/>
              </a:rPr>
              <a:t>Data Visualization (Estimation &amp; results)</a:t>
            </a:r>
            <a:endParaRPr lang="en-US" sz="1400" b="1" dirty="0">
              <a:solidFill>
                <a:schemeClr val="tx1"/>
              </a:solidFill>
              <a:latin typeface="+mj-lt"/>
            </a:endParaRPr>
          </a:p>
        </p:txBody>
      </p:sp>
      <p:sp>
        <p:nvSpPr>
          <p:cNvPr id="6" name="Retângulo 5">
            <a:extLst>
              <a:ext uri="{FF2B5EF4-FFF2-40B4-BE49-F238E27FC236}">
                <a16:creationId xmlns:a16="http://schemas.microsoft.com/office/drawing/2014/main" id="{04DFD4C8-F5C6-8254-66B2-3989A05BD10E}"/>
              </a:ext>
            </a:extLst>
          </p:cNvPr>
          <p:cNvSpPr/>
          <p:nvPr/>
        </p:nvSpPr>
        <p:spPr>
          <a:xfrm>
            <a:off x="273687" y="2732001"/>
            <a:ext cx="11662914" cy="284346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Python / Stata: </a:t>
            </a:r>
          </a:p>
          <a:p>
            <a:r>
              <a:rPr lang="pt-BR" sz="1400" b="1" dirty="0">
                <a:solidFill>
                  <a:schemeClr val="tx1"/>
                </a:solidFill>
                <a:latin typeface="+mj-lt"/>
              </a:rPr>
              <a:t>Data Processing</a:t>
            </a:r>
            <a:r>
              <a:rPr lang="pt-BR" sz="1400" dirty="0">
                <a:solidFill>
                  <a:schemeClr val="tx1"/>
                </a:solidFill>
                <a:latin typeface="+mj-lt"/>
              </a:rPr>
              <a:t> </a:t>
            </a:r>
            <a:r>
              <a:rPr lang="pt-BR" sz="1400" b="1" dirty="0">
                <a:solidFill>
                  <a:schemeClr val="tx1"/>
                </a:solidFill>
                <a:latin typeface="+mj-lt"/>
              </a:rPr>
              <a:t>(</a:t>
            </a:r>
          </a:p>
          <a:p>
            <a:r>
              <a:rPr lang="pt-BR" sz="1200" dirty="0">
                <a:solidFill>
                  <a:schemeClr val="tx1"/>
                </a:solidFill>
                <a:latin typeface="+mj-lt"/>
              </a:rPr>
              <a:t>price consolidation &amp; </a:t>
            </a:r>
          </a:p>
          <a:p>
            <a:r>
              <a:rPr lang="pt-BR" sz="1200" dirty="0">
                <a:solidFill>
                  <a:schemeClr val="tx1"/>
                </a:solidFill>
                <a:latin typeface="+mj-lt"/>
              </a:rPr>
              <a:t>yield computation &amp;</a:t>
            </a:r>
          </a:p>
          <a:p>
            <a:r>
              <a:rPr lang="pt-BR" sz="1200" dirty="0">
                <a:solidFill>
                  <a:schemeClr val="tx1"/>
                </a:solidFill>
                <a:latin typeface="+mj-lt"/>
              </a:rPr>
              <a:t>econometrics </a:t>
            </a:r>
            <a:r>
              <a:rPr lang="pt-BR" b="1" dirty="0">
                <a:solidFill>
                  <a:schemeClr val="tx1"/>
                </a:solidFill>
                <a:latin typeface="+mj-lt"/>
              </a:rPr>
              <a:t>)</a:t>
            </a:r>
            <a:endParaRPr lang="en-US" b="1" dirty="0">
              <a:solidFill>
                <a:schemeClr val="tx1"/>
              </a:solidFill>
              <a:latin typeface="+mj-lt"/>
            </a:endParaRPr>
          </a:p>
        </p:txBody>
      </p:sp>
      <p:sp>
        <p:nvSpPr>
          <p:cNvPr id="7" name="Retângulo 6">
            <a:extLst>
              <a:ext uri="{FF2B5EF4-FFF2-40B4-BE49-F238E27FC236}">
                <a16:creationId xmlns:a16="http://schemas.microsoft.com/office/drawing/2014/main" id="{F0B7C6EB-02EE-4671-AEC7-D159DE258D14}"/>
              </a:ext>
            </a:extLst>
          </p:cNvPr>
          <p:cNvSpPr/>
          <p:nvPr/>
        </p:nvSpPr>
        <p:spPr>
          <a:xfrm>
            <a:off x="273687" y="565078"/>
            <a:ext cx="11662914" cy="20688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Python: </a:t>
            </a:r>
            <a:r>
              <a:rPr lang="pt-BR" sz="1400" b="1" dirty="0">
                <a:solidFill>
                  <a:schemeClr val="tx1"/>
                </a:solidFill>
                <a:latin typeface="+mj-lt"/>
              </a:rPr>
              <a:t>Data Ingestion (Data Sources &amp; Market Structure)</a:t>
            </a:r>
            <a:endParaRPr lang="en-US" sz="1400" b="1" dirty="0">
              <a:solidFill>
                <a:schemeClr val="tx1"/>
              </a:solidFill>
              <a:latin typeface="+mj-lt"/>
            </a:endParaRPr>
          </a:p>
        </p:txBody>
      </p:sp>
      <p:sp>
        <p:nvSpPr>
          <p:cNvPr id="14" name="Retângulo 13">
            <a:extLst>
              <a:ext uri="{FF2B5EF4-FFF2-40B4-BE49-F238E27FC236}">
                <a16:creationId xmlns:a16="http://schemas.microsoft.com/office/drawing/2014/main" id="{DF4828B2-3CAF-504E-0A39-B2D9C6AE4B89}"/>
              </a:ext>
            </a:extLst>
          </p:cNvPr>
          <p:cNvSpPr/>
          <p:nvPr/>
        </p:nvSpPr>
        <p:spPr>
          <a:xfrm>
            <a:off x="397039" y="871325"/>
            <a:ext cx="3335547"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Primary</a:t>
            </a:r>
          </a:p>
          <a:p>
            <a:r>
              <a:rPr lang="pt-BR" sz="1400" dirty="0">
                <a:solidFill>
                  <a:schemeClr val="tx1"/>
                </a:solidFill>
                <a:latin typeface="+mj-lt"/>
              </a:rPr>
              <a:t>market /</a:t>
            </a:r>
          </a:p>
          <a:p>
            <a:r>
              <a:rPr lang="pt-BR" sz="1400" dirty="0">
                <a:solidFill>
                  <a:schemeClr val="tx1"/>
                </a:solidFill>
                <a:latin typeface="+mj-lt"/>
              </a:rPr>
              <a:t>Issuance</a:t>
            </a:r>
          </a:p>
          <a:p>
            <a:r>
              <a:rPr lang="pt-BR" sz="1400" dirty="0">
                <a:solidFill>
                  <a:schemeClr val="tx1"/>
                </a:solidFill>
                <a:latin typeface="+mj-lt"/>
              </a:rPr>
              <a:t>Data/</a:t>
            </a:r>
          </a:p>
          <a:p>
            <a:r>
              <a:rPr lang="pt-BR" dirty="0">
                <a:solidFill>
                  <a:schemeClr val="tx1"/>
                </a:solidFill>
                <a:latin typeface="+mj-lt"/>
              </a:rPr>
              <a:t>Bond</a:t>
            </a:r>
          </a:p>
          <a:p>
            <a:r>
              <a:rPr lang="pt-BR" sz="1400" dirty="0">
                <a:solidFill>
                  <a:schemeClr val="tx1"/>
                </a:solidFill>
                <a:latin typeface="+mj-lt"/>
              </a:rPr>
              <a:t>Charact.</a:t>
            </a:r>
            <a:endParaRPr lang="en-US" sz="1400" dirty="0">
              <a:solidFill>
                <a:schemeClr val="tx1"/>
              </a:solidFill>
              <a:latin typeface="+mj-lt"/>
            </a:endParaRPr>
          </a:p>
        </p:txBody>
      </p:sp>
      <p:sp>
        <p:nvSpPr>
          <p:cNvPr id="15" name="Retângulo 14">
            <a:extLst>
              <a:ext uri="{FF2B5EF4-FFF2-40B4-BE49-F238E27FC236}">
                <a16:creationId xmlns:a16="http://schemas.microsoft.com/office/drawing/2014/main" id="{2783ADB1-7ACE-5228-E5D5-7B7B376FFAE0}"/>
              </a:ext>
            </a:extLst>
          </p:cNvPr>
          <p:cNvSpPr/>
          <p:nvPr/>
        </p:nvSpPr>
        <p:spPr>
          <a:xfrm>
            <a:off x="3801266" y="871325"/>
            <a:ext cx="4536049"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err="1">
                <a:solidFill>
                  <a:schemeClr val="tx1"/>
                </a:solidFill>
                <a:latin typeface="+mj-lt"/>
              </a:rPr>
              <a:t>Secondary</a:t>
            </a:r>
            <a:r>
              <a:rPr lang="pt-BR" sz="1400" dirty="0">
                <a:solidFill>
                  <a:schemeClr val="tx1"/>
                </a:solidFill>
                <a:latin typeface="+mj-lt"/>
              </a:rPr>
              <a:t> </a:t>
            </a:r>
          </a:p>
          <a:p>
            <a:r>
              <a:rPr lang="pt-BR" sz="1400" dirty="0">
                <a:solidFill>
                  <a:schemeClr val="tx1"/>
                </a:solidFill>
                <a:latin typeface="+mj-lt"/>
              </a:rPr>
              <a:t>Market </a:t>
            </a:r>
          </a:p>
          <a:p>
            <a:r>
              <a:rPr lang="pt-BR" sz="1400" dirty="0">
                <a:solidFill>
                  <a:schemeClr val="tx1"/>
                </a:solidFill>
                <a:latin typeface="+mj-lt"/>
              </a:rPr>
              <a:t>Prices (OTC)</a:t>
            </a:r>
            <a:endParaRPr lang="en-US" sz="1400" dirty="0">
              <a:solidFill>
                <a:schemeClr val="tx1"/>
              </a:solidFill>
              <a:latin typeface="+mj-lt"/>
            </a:endParaRPr>
          </a:p>
        </p:txBody>
      </p:sp>
      <p:sp>
        <p:nvSpPr>
          <p:cNvPr id="16" name="Retângulo 15">
            <a:extLst>
              <a:ext uri="{FF2B5EF4-FFF2-40B4-BE49-F238E27FC236}">
                <a16:creationId xmlns:a16="http://schemas.microsoft.com/office/drawing/2014/main" id="{9A98CF19-9A83-21B3-77CB-569EE69500CE}"/>
              </a:ext>
            </a:extLst>
          </p:cNvPr>
          <p:cNvSpPr/>
          <p:nvPr/>
        </p:nvSpPr>
        <p:spPr>
          <a:xfrm>
            <a:off x="8442688" y="871325"/>
            <a:ext cx="3346976" cy="1684009"/>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dirty="0">
                <a:solidFill>
                  <a:schemeClr val="tx1"/>
                </a:solidFill>
                <a:latin typeface="+mj-lt"/>
              </a:rPr>
              <a:t>Inflation-linked</a:t>
            </a:r>
          </a:p>
          <a:p>
            <a:r>
              <a:rPr lang="pt-BR" sz="1400" dirty="0">
                <a:solidFill>
                  <a:schemeClr val="tx1"/>
                </a:solidFill>
                <a:latin typeface="+mj-lt"/>
              </a:rPr>
              <a:t>Derivatives</a:t>
            </a:r>
          </a:p>
        </p:txBody>
      </p:sp>
      <p:sp>
        <p:nvSpPr>
          <p:cNvPr id="18" name="Retângulo 17">
            <a:extLst>
              <a:ext uri="{FF2B5EF4-FFF2-40B4-BE49-F238E27FC236}">
                <a16:creationId xmlns:a16="http://schemas.microsoft.com/office/drawing/2014/main" id="{20129362-B583-7501-47D7-593E9E98DDF9}"/>
              </a:ext>
            </a:extLst>
          </p:cNvPr>
          <p:cNvSpPr/>
          <p:nvPr/>
        </p:nvSpPr>
        <p:spPr>
          <a:xfrm>
            <a:off x="2204537" y="2903223"/>
            <a:ext cx="875963" cy="32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r>
              <a:rPr lang="pt-BR" sz="1400" baseline="30000" dirty="0">
                <a:solidFill>
                  <a:srgbClr val="FF0000"/>
                </a:solidFill>
                <a:latin typeface="+mj-lt"/>
              </a:rPr>
              <a:t>*</a:t>
            </a:r>
            <a:endParaRPr lang="en-US" sz="1400" baseline="30000" dirty="0">
              <a:solidFill>
                <a:srgbClr val="FF0000"/>
              </a:solidFill>
              <a:latin typeface="+mj-lt"/>
            </a:endParaRPr>
          </a:p>
        </p:txBody>
      </p:sp>
      <p:sp>
        <p:nvSpPr>
          <p:cNvPr id="19" name="Cilindro 18">
            <a:extLst>
              <a:ext uri="{FF2B5EF4-FFF2-40B4-BE49-F238E27FC236}">
                <a16:creationId xmlns:a16="http://schemas.microsoft.com/office/drawing/2014/main" id="{986374F5-0C51-5F3D-3217-08BFD35669C1}"/>
              </a:ext>
            </a:extLst>
          </p:cNvPr>
          <p:cNvSpPr/>
          <p:nvPr/>
        </p:nvSpPr>
        <p:spPr>
          <a:xfrm>
            <a:off x="1141220" y="1981901"/>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Main Bond </a:t>
            </a:r>
            <a:r>
              <a:rPr lang="pt-BR" dirty="0">
                <a:solidFill>
                  <a:schemeClr val="tx1"/>
                </a:solidFill>
                <a:latin typeface="+mj-lt"/>
              </a:rPr>
              <a:t>D</a:t>
            </a:r>
            <a:r>
              <a:rPr lang="pt-BR" sz="1400" dirty="0">
                <a:solidFill>
                  <a:schemeClr val="tx1"/>
                </a:solidFill>
                <a:latin typeface="+mj-lt"/>
              </a:rPr>
              <a:t>escriptions Database</a:t>
            </a:r>
            <a:endParaRPr lang="en-US" sz="1400" dirty="0">
              <a:solidFill>
                <a:schemeClr val="tx1"/>
              </a:solidFill>
              <a:latin typeface="+mj-lt"/>
            </a:endParaRPr>
          </a:p>
        </p:txBody>
      </p:sp>
      <p:sp>
        <p:nvSpPr>
          <p:cNvPr id="20" name="Cilindro 19">
            <a:extLst>
              <a:ext uri="{FF2B5EF4-FFF2-40B4-BE49-F238E27FC236}">
                <a16:creationId xmlns:a16="http://schemas.microsoft.com/office/drawing/2014/main" id="{6A5C980A-5A0B-65B1-1C45-F02F8502A600}"/>
              </a:ext>
            </a:extLst>
          </p:cNvPr>
          <p:cNvSpPr/>
          <p:nvPr/>
        </p:nvSpPr>
        <p:spPr>
          <a:xfrm>
            <a:off x="5421672" y="1977420"/>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Historical Bond Prices Database from Major Market Players</a:t>
            </a:r>
            <a:endParaRPr lang="en-US" sz="1400" dirty="0">
              <a:solidFill>
                <a:schemeClr val="tx1"/>
              </a:solidFill>
              <a:latin typeface="+mj-lt"/>
            </a:endParaRPr>
          </a:p>
        </p:txBody>
      </p:sp>
      <p:sp>
        <p:nvSpPr>
          <p:cNvPr id="21" name="Retângulo 20">
            <a:extLst>
              <a:ext uri="{FF2B5EF4-FFF2-40B4-BE49-F238E27FC236}">
                <a16:creationId xmlns:a16="http://schemas.microsoft.com/office/drawing/2014/main" id="{18DD9930-7877-A4C3-C03B-88CF522A52F2}"/>
              </a:ext>
            </a:extLst>
          </p:cNvPr>
          <p:cNvSpPr/>
          <p:nvPr/>
        </p:nvSpPr>
        <p:spPr>
          <a:xfrm>
            <a:off x="5676307" y="2888352"/>
            <a:ext cx="1019686" cy="324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endParaRPr lang="en-US" sz="1400" dirty="0">
              <a:solidFill>
                <a:schemeClr val="tx1"/>
              </a:solidFill>
              <a:latin typeface="+mj-lt"/>
            </a:endParaRPr>
          </a:p>
        </p:txBody>
      </p:sp>
      <p:sp>
        <p:nvSpPr>
          <p:cNvPr id="27" name="Retângulo 26">
            <a:extLst>
              <a:ext uri="{FF2B5EF4-FFF2-40B4-BE49-F238E27FC236}">
                <a16:creationId xmlns:a16="http://schemas.microsoft.com/office/drawing/2014/main" id="{3D03500A-4D26-57CB-53CE-D9CC2326C7D6}"/>
              </a:ext>
            </a:extLst>
          </p:cNvPr>
          <p:cNvSpPr/>
          <p:nvPr/>
        </p:nvSpPr>
        <p:spPr>
          <a:xfrm>
            <a:off x="3475279" y="2838522"/>
            <a:ext cx="1910206" cy="429903"/>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Representative market price (per bond–date)</a:t>
            </a:r>
          </a:p>
        </p:txBody>
      </p:sp>
      <p:cxnSp>
        <p:nvCxnSpPr>
          <p:cNvPr id="33" name="Conector de Seta Reta 32">
            <a:extLst>
              <a:ext uri="{FF2B5EF4-FFF2-40B4-BE49-F238E27FC236}">
                <a16:creationId xmlns:a16="http://schemas.microsoft.com/office/drawing/2014/main" id="{1F813C50-D325-BD57-8F7A-5CF818AE3FCC}"/>
              </a:ext>
            </a:extLst>
          </p:cNvPr>
          <p:cNvCxnSpPr>
            <a:cxnSpLocks/>
            <a:stCxn id="19" idx="3"/>
            <a:endCxn id="18" idx="0"/>
          </p:cNvCxnSpPr>
          <p:nvPr/>
        </p:nvCxnSpPr>
        <p:spPr>
          <a:xfrm>
            <a:off x="2300419" y="2466181"/>
            <a:ext cx="342100" cy="437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7B48CF9D-E724-4A7B-6E70-DC23B51B738F}"/>
              </a:ext>
            </a:extLst>
          </p:cNvPr>
          <p:cNvCxnSpPr>
            <a:cxnSpLocks/>
            <a:stCxn id="20" idx="3"/>
            <a:endCxn id="21" idx="0"/>
          </p:cNvCxnSpPr>
          <p:nvPr/>
        </p:nvCxnSpPr>
        <p:spPr>
          <a:xfrm flipH="1">
            <a:off x="6186150" y="2461700"/>
            <a:ext cx="394721" cy="426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F06F78AD-0B85-82F5-EC70-02F8C065BB82}"/>
              </a:ext>
            </a:extLst>
          </p:cNvPr>
          <p:cNvCxnSpPr>
            <a:cxnSpLocks/>
            <a:stCxn id="18" idx="3"/>
            <a:endCxn id="27" idx="1"/>
          </p:cNvCxnSpPr>
          <p:nvPr/>
        </p:nvCxnSpPr>
        <p:spPr>
          <a:xfrm flipV="1">
            <a:off x="3080500" y="3053474"/>
            <a:ext cx="394779" cy="11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57E25C93-54C9-1F69-6423-BAB0A9EFADC4}"/>
              </a:ext>
            </a:extLst>
          </p:cNvPr>
          <p:cNvCxnSpPr>
            <a:cxnSpLocks/>
            <a:stCxn id="27" idx="3"/>
            <a:endCxn id="21" idx="1"/>
          </p:cNvCxnSpPr>
          <p:nvPr/>
        </p:nvCxnSpPr>
        <p:spPr>
          <a:xfrm flipV="1">
            <a:off x="5385485" y="3050352"/>
            <a:ext cx="290822" cy="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tângulo 46">
            <a:extLst>
              <a:ext uri="{FF2B5EF4-FFF2-40B4-BE49-F238E27FC236}">
                <a16:creationId xmlns:a16="http://schemas.microsoft.com/office/drawing/2014/main" id="{02E77328-CA15-6EC0-0B4C-634F457E48E9}"/>
              </a:ext>
            </a:extLst>
          </p:cNvPr>
          <p:cNvSpPr/>
          <p:nvPr/>
        </p:nvSpPr>
        <p:spPr>
          <a:xfrm>
            <a:off x="6939201" y="2774604"/>
            <a:ext cx="1678900" cy="532630"/>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Corporate bond yield (YTM)</a:t>
            </a:r>
            <a:endParaRPr lang="en-US" sz="1400" dirty="0">
              <a:solidFill>
                <a:schemeClr val="tx1"/>
              </a:solidFill>
              <a:latin typeface="+mj-lt"/>
            </a:endParaRPr>
          </a:p>
        </p:txBody>
      </p:sp>
      <p:sp>
        <p:nvSpPr>
          <p:cNvPr id="62" name="Retângulo 61">
            <a:extLst>
              <a:ext uri="{FF2B5EF4-FFF2-40B4-BE49-F238E27FC236}">
                <a16:creationId xmlns:a16="http://schemas.microsoft.com/office/drawing/2014/main" id="{EE675BD8-ADC9-51B4-91F5-0F76F7CDF714}"/>
              </a:ext>
            </a:extLst>
          </p:cNvPr>
          <p:cNvSpPr/>
          <p:nvPr/>
        </p:nvSpPr>
        <p:spPr>
          <a:xfrm>
            <a:off x="2798484" y="3389018"/>
            <a:ext cx="4530408" cy="403384"/>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b="1" dirty="0">
                <a:solidFill>
                  <a:schemeClr val="tx1"/>
                </a:solidFill>
                <a:latin typeface="+mj-lt"/>
              </a:rPr>
              <a:t>DEPENDENT VARIABLE</a:t>
            </a:r>
            <a:endParaRPr lang="en-US" sz="1400" b="1" dirty="0">
              <a:solidFill>
                <a:schemeClr val="tx1"/>
              </a:solidFill>
              <a:latin typeface="+mj-lt"/>
            </a:endParaRPr>
          </a:p>
        </p:txBody>
      </p:sp>
      <p:sp>
        <p:nvSpPr>
          <p:cNvPr id="63" name="Retângulo 62">
            <a:extLst>
              <a:ext uri="{FF2B5EF4-FFF2-40B4-BE49-F238E27FC236}">
                <a16:creationId xmlns:a16="http://schemas.microsoft.com/office/drawing/2014/main" id="{7437F803-0A3A-A065-202B-4A0B97D3DD7C}"/>
              </a:ext>
            </a:extLst>
          </p:cNvPr>
          <p:cNvSpPr/>
          <p:nvPr/>
        </p:nvSpPr>
        <p:spPr>
          <a:xfrm>
            <a:off x="4670806" y="3437648"/>
            <a:ext cx="1773292" cy="31858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Corporate bond </a:t>
            </a:r>
            <a:r>
              <a:rPr lang="pt-BR" sz="1400" b="1" dirty="0">
                <a:solidFill>
                  <a:schemeClr val="tx1"/>
                </a:solidFill>
                <a:latin typeface="+mj-lt"/>
              </a:rPr>
              <a:t>spread</a:t>
            </a:r>
            <a:endParaRPr lang="en-US" sz="1400" b="1" dirty="0">
              <a:solidFill>
                <a:schemeClr val="tx1"/>
              </a:solidFill>
              <a:latin typeface="+mj-lt"/>
            </a:endParaRPr>
          </a:p>
        </p:txBody>
      </p:sp>
      <p:sp>
        <p:nvSpPr>
          <p:cNvPr id="67" name="Retângulo 66">
            <a:extLst>
              <a:ext uri="{FF2B5EF4-FFF2-40B4-BE49-F238E27FC236}">
                <a16:creationId xmlns:a16="http://schemas.microsoft.com/office/drawing/2014/main" id="{60A2B6DD-B45E-C909-530C-C6FC0674875A}"/>
              </a:ext>
            </a:extLst>
          </p:cNvPr>
          <p:cNvSpPr/>
          <p:nvPr/>
        </p:nvSpPr>
        <p:spPr>
          <a:xfrm>
            <a:off x="4224527" y="5703763"/>
            <a:ext cx="4707242" cy="1029396"/>
          </a:xfrm>
          <a:prstGeom prst="rect">
            <a:avLst/>
          </a:prstGeom>
          <a:solidFill>
            <a:srgbClr val="00B05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274320" tIns="0" rIns="0" bIns="0" rtlCol="0" anchor="ctr"/>
          <a:lstStyle/>
          <a:p>
            <a:r>
              <a:rPr lang="pt-BR" sz="1400" b="1" dirty="0">
                <a:solidFill>
                  <a:schemeClr val="bg1"/>
                </a:solidFill>
                <a:latin typeface="+mj-lt"/>
              </a:rPr>
              <a:t>Results table with</a:t>
            </a:r>
          </a:p>
          <a:p>
            <a:r>
              <a:rPr lang="pt-BR" b="1" dirty="0">
                <a:solidFill>
                  <a:schemeClr val="bg1"/>
                </a:solidFill>
                <a:latin typeface="+mj-lt"/>
              </a:rPr>
              <a:t>Robustness check</a:t>
            </a:r>
            <a:endParaRPr lang="en-US" sz="1400" b="1" dirty="0">
              <a:solidFill>
                <a:schemeClr val="bg1"/>
              </a:solidFill>
              <a:latin typeface="+mj-lt"/>
            </a:endParaRPr>
          </a:p>
        </p:txBody>
      </p:sp>
      <p:cxnSp>
        <p:nvCxnSpPr>
          <p:cNvPr id="68" name="Conector de Seta Reta 67">
            <a:extLst>
              <a:ext uri="{FF2B5EF4-FFF2-40B4-BE49-F238E27FC236}">
                <a16:creationId xmlns:a16="http://schemas.microsoft.com/office/drawing/2014/main" id="{8D3D8ED3-7991-BDEE-9F19-75B3F4156DB7}"/>
              </a:ext>
            </a:extLst>
          </p:cNvPr>
          <p:cNvCxnSpPr>
            <a:cxnSpLocks/>
            <a:stCxn id="6" idx="2"/>
          </p:cNvCxnSpPr>
          <p:nvPr/>
        </p:nvCxnSpPr>
        <p:spPr>
          <a:xfrm>
            <a:off x="6105144" y="5575469"/>
            <a:ext cx="0" cy="125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tângulo: Cantos Arredondados 54">
            <a:extLst>
              <a:ext uri="{FF2B5EF4-FFF2-40B4-BE49-F238E27FC236}">
                <a16:creationId xmlns:a16="http://schemas.microsoft.com/office/drawing/2014/main" id="{4232A863-F3C5-7D1F-EE37-BEDDD781DEB3}"/>
              </a:ext>
            </a:extLst>
          </p:cNvPr>
          <p:cNvSpPr/>
          <p:nvPr/>
        </p:nvSpPr>
        <p:spPr>
          <a:xfrm>
            <a:off x="409200" y="3893993"/>
            <a:ext cx="11397333" cy="1614918"/>
          </a:xfrm>
          <a:prstGeom prst="roundRect">
            <a:avLst/>
          </a:prstGeom>
          <a:solidFill>
            <a:srgbClr val="002060"/>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b="1" dirty="0">
                <a:solidFill>
                  <a:schemeClr val="bg1"/>
                </a:solidFill>
                <a:latin typeface="+mj-lt"/>
              </a:rPr>
              <a:t>EXPLANATORY</a:t>
            </a:r>
          </a:p>
          <a:p>
            <a:r>
              <a:rPr lang="pt-BR" sz="1400" b="1" dirty="0">
                <a:solidFill>
                  <a:schemeClr val="bg1"/>
                </a:solidFill>
                <a:latin typeface="+mj-lt"/>
              </a:rPr>
              <a:t>VARIABLES </a:t>
            </a:r>
          </a:p>
          <a:p>
            <a:endParaRPr lang="en-US" sz="1400" b="1" dirty="0">
              <a:solidFill>
                <a:schemeClr val="bg1"/>
              </a:solidFill>
              <a:latin typeface="+mj-lt"/>
            </a:endParaRPr>
          </a:p>
        </p:txBody>
      </p:sp>
      <p:sp>
        <p:nvSpPr>
          <p:cNvPr id="56" name="Retângulo: Cantos Arredondados 55">
            <a:extLst>
              <a:ext uri="{FF2B5EF4-FFF2-40B4-BE49-F238E27FC236}">
                <a16:creationId xmlns:a16="http://schemas.microsoft.com/office/drawing/2014/main" id="{2BF3FC6F-4CB4-DC14-D98C-E279AA322C71}"/>
              </a:ext>
            </a:extLst>
          </p:cNvPr>
          <p:cNvSpPr/>
          <p:nvPr/>
        </p:nvSpPr>
        <p:spPr>
          <a:xfrm>
            <a:off x="1665349" y="3964267"/>
            <a:ext cx="1586927"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Global </a:t>
            </a:r>
            <a:r>
              <a:rPr lang="pt-BR" sz="1400" dirty="0" err="1">
                <a:solidFill>
                  <a:schemeClr val="bg1"/>
                </a:solidFill>
                <a:latin typeface="+mj-lt"/>
              </a:rPr>
              <a:t>factors</a:t>
            </a:r>
            <a:endParaRPr lang="en-US" sz="1400" dirty="0">
              <a:solidFill>
                <a:schemeClr val="bg1"/>
              </a:solidFill>
              <a:latin typeface="+mj-lt"/>
            </a:endParaRPr>
          </a:p>
        </p:txBody>
      </p:sp>
      <p:sp>
        <p:nvSpPr>
          <p:cNvPr id="57" name="Retângulo: Cantos Arredondados 56">
            <a:extLst>
              <a:ext uri="{FF2B5EF4-FFF2-40B4-BE49-F238E27FC236}">
                <a16:creationId xmlns:a16="http://schemas.microsoft.com/office/drawing/2014/main" id="{0F469D9E-BC0D-ECA2-143F-ECC28BEFD269}"/>
              </a:ext>
            </a:extLst>
          </p:cNvPr>
          <p:cNvSpPr/>
          <p:nvPr/>
        </p:nvSpPr>
        <p:spPr>
          <a:xfrm>
            <a:off x="3333132" y="3964267"/>
            <a:ext cx="1586927"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Sovereign </a:t>
            </a:r>
            <a:r>
              <a:rPr lang="pt-BR" sz="1400" dirty="0" err="1">
                <a:solidFill>
                  <a:schemeClr val="bg1"/>
                </a:solidFill>
                <a:latin typeface="+mj-lt"/>
              </a:rPr>
              <a:t>risk</a:t>
            </a:r>
            <a:endParaRPr lang="en-US" sz="1400" dirty="0">
              <a:solidFill>
                <a:schemeClr val="bg1"/>
              </a:solidFill>
              <a:latin typeface="+mj-lt"/>
            </a:endParaRPr>
          </a:p>
        </p:txBody>
      </p:sp>
      <p:sp>
        <p:nvSpPr>
          <p:cNvPr id="58" name="Retângulo: Cantos Arredondados 57">
            <a:extLst>
              <a:ext uri="{FF2B5EF4-FFF2-40B4-BE49-F238E27FC236}">
                <a16:creationId xmlns:a16="http://schemas.microsoft.com/office/drawing/2014/main" id="{9B1A969C-61DB-ECB3-7705-8547376B2B3D}"/>
              </a:ext>
            </a:extLst>
          </p:cNvPr>
          <p:cNvSpPr/>
          <p:nvPr/>
        </p:nvSpPr>
        <p:spPr>
          <a:xfrm>
            <a:off x="5000915" y="3964267"/>
            <a:ext cx="1596674"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Bond </a:t>
            </a:r>
            <a:r>
              <a:rPr lang="pt-BR" sz="1400" dirty="0" err="1">
                <a:solidFill>
                  <a:schemeClr val="bg1"/>
                </a:solidFill>
                <a:latin typeface="+mj-lt"/>
              </a:rPr>
              <a:t>characteristics</a:t>
            </a:r>
            <a:endParaRPr lang="en-US" sz="1400" dirty="0">
              <a:solidFill>
                <a:schemeClr val="bg1"/>
              </a:solidFill>
              <a:latin typeface="+mj-lt"/>
            </a:endParaRPr>
          </a:p>
        </p:txBody>
      </p:sp>
      <p:sp>
        <p:nvSpPr>
          <p:cNvPr id="59" name="Retângulo: Cantos Arredondados 58">
            <a:extLst>
              <a:ext uri="{FF2B5EF4-FFF2-40B4-BE49-F238E27FC236}">
                <a16:creationId xmlns:a16="http://schemas.microsoft.com/office/drawing/2014/main" id="{6C1B6DDA-950A-AC6B-5DB8-3B05BF399E9C}"/>
              </a:ext>
            </a:extLst>
          </p:cNvPr>
          <p:cNvSpPr/>
          <p:nvPr/>
        </p:nvSpPr>
        <p:spPr>
          <a:xfrm>
            <a:off x="6753351" y="3964267"/>
            <a:ext cx="2178418"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a:solidFill>
                  <a:schemeClr val="bg1"/>
                </a:solidFill>
                <a:latin typeface="+mj-lt"/>
              </a:rPr>
              <a:t>Local macro conditions</a:t>
            </a:r>
            <a:endParaRPr lang="en-US" sz="1400" dirty="0">
              <a:solidFill>
                <a:schemeClr val="bg1"/>
              </a:solidFill>
              <a:latin typeface="+mj-lt"/>
            </a:endParaRPr>
          </a:p>
        </p:txBody>
      </p:sp>
      <p:sp>
        <p:nvSpPr>
          <p:cNvPr id="60" name="Retângulo: Cantos Arredondados 59">
            <a:extLst>
              <a:ext uri="{FF2B5EF4-FFF2-40B4-BE49-F238E27FC236}">
                <a16:creationId xmlns:a16="http://schemas.microsoft.com/office/drawing/2014/main" id="{E8F909EA-C8F4-3B61-5916-00A74CC8D98A}"/>
              </a:ext>
            </a:extLst>
          </p:cNvPr>
          <p:cNvSpPr/>
          <p:nvPr/>
        </p:nvSpPr>
        <p:spPr>
          <a:xfrm>
            <a:off x="9054328" y="3964267"/>
            <a:ext cx="2656443" cy="1508102"/>
          </a:xfrm>
          <a:prstGeom prst="roundRect">
            <a:avLst/>
          </a:prstGeom>
          <a:solidFill>
            <a:srgbClr val="002060"/>
          </a:solidFill>
          <a:ln w="3175">
            <a:solidFill>
              <a:srgbClr val="FFFFFF"/>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400" dirty="0" err="1">
                <a:solidFill>
                  <a:schemeClr val="bg1"/>
                </a:solidFill>
                <a:latin typeface="+mj-lt"/>
              </a:rPr>
              <a:t>Firm</a:t>
            </a:r>
            <a:r>
              <a:rPr lang="pt-BR" sz="1400" dirty="0">
                <a:solidFill>
                  <a:schemeClr val="bg1"/>
                </a:solidFill>
                <a:latin typeface="+mj-lt"/>
              </a:rPr>
              <a:t> </a:t>
            </a:r>
            <a:r>
              <a:rPr lang="pt-BR" sz="1400" dirty="0" err="1">
                <a:solidFill>
                  <a:schemeClr val="bg1"/>
                </a:solidFill>
                <a:latin typeface="+mj-lt"/>
              </a:rPr>
              <a:t>characteristics</a:t>
            </a:r>
            <a:endParaRPr lang="en-US" sz="1400" dirty="0">
              <a:solidFill>
                <a:schemeClr val="bg1"/>
              </a:solidFill>
              <a:latin typeface="+mj-lt"/>
            </a:endParaRPr>
          </a:p>
        </p:txBody>
      </p:sp>
      <p:sp>
        <p:nvSpPr>
          <p:cNvPr id="106" name="Retângulo: Cantos Arredondados 105">
            <a:extLst>
              <a:ext uri="{FF2B5EF4-FFF2-40B4-BE49-F238E27FC236}">
                <a16:creationId xmlns:a16="http://schemas.microsoft.com/office/drawing/2014/main" id="{49B1FAF4-FBB2-3477-3FE3-AF86AAC7CBF3}"/>
              </a:ext>
            </a:extLst>
          </p:cNvPr>
          <p:cNvSpPr/>
          <p:nvPr/>
        </p:nvSpPr>
        <p:spPr>
          <a:xfrm>
            <a:off x="1792856" y="4392087"/>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VIX: </a:t>
            </a:r>
            <a:r>
              <a:rPr lang="en-US" sz="1400" dirty="0" err="1">
                <a:solidFill>
                  <a:schemeClr val="tx1"/>
                </a:solidFill>
                <a:latin typeface="+mj-lt"/>
              </a:rPr>
              <a:t>Idx</a:t>
            </a:r>
            <a:r>
              <a:rPr lang="en-US" sz="1400" dirty="0">
                <a:solidFill>
                  <a:schemeClr val="tx1"/>
                </a:solidFill>
                <a:latin typeface="+mj-lt"/>
              </a:rPr>
              <a:t> of global risk aversion</a:t>
            </a:r>
          </a:p>
        </p:txBody>
      </p:sp>
      <p:sp>
        <p:nvSpPr>
          <p:cNvPr id="107" name="Retângulo: Cantos Arredondados 106">
            <a:extLst>
              <a:ext uri="{FF2B5EF4-FFF2-40B4-BE49-F238E27FC236}">
                <a16:creationId xmlns:a16="http://schemas.microsoft.com/office/drawing/2014/main" id="{2D670080-EE40-0D2A-BC81-9B9418FE22F9}"/>
              </a:ext>
            </a:extLst>
          </p:cNvPr>
          <p:cNvSpPr/>
          <p:nvPr/>
        </p:nvSpPr>
        <p:spPr>
          <a:xfrm>
            <a:off x="1792856" y="4943663"/>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Fed 3M Forward</a:t>
            </a:r>
          </a:p>
        </p:txBody>
      </p:sp>
      <p:sp>
        <p:nvSpPr>
          <p:cNvPr id="108" name="Retângulo: Cantos Arredondados 107">
            <a:extLst>
              <a:ext uri="{FF2B5EF4-FFF2-40B4-BE49-F238E27FC236}">
                <a16:creationId xmlns:a16="http://schemas.microsoft.com/office/drawing/2014/main" id="{AC0A823F-6B6D-2B2B-0EA6-31A78C5B8715}"/>
              </a:ext>
            </a:extLst>
          </p:cNvPr>
          <p:cNvSpPr/>
          <p:nvPr/>
        </p:nvSpPr>
        <p:spPr>
          <a:xfrm>
            <a:off x="3493158" y="4689040"/>
            <a:ext cx="1299311"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err="1">
                <a:solidFill>
                  <a:schemeClr val="tx1"/>
                </a:solidFill>
                <a:latin typeface="+mj-lt"/>
              </a:rPr>
              <a:t>synthetic_cds_br</a:t>
            </a:r>
            <a:endParaRPr lang="en-US" sz="1400" dirty="0">
              <a:solidFill>
                <a:schemeClr val="tx1"/>
              </a:solidFill>
              <a:latin typeface="+mj-lt"/>
            </a:endParaRPr>
          </a:p>
        </p:txBody>
      </p:sp>
      <p:sp>
        <p:nvSpPr>
          <p:cNvPr id="109" name="Retângulo: Cantos Arredondados 108">
            <a:extLst>
              <a:ext uri="{FF2B5EF4-FFF2-40B4-BE49-F238E27FC236}">
                <a16:creationId xmlns:a16="http://schemas.microsoft.com/office/drawing/2014/main" id="{BC3FCBD3-253F-C424-6DDC-76E06A64AF4E}"/>
              </a:ext>
            </a:extLst>
          </p:cNvPr>
          <p:cNvSpPr/>
          <p:nvPr/>
        </p:nvSpPr>
        <p:spPr>
          <a:xfrm>
            <a:off x="5113364" y="4699550"/>
            <a:ext cx="139367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days_to_maturity</a:t>
            </a:r>
            <a:endParaRPr lang="en-US" sz="1400" dirty="0">
              <a:solidFill>
                <a:schemeClr val="tx1"/>
              </a:solidFill>
              <a:latin typeface="+mj-lt"/>
            </a:endParaRPr>
          </a:p>
        </p:txBody>
      </p:sp>
      <p:sp>
        <p:nvSpPr>
          <p:cNvPr id="110" name="Retângulo: Cantos Arredondados 109">
            <a:extLst>
              <a:ext uri="{FF2B5EF4-FFF2-40B4-BE49-F238E27FC236}">
                <a16:creationId xmlns:a16="http://schemas.microsoft.com/office/drawing/2014/main" id="{8D8BFBA6-ADBC-59E3-E75D-94EEC9D2B5B6}"/>
              </a:ext>
            </a:extLst>
          </p:cNvPr>
          <p:cNvSpPr/>
          <p:nvPr/>
        </p:nvSpPr>
        <p:spPr>
          <a:xfrm>
            <a:off x="6876112" y="4300153"/>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usd_brl: exchange rate</a:t>
            </a:r>
            <a:endParaRPr lang="en-US" sz="1400" dirty="0">
              <a:solidFill>
                <a:schemeClr val="tx1"/>
              </a:solidFill>
              <a:latin typeface="+mj-lt"/>
            </a:endParaRPr>
          </a:p>
        </p:txBody>
      </p:sp>
      <p:sp>
        <p:nvSpPr>
          <p:cNvPr id="116" name="Retângulo: Cantos Arredondados 115">
            <a:extLst>
              <a:ext uri="{FF2B5EF4-FFF2-40B4-BE49-F238E27FC236}">
                <a16:creationId xmlns:a16="http://schemas.microsoft.com/office/drawing/2014/main" id="{9D904534-9286-5CC2-04C2-4A4B7FF03C65}"/>
              </a:ext>
            </a:extLst>
          </p:cNvPr>
          <p:cNvSpPr/>
          <p:nvPr/>
        </p:nvSpPr>
        <p:spPr>
          <a:xfrm>
            <a:off x="6876112" y="4681179"/>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gdp_yoy: </a:t>
            </a:r>
            <a:r>
              <a:rPr lang="pt-BR" sz="1200" dirty="0">
                <a:solidFill>
                  <a:schemeClr val="tx1"/>
                </a:solidFill>
                <a:latin typeface="+mj-lt"/>
              </a:rPr>
              <a:t>economic growth</a:t>
            </a:r>
            <a:endParaRPr lang="en-US" sz="1200" dirty="0">
              <a:solidFill>
                <a:schemeClr val="tx1"/>
              </a:solidFill>
              <a:latin typeface="+mj-lt"/>
            </a:endParaRPr>
          </a:p>
        </p:txBody>
      </p:sp>
      <p:sp>
        <p:nvSpPr>
          <p:cNvPr id="117" name="Retângulo: Cantos Arredondados 116">
            <a:extLst>
              <a:ext uri="{FF2B5EF4-FFF2-40B4-BE49-F238E27FC236}">
                <a16:creationId xmlns:a16="http://schemas.microsoft.com/office/drawing/2014/main" id="{93531067-4451-2508-E119-B4827202B4BA}"/>
              </a:ext>
            </a:extLst>
          </p:cNvPr>
          <p:cNvSpPr/>
          <p:nvPr/>
        </p:nvSpPr>
        <p:spPr>
          <a:xfrm>
            <a:off x="6882327" y="5062205"/>
            <a:ext cx="1957244" cy="295409"/>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mj-lt"/>
              </a:rPr>
              <a:t>Public debt/GDP</a:t>
            </a:r>
          </a:p>
        </p:txBody>
      </p:sp>
      <p:sp>
        <p:nvSpPr>
          <p:cNvPr id="126" name="Retângulo: Cantos Arredondados 125">
            <a:extLst>
              <a:ext uri="{FF2B5EF4-FFF2-40B4-BE49-F238E27FC236}">
                <a16:creationId xmlns:a16="http://schemas.microsoft.com/office/drawing/2014/main" id="{92412A13-DD96-9FB0-3898-498ABADB74A3}"/>
              </a:ext>
            </a:extLst>
          </p:cNvPr>
          <p:cNvSpPr/>
          <p:nvPr/>
        </p:nvSpPr>
        <p:spPr>
          <a:xfrm>
            <a:off x="9154302" y="4328079"/>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tot_debt_to_ebitda: leverage</a:t>
            </a:r>
            <a:endParaRPr lang="en-US" sz="1400" dirty="0">
              <a:solidFill>
                <a:schemeClr val="tx1"/>
              </a:solidFill>
              <a:latin typeface="+mj-lt"/>
            </a:endParaRPr>
          </a:p>
        </p:txBody>
      </p:sp>
      <p:sp>
        <p:nvSpPr>
          <p:cNvPr id="127" name="Retângulo: Cantos Arredondados 126">
            <a:extLst>
              <a:ext uri="{FF2B5EF4-FFF2-40B4-BE49-F238E27FC236}">
                <a16:creationId xmlns:a16="http://schemas.microsoft.com/office/drawing/2014/main" id="{D9C2A953-2A0D-9B52-C0F7-C37F950DFB0E}"/>
              </a:ext>
            </a:extLst>
          </p:cNvPr>
          <p:cNvSpPr/>
          <p:nvPr/>
        </p:nvSpPr>
        <p:spPr>
          <a:xfrm>
            <a:off x="9154302" y="4879655"/>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economic sector</a:t>
            </a:r>
            <a:endParaRPr lang="en-US" sz="1400" dirty="0">
              <a:solidFill>
                <a:schemeClr val="tx1"/>
              </a:solidFill>
              <a:latin typeface="+mj-lt"/>
            </a:endParaRPr>
          </a:p>
        </p:txBody>
      </p:sp>
      <p:sp>
        <p:nvSpPr>
          <p:cNvPr id="128" name="Retângulo: Cantos Arredondados 127">
            <a:extLst>
              <a:ext uri="{FF2B5EF4-FFF2-40B4-BE49-F238E27FC236}">
                <a16:creationId xmlns:a16="http://schemas.microsoft.com/office/drawing/2014/main" id="{083FDB79-8D6B-8145-E9DC-D13C8AE2C224}"/>
              </a:ext>
            </a:extLst>
          </p:cNvPr>
          <p:cNvSpPr/>
          <p:nvPr/>
        </p:nvSpPr>
        <p:spPr>
          <a:xfrm>
            <a:off x="10442912" y="4344464"/>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liquidity: cash flow / assets</a:t>
            </a:r>
            <a:endParaRPr lang="en-US" sz="1400" dirty="0">
              <a:solidFill>
                <a:schemeClr val="tx1"/>
              </a:solidFill>
              <a:latin typeface="+mj-lt"/>
            </a:endParaRPr>
          </a:p>
        </p:txBody>
      </p:sp>
      <p:sp>
        <p:nvSpPr>
          <p:cNvPr id="129" name="Retângulo: Cantos Arredondados 128">
            <a:extLst>
              <a:ext uri="{FF2B5EF4-FFF2-40B4-BE49-F238E27FC236}">
                <a16:creationId xmlns:a16="http://schemas.microsoft.com/office/drawing/2014/main" id="{20A2F9CB-217D-02EB-1FF3-16EC9A4C951E}"/>
              </a:ext>
            </a:extLst>
          </p:cNvPr>
          <p:cNvSpPr/>
          <p:nvPr/>
        </p:nvSpPr>
        <p:spPr>
          <a:xfrm>
            <a:off x="10442912" y="4896040"/>
            <a:ext cx="1188760" cy="418915"/>
          </a:xfrm>
          <a:prstGeom prst="roundRect">
            <a:avLst/>
          </a:prstGeom>
          <a:solidFill>
            <a:schemeClr val="bg1"/>
          </a:solid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err="1">
                <a:solidFill>
                  <a:schemeClr val="tx1"/>
                </a:solidFill>
                <a:latin typeface="+mj-lt"/>
              </a:rPr>
              <a:t>amount_issued_to_asset</a:t>
            </a:r>
            <a:r>
              <a:rPr lang="en-US" sz="1400" dirty="0">
                <a:solidFill>
                  <a:schemeClr val="tx1"/>
                </a:solidFill>
                <a:latin typeface="+mj-lt"/>
              </a:rPr>
              <a:t>: size</a:t>
            </a:r>
          </a:p>
        </p:txBody>
      </p:sp>
      <p:sp>
        <p:nvSpPr>
          <p:cNvPr id="146" name="Retângulo 145">
            <a:extLst>
              <a:ext uri="{FF2B5EF4-FFF2-40B4-BE49-F238E27FC236}">
                <a16:creationId xmlns:a16="http://schemas.microsoft.com/office/drawing/2014/main" id="{A6C63F95-F86E-887B-1A6E-0915FE6CC9A2}"/>
              </a:ext>
            </a:extLst>
          </p:cNvPr>
          <p:cNvSpPr/>
          <p:nvPr/>
        </p:nvSpPr>
        <p:spPr>
          <a:xfrm>
            <a:off x="1102361" y="947085"/>
            <a:ext cx="2542816" cy="75422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err="1">
                <a:solidFill>
                  <a:schemeClr val="tx1"/>
                </a:solidFill>
                <a:latin typeface="+mj-lt"/>
              </a:rPr>
              <a:t>Anbima</a:t>
            </a:r>
            <a:endParaRPr lang="en-US" sz="1400" dirty="0">
              <a:solidFill>
                <a:schemeClr val="tx1"/>
              </a:solidFill>
              <a:latin typeface="+mj-lt"/>
            </a:endParaRPr>
          </a:p>
        </p:txBody>
      </p:sp>
      <p:sp>
        <p:nvSpPr>
          <p:cNvPr id="158" name="Retângulo 157">
            <a:extLst>
              <a:ext uri="{FF2B5EF4-FFF2-40B4-BE49-F238E27FC236}">
                <a16:creationId xmlns:a16="http://schemas.microsoft.com/office/drawing/2014/main" id="{72F483EE-B8D4-CA1E-38F1-F0862190B350}"/>
              </a:ext>
            </a:extLst>
          </p:cNvPr>
          <p:cNvSpPr/>
          <p:nvPr/>
        </p:nvSpPr>
        <p:spPr>
          <a:xfrm>
            <a:off x="1756575" y="134490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Coupon</a:t>
            </a:r>
            <a:endParaRPr lang="en-US" sz="1400" dirty="0">
              <a:solidFill>
                <a:schemeClr val="tx1"/>
              </a:solidFill>
              <a:latin typeface="+mj-lt"/>
            </a:endParaRPr>
          </a:p>
        </p:txBody>
      </p:sp>
      <p:sp>
        <p:nvSpPr>
          <p:cNvPr id="159" name="Retângulo 158">
            <a:extLst>
              <a:ext uri="{FF2B5EF4-FFF2-40B4-BE49-F238E27FC236}">
                <a16:creationId xmlns:a16="http://schemas.microsoft.com/office/drawing/2014/main" id="{49BBC932-7DE5-64B9-A02C-7654D8D6D300}"/>
              </a:ext>
            </a:extLst>
          </p:cNvPr>
          <p:cNvSpPr/>
          <p:nvPr/>
        </p:nvSpPr>
        <p:spPr>
          <a:xfrm>
            <a:off x="2669269" y="134490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+30</a:t>
            </a:r>
            <a:endParaRPr lang="en-US" sz="1400" dirty="0">
              <a:solidFill>
                <a:schemeClr val="tx1"/>
              </a:solidFill>
              <a:latin typeface="+mj-lt"/>
            </a:endParaRPr>
          </a:p>
        </p:txBody>
      </p:sp>
      <p:sp>
        <p:nvSpPr>
          <p:cNvPr id="162" name="Retângulo 161">
            <a:extLst>
              <a:ext uri="{FF2B5EF4-FFF2-40B4-BE49-F238E27FC236}">
                <a16:creationId xmlns:a16="http://schemas.microsoft.com/office/drawing/2014/main" id="{648AB318-ABFB-D2D9-62D8-907AF78D7B46}"/>
              </a:ext>
            </a:extLst>
          </p:cNvPr>
          <p:cNvSpPr/>
          <p:nvPr/>
        </p:nvSpPr>
        <p:spPr>
          <a:xfrm>
            <a:off x="5922432" y="1532557"/>
            <a:ext cx="1316878" cy="268197"/>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Bloomberg</a:t>
            </a:r>
            <a:endParaRPr lang="en-US" sz="1400" dirty="0">
              <a:solidFill>
                <a:schemeClr val="tx1"/>
              </a:solidFill>
              <a:latin typeface="+mj-lt"/>
            </a:endParaRPr>
          </a:p>
        </p:txBody>
      </p:sp>
      <p:sp>
        <p:nvSpPr>
          <p:cNvPr id="164" name="Retângulo 163">
            <a:extLst>
              <a:ext uri="{FF2B5EF4-FFF2-40B4-BE49-F238E27FC236}">
                <a16:creationId xmlns:a16="http://schemas.microsoft.com/office/drawing/2014/main" id="{523C731F-4D8D-3A68-27BE-BF3ECD00035D}"/>
              </a:ext>
            </a:extLst>
          </p:cNvPr>
          <p:cNvSpPr/>
          <p:nvPr/>
        </p:nvSpPr>
        <p:spPr>
          <a:xfrm>
            <a:off x="4670805"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Bradesco</a:t>
            </a:r>
            <a:endParaRPr lang="en-US" sz="1400" dirty="0">
              <a:solidFill>
                <a:schemeClr val="tx1"/>
              </a:solidFill>
              <a:latin typeface="+mj-lt"/>
            </a:endParaRPr>
          </a:p>
        </p:txBody>
      </p:sp>
      <p:sp>
        <p:nvSpPr>
          <p:cNvPr id="165" name="Retângulo 164">
            <a:extLst>
              <a:ext uri="{FF2B5EF4-FFF2-40B4-BE49-F238E27FC236}">
                <a16:creationId xmlns:a16="http://schemas.microsoft.com/office/drawing/2014/main" id="{06F149B3-00A1-0E8D-FC3C-9223C20A3215}"/>
              </a:ext>
            </a:extLst>
          </p:cNvPr>
          <p:cNvSpPr/>
          <p:nvPr/>
        </p:nvSpPr>
        <p:spPr>
          <a:xfrm>
            <a:off x="1756575" y="1015667"/>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Issue Date</a:t>
            </a:r>
            <a:endParaRPr lang="en-US" sz="1400" dirty="0">
              <a:solidFill>
                <a:schemeClr val="tx1"/>
              </a:solidFill>
              <a:latin typeface="+mj-lt"/>
            </a:endParaRPr>
          </a:p>
        </p:txBody>
      </p:sp>
      <p:sp>
        <p:nvSpPr>
          <p:cNvPr id="166" name="Retângulo 165">
            <a:extLst>
              <a:ext uri="{FF2B5EF4-FFF2-40B4-BE49-F238E27FC236}">
                <a16:creationId xmlns:a16="http://schemas.microsoft.com/office/drawing/2014/main" id="{F36F8340-EDAE-403D-4476-FF5BA3430589}"/>
              </a:ext>
            </a:extLst>
          </p:cNvPr>
          <p:cNvSpPr/>
          <p:nvPr/>
        </p:nvSpPr>
        <p:spPr>
          <a:xfrm>
            <a:off x="2669269" y="1015667"/>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Maturity</a:t>
            </a:r>
            <a:endParaRPr lang="en-US" sz="1400" dirty="0">
              <a:solidFill>
                <a:schemeClr val="tx1"/>
              </a:solidFill>
              <a:latin typeface="+mj-lt"/>
            </a:endParaRPr>
          </a:p>
        </p:txBody>
      </p:sp>
      <p:cxnSp>
        <p:nvCxnSpPr>
          <p:cNvPr id="170" name="Conector de Seta Reta 169">
            <a:extLst>
              <a:ext uri="{FF2B5EF4-FFF2-40B4-BE49-F238E27FC236}">
                <a16:creationId xmlns:a16="http://schemas.microsoft.com/office/drawing/2014/main" id="{ABA0A4DE-9AF5-E949-9D93-F4178B02BAA5}"/>
              </a:ext>
            </a:extLst>
          </p:cNvPr>
          <p:cNvCxnSpPr>
            <a:cxnSpLocks/>
            <a:endCxn id="19" idx="1"/>
          </p:cNvCxnSpPr>
          <p:nvPr/>
        </p:nvCxnSpPr>
        <p:spPr>
          <a:xfrm>
            <a:off x="2300419" y="1701313"/>
            <a:ext cx="0" cy="280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5" name="Retângulo 174">
            <a:extLst>
              <a:ext uri="{FF2B5EF4-FFF2-40B4-BE49-F238E27FC236}">
                <a16:creationId xmlns:a16="http://schemas.microsoft.com/office/drawing/2014/main" id="{C66FC8FB-0F40-4098-5152-9910BE0A1A83}"/>
              </a:ext>
            </a:extLst>
          </p:cNvPr>
          <p:cNvSpPr/>
          <p:nvPr/>
        </p:nvSpPr>
        <p:spPr>
          <a:xfrm>
            <a:off x="5571213"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Itau</a:t>
            </a:r>
            <a:endParaRPr lang="en-US" sz="1400" dirty="0">
              <a:solidFill>
                <a:schemeClr val="tx1"/>
              </a:solidFill>
              <a:latin typeface="+mj-lt"/>
            </a:endParaRPr>
          </a:p>
        </p:txBody>
      </p:sp>
      <p:sp>
        <p:nvSpPr>
          <p:cNvPr id="176" name="Retângulo 175">
            <a:extLst>
              <a:ext uri="{FF2B5EF4-FFF2-40B4-BE49-F238E27FC236}">
                <a16:creationId xmlns:a16="http://schemas.microsoft.com/office/drawing/2014/main" id="{302970D5-DED3-ECB2-30B3-BABB532360CA}"/>
              </a:ext>
            </a:extLst>
          </p:cNvPr>
          <p:cNvSpPr/>
          <p:nvPr/>
        </p:nvSpPr>
        <p:spPr>
          <a:xfrm>
            <a:off x="6471621"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Santander</a:t>
            </a:r>
            <a:endParaRPr lang="en-US" sz="1400" dirty="0">
              <a:solidFill>
                <a:schemeClr val="tx1"/>
              </a:solidFill>
              <a:latin typeface="+mj-lt"/>
            </a:endParaRPr>
          </a:p>
        </p:txBody>
      </p:sp>
      <p:sp>
        <p:nvSpPr>
          <p:cNvPr id="177" name="Retângulo 176">
            <a:extLst>
              <a:ext uri="{FF2B5EF4-FFF2-40B4-BE49-F238E27FC236}">
                <a16:creationId xmlns:a16="http://schemas.microsoft.com/office/drawing/2014/main" id="{E74A4F4F-AD20-B23C-756D-3084038D632B}"/>
              </a:ext>
            </a:extLst>
          </p:cNvPr>
          <p:cNvSpPr/>
          <p:nvPr/>
        </p:nvSpPr>
        <p:spPr>
          <a:xfrm>
            <a:off x="7372029" y="1029381"/>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+25</a:t>
            </a:r>
            <a:endParaRPr lang="en-US" sz="1400" dirty="0">
              <a:solidFill>
                <a:schemeClr val="tx1"/>
              </a:solidFill>
              <a:latin typeface="+mj-lt"/>
            </a:endParaRPr>
          </a:p>
        </p:txBody>
      </p:sp>
      <p:cxnSp>
        <p:nvCxnSpPr>
          <p:cNvPr id="179" name="Conector de Seta Reta 178">
            <a:extLst>
              <a:ext uri="{FF2B5EF4-FFF2-40B4-BE49-F238E27FC236}">
                <a16:creationId xmlns:a16="http://schemas.microsoft.com/office/drawing/2014/main" id="{D8C5D704-3B44-6BAC-952B-A3EFD3865293}"/>
              </a:ext>
            </a:extLst>
          </p:cNvPr>
          <p:cNvCxnSpPr>
            <a:cxnSpLocks/>
            <a:stCxn id="162" idx="2"/>
            <a:endCxn id="20" idx="1"/>
          </p:cNvCxnSpPr>
          <p:nvPr/>
        </p:nvCxnSpPr>
        <p:spPr>
          <a:xfrm>
            <a:off x="6580871" y="1800754"/>
            <a:ext cx="0" cy="176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2" name="Conector de Seta Reta 181">
            <a:extLst>
              <a:ext uri="{FF2B5EF4-FFF2-40B4-BE49-F238E27FC236}">
                <a16:creationId xmlns:a16="http://schemas.microsoft.com/office/drawing/2014/main" id="{5BBDF300-A320-572E-D03A-0A9091CC5A4A}"/>
              </a:ext>
            </a:extLst>
          </p:cNvPr>
          <p:cNvCxnSpPr>
            <a:cxnSpLocks/>
            <a:stCxn id="164" idx="2"/>
            <a:endCxn id="162" idx="0"/>
          </p:cNvCxnSpPr>
          <p:nvPr/>
        </p:nvCxnSpPr>
        <p:spPr>
          <a:xfrm>
            <a:off x="5083024" y="1312569"/>
            <a:ext cx="1497847"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7" name="Conector de Seta Reta 186">
            <a:extLst>
              <a:ext uri="{FF2B5EF4-FFF2-40B4-BE49-F238E27FC236}">
                <a16:creationId xmlns:a16="http://schemas.microsoft.com/office/drawing/2014/main" id="{B99FE153-E6F6-F0EC-12F8-ACC751BF02B7}"/>
              </a:ext>
            </a:extLst>
          </p:cNvPr>
          <p:cNvCxnSpPr>
            <a:cxnSpLocks/>
            <a:stCxn id="175" idx="2"/>
          </p:cNvCxnSpPr>
          <p:nvPr/>
        </p:nvCxnSpPr>
        <p:spPr>
          <a:xfrm>
            <a:off x="5983432" y="1312569"/>
            <a:ext cx="646284" cy="290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ector de Seta Reta 189">
            <a:extLst>
              <a:ext uri="{FF2B5EF4-FFF2-40B4-BE49-F238E27FC236}">
                <a16:creationId xmlns:a16="http://schemas.microsoft.com/office/drawing/2014/main" id="{25C6DB9E-DC78-234F-4627-CF4FA81720EA}"/>
              </a:ext>
            </a:extLst>
          </p:cNvPr>
          <p:cNvCxnSpPr>
            <a:cxnSpLocks/>
            <a:stCxn id="176" idx="2"/>
            <a:endCxn id="162" idx="0"/>
          </p:cNvCxnSpPr>
          <p:nvPr/>
        </p:nvCxnSpPr>
        <p:spPr>
          <a:xfrm flipH="1">
            <a:off x="6580871" y="1312569"/>
            <a:ext cx="302969"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Conector de Seta Reta 192">
            <a:extLst>
              <a:ext uri="{FF2B5EF4-FFF2-40B4-BE49-F238E27FC236}">
                <a16:creationId xmlns:a16="http://schemas.microsoft.com/office/drawing/2014/main" id="{B82DB82D-A54B-0DE4-E55B-D7F5250C695B}"/>
              </a:ext>
            </a:extLst>
          </p:cNvPr>
          <p:cNvCxnSpPr>
            <a:cxnSpLocks/>
            <a:stCxn id="177" idx="2"/>
            <a:endCxn id="162" idx="0"/>
          </p:cNvCxnSpPr>
          <p:nvPr/>
        </p:nvCxnSpPr>
        <p:spPr>
          <a:xfrm flipH="1">
            <a:off x="6580871" y="1312569"/>
            <a:ext cx="1203377" cy="219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Conector: Angulado 205">
            <a:extLst>
              <a:ext uri="{FF2B5EF4-FFF2-40B4-BE49-F238E27FC236}">
                <a16:creationId xmlns:a16="http://schemas.microsoft.com/office/drawing/2014/main" id="{ECC908BE-88E8-5873-012B-4203AA52F299}"/>
              </a:ext>
            </a:extLst>
          </p:cNvPr>
          <p:cNvCxnSpPr>
            <a:cxnSpLocks/>
            <a:stCxn id="47" idx="2"/>
          </p:cNvCxnSpPr>
          <p:nvPr/>
        </p:nvCxnSpPr>
        <p:spPr>
          <a:xfrm rot="5400000">
            <a:off x="7016376" y="2807721"/>
            <a:ext cx="262762" cy="12617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Retângulo 217">
            <a:extLst>
              <a:ext uri="{FF2B5EF4-FFF2-40B4-BE49-F238E27FC236}">
                <a16:creationId xmlns:a16="http://schemas.microsoft.com/office/drawing/2014/main" id="{01868D6F-5535-D46F-85D0-766D29C0CAEA}"/>
              </a:ext>
            </a:extLst>
          </p:cNvPr>
          <p:cNvSpPr/>
          <p:nvPr/>
        </p:nvSpPr>
        <p:spPr>
          <a:xfrm>
            <a:off x="8778943" y="2776336"/>
            <a:ext cx="1841282" cy="904416"/>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pt-BR" sz="1200" dirty="0">
                <a:solidFill>
                  <a:schemeClr val="tx1"/>
                </a:solidFill>
                <a:latin typeface="+mj-lt"/>
                <a:hlinkClick r:id="rId3"/>
              </a:rPr>
              <a:t>Real risk-free curve (IPCA)</a:t>
            </a:r>
            <a:endParaRPr lang="en-US" sz="1200" dirty="0">
              <a:solidFill>
                <a:schemeClr val="tx1"/>
              </a:solidFill>
              <a:latin typeface="+mj-lt"/>
            </a:endParaRPr>
          </a:p>
        </p:txBody>
      </p:sp>
      <p:cxnSp>
        <p:nvCxnSpPr>
          <p:cNvPr id="219" name="Conector de Seta Reta 218">
            <a:extLst>
              <a:ext uri="{FF2B5EF4-FFF2-40B4-BE49-F238E27FC236}">
                <a16:creationId xmlns:a16="http://schemas.microsoft.com/office/drawing/2014/main" id="{EA891E42-AA0B-0F14-275C-4F6881EFF57E}"/>
              </a:ext>
            </a:extLst>
          </p:cNvPr>
          <p:cNvCxnSpPr>
            <a:cxnSpLocks/>
            <a:stCxn id="21" idx="3"/>
            <a:endCxn id="47" idx="1"/>
          </p:cNvCxnSpPr>
          <p:nvPr/>
        </p:nvCxnSpPr>
        <p:spPr>
          <a:xfrm flipV="1">
            <a:off x="6695993" y="3040919"/>
            <a:ext cx="243208" cy="9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6" name="Cilindro 225">
            <a:extLst>
              <a:ext uri="{FF2B5EF4-FFF2-40B4-BE49-F238E27FC236}">
                <a16:creationId xmlns:a16="http://schemas.microsoft.com/office/drawing/2014/main" id="{76BAE368-12EA-028F-1D07-77A70966763F}"/>
              </a:ext>
            </a:extLst>
          </p:cNvPr>
          <p:cNvSpPr/>
          <p:nvPr/>
        </p:nvSpPr>
        <p:spPr>
          <a:xfrm>
            <a:off x="9002606" y="1976637"/>
            <a:ext cx="2318398" cy="484280"/>
          </a:xfrm>
          <a:prstGeom prst="can">
            <a:avLst/>
          </a:prstGeom>
          <a:solidFill>
            <a:schemeClr val="accent5">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Future IPCA Contracts Database</a:t>
            </a:r>
            <a:endParaRPr lang="en-US" sz="1400" dirty="0">
              <a:solidFill>
                <a:schemeClr val="tx1"/>
              </a:solidFill>
              <a:latin typeface="+mj-lt"/>
            </a:endParaRPr>
          </a:p>
        </p:txBody>
      </p:sp>
      <p:sp>
        <p:nvSpPr>
          <p:cNvPr id="237" name="Retângulo 236">
            <a:extLst>
              <a:ext uri="{FF2B5EF4-FFF2-40B4-BE49-F238E27FC236}">
                <a16:creationId xmlns:a16="http://schemas.microsoft.com/office/drawing/2014/main" id="{A366D939-C444-0C57-7F59-354B2BC6AFB3}"/>
              </a:ext>
            </a:extLst>
          </p:cNvPr>
          <p:cNvSpPr/>
          <p:nvPr/>
        </p:nvSpPr>
        <p:spPr>
          <a:xfrm>
            <a:off x="10823191" y="3063902"/>
            <a:ext cx="1019686" cy="324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Python</a:t>
            </a:r>
            <a:endParaRPr lang="en-US" sz="1400" dirty="0">
              <a:solidFill>
                <a:schemeClr val="tx1"/>
              </a:solidFill>
              <a:latin typeface="+mj-lt"/>
            </a:endParaRPr>
          </a:p>
        </p:txBody>
      </p:sp>
      <p:sp>
        <p:nvSpPr>
          <p:cNvPr id="238" name="Retângulo 237">
            <a:extLst>
              <a:ext uri="{FF2B5EF4-FFF2-40B4-BE49-F238E27FC236}">
                <a16:creationId xmlns:a16="http://schemas.microsoft.com/office/drawing/2014/main" id="{93866ABE-CEEB-99D9-D522-88B1FDDC20BD}"/>
              </a:ext>
            </a:extLst>
          </p:cNvPr>
          <p:cNvSpPr/>
          <p:nvPr/>
        </p:nvSpPr>
        <p:spPr>
          <a:xfrm>
            <a:off x="9619073" y="909347"/>
            <a:ext cx="2091698" cy="957567"/>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t"/>
          <a:lstStyle/>
          <a:p>
            <a:r>
              <a:rPr lang="pt-BR" sz="1400" dirty="0">
                <a:solidFill>
                  <a:schemeClr val="tx1"/>
                </a:solidFill>
                <a:latin typeface="+mj-lt"/>
              </a:rPr>
              <a:t>Exchange</a:t>
            </a:r>
          </a:p>
          <a:p>
            <a:r>
              <a:rPr lang="pt-BR" sz="1400" dirty="0">
                <a:solidFill>
                  <a:schemeClr val="tx1"/>
                </a:solidFill>
                <a:latin typeface="+mj-lt"/>
              </a:rPr>
              <a:t>B3</a:t>
            </a:r>
            <a:endParaRPr lang="en-US" sz="1400" dirty="0">
              <a:solidFill>
                <a:schemeClr val="tx1"/>
              </a:solidFill>
              <a:latin typeface="+mj-lt"/>
            </a:endParaRPr>
          </a:p>
        </p:txBody>
      </p:sp>
      <p:sp>
        <p:nvSpPr>
          <p:cNvPr id="239" name="Retângulo 238">
            <a:extLst>
              <a:ext uri="{FF2B5EF4-FFF2-40B4-BE49-F238E27FC236}">
                <a16:creationId xmlns:a16="http://schemas.microsoft.com/office/drawing/2014/main" id="{29CC3145-A279-AD3B-FC84-84CBEDB608D4}"/>
              </a:ext>
            </a:extLst>
          </p:cNvPr>
          <p:cNvSpPr/>
          <p:nvPr/>
        </p:nvSpPr>
        <p:spPr>
          <a:xfrm>
            <a:off x="9866365" y="1473926"/>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Term</a:t>
            </a:r>
            <a:endParaRPr lang="en-US" sz="1400" dirty="0">
              <a:solidFill>
                <a:schemeClr val="tx1"/>
              </a:solidFill>
              <a:latin typeface="+mj-lt"/>
            </a:endParaRPr>
          </a:p>
        </p:txBody>
      </p:sp>
      <p:sp>
        <p:nvSpPr>
          <p:cNvPr id="240" name="Retângulo 239">
            <a:extLst>
              <a:ext uri="{FF2B5EF4-FFF2-40B4-BE49-F238E27FC236}">
                <a16:creationId xmlns:a16="http://schemas.microsoft.com/office/drawing/2014/main" id="{6348657B-E467-F987-FC8A-585C7E33BF64}"/>
              </a:ext>
            </a:extLst>
          </p:cNvPr>
          <p:cNvSpPr/>
          <p:nvPr/>
        </p:nvSpPr>
        <p:spPr>
          <a:xfrm>
            <a:off x="10779059" y="1473926"/>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+25</a:t>
            </a:r>
            <a:endParaRPr lang="en-US" sz="1400" dirty="0">
              <a:solidFill>
                <a:schemeClr val="tx1"/>
              </a:solidFill>
              <a:latin typeface="+mj-lt"/>
            </a:endParaRPr>
          </a:p>
        </p:txBody>
      </p:sp>
      <p:sp>
        <p:nvSpPr>
          <p:cNvPr id="241" name="Retângulo 240">
            <a:extLst>
              <a:ext uri="{FF2B5EF4-FFF2-40B4-BE49-F238E27FC236}">
                <a16:creationId xmlns:a16="http://schemas.microsoft.com/office/drawing/2014/main" id="{9C084F6B-D3EF-6479-4179-DDE5C9649F78}"/>
              </a:ext>
            </a:extLst>
          </p:cNvPr>
          <p:cNvSpPr/>
          <p:nvPr/>
        </p:nvSpPr>
        <p:spPr>
          <a:xfrm>
            <a:off x="9866365" y="1144692"/>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Price</a:t>
            </a:r>
            <a:endParaRPr lang="en-US" sz="1400" dirty="0">
              <a:solidFill>
                <a:schemeClr val="tx1"/>
              </a:solidFill>
              <a:latin typeface="+mj-lt"/>
            </a:endParaRPr>
          </a:p>
        </p:txBody>
      </p:sp>
      <p:sp>
        <p:nvSpPr>
          <p:cNvPr id="242" name="Retângulo 241">
            <a:extLst>
              <a:ext uri="{FF2B5EF4-FFF2-40B4-BE49-F238E27FC236}">
                <a16:creationId xmlns:a16="http://schemas.microsoft.com/office/drawing/2014/main" id="{598D1B57-BD7B-F6D0-127B-36E4A476BB8F}"/>
              </a:ext>
            </a:extLst>
          </p:cNvPr>
          <p:cNvSpPr/>
          <p:nvPr/>
        </p:nvSpPr>
        <p:spPr>
          <a:xfrm>
            <a:off x="10779059" y="1144692"/>
            <a:ext cx="824438" cy="283188"/>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400" dirty="0">
                <a:solidFill>
                  <a:schemeClr val="tx1"/>
                </a:solidFill>
                <a:latin typeface="+mj-lt"/>
              </a:rPr>
              <a:t>Volume</a:t>
            </a:r>
            <a:endParaRPr lang="en-US" sz="1400" dirty="0">
              <a:solidFill>
                <a:schemeClr val="tx1"/>
              </a:solidFill>
              <a:latin typeface="+mj-lt"/>
            </a:endParaRPr>
          </a:p>
        </p:txBody>
      </p:sp>
      <p:cxnSp>
        <p:nvCxnSpPr>
          <p:cNvPr id="248" name="Conector de Seta Reta 247">
            <a:extLst>
              <a:ext uri="{FF2B5EF4-FFF2-40B4-BE49-F238E27FC236}">
                <a16:creationId xmlns:a16="http://schemas.microsoft.com/office/drawing/2014/main" id="{BA0809C1-6350-CEA4-12CB-035B8E9DEF05}"/>
              </a:ext>
            </a:extLst>
          </p:cNvPr>
          <p:cNvCxnSpPr>
            <a:cxnSpLocks/>
            <a:stCxn id="238" idx="2"/>
            <a:endCxn id="226" idx="1"/>
          </p:cNvCxnSpPr>
          <p:nvPr/>
        </p:nvCxnSpPr>
        <p:spPr>
          <a:xfrm flipH="1">
            <a:off x="10161805" y="1866914"/>
            <a:ext cx="503117" cy="109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6" name="Conector de Seta Reta 255">
            <a:extLst>
              <a:ext uri="{FF2B5EF4-FFF2-40B4-BE49-F238E27FC236}">
                <a16:creationId xmlns:a16="http://schemas.microsoft.com/office/drawing/2014/main" id="{40228066-2D4C-1AEC-7AEE-C1A4380DCB18}"/>
              </a:ext>
            </a:extLst>
          </p:cNvPr>
          <p:cNvCxnSpPr>
            <a:cxnSpLocks/>
            <a:stCxn id="226" idx="3"/>
            <a:endCxn id="237" idx="0"/>
          </p:cNvCxnSpPr>
          <p:nvPr/>
        </p:nvCxnSpPr>
        <p:spPr>
          <a:xfrm>
            <a:off x="10161805" y="2460917"/>
            <a:ext cx="1171229" cy="602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0" name="Conector de Seta Reta 259">
            <a:extLst>
              <a:ext uri="{FF2B5EF4-FFF2-40B4-BE49-F238E27FC236}">
                <a16:creationId xmlns:a16="http://schemas.microsoft.com/office/drawing/2014/main" id="{1D68AF4A-30F6-657A-A2C7-54C6D87B796E}"/>
              </a:ext>
            </a:extLst>
          </p:cNvPr>
          <p:cNvCxnSpPr>
            <a:cxnSpLocks/>
            <a:stCxn id="237" idx="1"/>
            <a:endCxn id="218" idx="3"/>
          </p:cNvCxnSpPr>
          <p:nvPr/>
        </p:nvCxnSpPr>
        <p:spPr>
          <a:xfrm flipH="1">
            <a:off x="10620225" y="3225902"/>
            <a:ext cx="202966" cy="2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5" name="Conector: Angulado 264">
            <a:extLst>
              <a:ext uri="{FF2B5EF4-FFF2-40B4-BE49-F238E27FC236}">
                <a16:creationId xmlns:a16="http://schemas.microsoft.com/office/drawing/2014/main" id="{FF18A835-8174-3E8D-1459-B149B114D0A6}"/>
              </a:ext>
            </a:extLst>
          </p:cNvPr>
          <p:cNvCxnSpPr>
            <a:cxnSpLocks/>
            <a:stCxn id="218" idx="1"/>
          </p:cNvCxnSpPr>
          <p:nvPr/>
        </p:nvCxnSpPr>
        <p:spPr>
          <a:xfrm rot="10800000" flipV="1">
            <a:off x="6489899" y="3228544"/>
            <a:ext cx="2289044" cy="428066"/>
          </a:xfrm>
          <a:prstGeom prst="bentConnector3">
            <a:avLst>
              <a:gd name="adj1" fmla="val 406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descr="A table with numbers and text&#10;&#10;AI-generated content may be incorrect.">
            <a:extLst>
              <a:ext uri="{FF2B5EF4-FFF2-40B4-BE49-F238E27FC236}">
                <a16:creationId xmlns:a16="http://schemas.microsoft.com/office/drawing/2014/main" id="{207A8D84-F60E-3E4B-5AF6-5AD56C8792CB}"/>
              </a:ext>
            </a:extLst>
          </p:cNvPr>
          <p:cNvPicPr>
            <a:picLocks noChangeAspect="1"/>
          </p:cNvPicPr>
          <p:nvPr/>
        </p:nvPicPr>
        <p:blipFill>
          <a:blip r:embed="rId4"/>
          <a:stretch>
            <a:fillRect/>
          </a:stretch>
        </p:blipFill>
        <p:spPr>
          <a:xfrm>
            <a:off x="6105144" y="5746178"/>
            <a:ext cx="2170981" cy="951433"/>
          </a:xfrm>
          <a:prstGeom prst="rect">
            <a:avLst/>
          </a:prstGeom>
          <a:ln>
            <a:solidFill>
              <a:schemeClr val="tx1"/>
            </a:solidFill>
          </a:ln>
        </p:spPr>
      </p:pic>
      <p:pic>
        <p:nvPicPr>
          <p:cNvPr id="10" name="Google Shape;176;p26">
            <a:extLst>
              <a:ext uri="{FF2B5EF4-FFF2-40B4-BE49-F238E27FC236}">
                <a16:creationId xmlns:a16="http://schemas.microsoft.com/office/drawing/2014/main" id="{27B752C0-5F43-9186-A30C-748CB091B230}"/>
              </a:ext>
            </a:extLst>
          </p:cNvPr>
          <p:cNvPicPr preferRelativeResize="0"/>
          <p:nvPr/>
        </p:nvPicPr>
        <p:blipFill>
          <a:blip r:embed="rId5">
            <a:alphaModFix/>
          </a:blip>
          <a:stretch>
            <a:fillRect/>
          </a:stretch>
        </p:blipFill>
        <p:spPr>
          <a:xfrm>
            <a:off x="8829917" y="3023664"/>
            <a:ext cx="1718761" cy="617139"/>
          </a:xfrm>
          <a:prstGeom prst="rect">
            <a:avLst/>
          </a:prstGeom>
          <a:noFill/>
          <a:ln>
            <a:noFill/>
          </a:ln>
        </p:spPr>
      </p:pic>
      <p:sp>
        <p:nvSpPr>
          <p:cNvPr id="11" name="TextBox 6">
            <a:extLst>
              <a:ext uri="{FF2B5EF4-FFF2-40B4-BE49-F238E27FC236}">
                <a16:creationId xmlns:a16="http://schemas.microsoft.com/office/drawing/2014/main" id="{558783E5-4182-81F3-BBB0-A4AF49756531}"/>
              </a:ext>
            </a:extLst>
          </p:cNvPr>
          <p:cNvSpPr txBox="1"/>
          <p:nvPr/>
        </p:nvSpPr>
        <p:spPr>
          <a:xfrm>
            <a:off x="179399" y="56951"/>
            <a:ext cx="11757201"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Research Method (Empirical Strategy &amp; Data Construction)</a:t>
            </a:r>
          </a:p>
        </p:txBody>
      </p:sp>
      <p:sp>
        <p:nvSpPr>
          <p:cNvPr id="3" name="Retângulo 176">
            <a:extLst>
              <a:ext uri="{FF2B5EF4-FFF2-40B4-BE49-F238E27FC236}">
                <a16:creationId xmlns:a16="http://schemas.microsoft.com/office/drawing/2014/main" id="{D59A54A9-FA5F-BCD2-5D04-940C0A73BF34}"/>
              </a:ext>
            </a:extLst>
          </p:cNvPr>
          <p:cNvSpPr/>
          <p:nvPr/>
        </p:nvSpPr>
        <p:spPr>
          <a:xfrm>
            <a:off x="74423" y="6754424"/>
            <a:ext cx="3019644" cy="972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FF0000"/>
                </a:solidFill>
                <a:latin typeface="+mj-lt"/>
              </a:rPr>
              <a:t>*</a:t>
            </a:r>
            <a:r>
              <a:rPr lang="pt-BR" sz="900" dirty="0">
                <a:solidFill>
                  <a:schemeClr val="tx1"/>
                </a:solidFill>
                <a:latin typeface="+mj-lt"/>
              </a:rPr>
              <a:t>for further details, see the next slide “Screening Stage” </a:t>
            </a:r>
            <a:endParaRPr lang="en-US" sz="900" dirty="0">
              <a:solidFill>
                <a:schemeClr val="tx1"/>
              </a:solidFill>
              <a:latin typeface="+mj-lt"/>
            </a:endParaRPr>
          </a:p>
        </p:txBody>
      </p:sp>
    </p:spTree>
    <p:extLst>
      <p:ext uri="{BB962C8B-B14F-4D97-AF65-F5344CB8AC3E}">
        <p14:creationId xmlns:p14="http://schemas.microsoft.com/office/powerpoint/2010/main" val="376200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Retângulo 3">
            <a:extLst>
              <a:ext uri="{FF2B5EF4-FFF2-40B4-BE49-F238E27FC236}">
                <a16:creationId xmlns:a16="http://schemas.microsoft.com/office/drawing/2014/main" id="{27432DEC-B472-DC13-B0CF-2D07D65216E8}"/>
              </a:ext>
            </a:extLst>
          </p:cNvPr>
          <p:cNvSpPr/>
          <p:nvPr/>
        </p:nvSpPr>
        <p:spPr>
          <a:xfrm>
            <a:off x="2007752" y="551573"/>
            <a:ext cx="7615654" cy="6187962"/>
          </a:xfrm>
          <a:prstGeom prst="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Cantos Arredondados 5">
            <a:extLst>
              <a:ext uri="{FF2B5EF4-FFF2-40B4-BE49-F238E27FC236}">
                <a16:creationId xmlns:a16="http://schemas.microsoft.com/office/drawing/2014/main" id="{C4FCE073-9F0C-4055-8A9B-69A064925E20}"/>
              </a:ext>
            </a:extLst>
          </p:cNvPr>
          <p:cNvSpPr/>
          <p:nvPr/>
        </p:nvSpPr>
        <p:spPr>
          <a:xfrm>
            <a:off x="838344" y="97013"/>
            <a:ext cx="1023402" cy="51726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Anbima</a:t>
            </a:r>
            <a:r>
              <a:rPr lang="en-US" sz="900" dirty="0">
                <a:solidFill>
                  <a:schemeClr val="tx1"/>
                </a:solidFill>
              </a:rPr>
              <a:t> Systematic Bond  </a:t>
            </a:r>
          </a:p>
          <a:p>
            <a:pPr algn="ctr"/>
            <a:r>
              <a:rPr lang="en-US" sz="900" dirty="0">
                <a:solidFill>
                  <a:schemeClr val="tx1"/>
                </a:solidFill>
              </a:rPr>
              <a:t>Screening</a:t>
            </a:r>
          </a:p>
        </p:txBody>
      </p:sp>
      <p:sp>
        <p:nvSpPr>
          <p:cNvPr id="8" name="Retângulo: Cantos Arredondados 7">
            <a:extLst>
              <a:ext uri="{FF2B5EF4-FFF2-40B4-BE49-F238E27FC236}">
                <a16:creationId xmlns:a16="http://schemas.microsoft.com/office/drawing/2014/main" id="{1EE4B86F-30F3-4BAF-A0E1-8788BECDC2E4}"/>
              </a:ext>
            </a:extLst>
          </p:cNvPr>
          <p:cNvSpPr/>
          <p:nvPr/>
        </p:nvSpPr>
        <p:spPr>
          <a:xfrm>
            <a:off x="935534" y="795338"/>
            <a:ext cx="829931" cy="49244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Initial Bond Sample Extraction</a:t>
            </a:r>
          </a:p>
        </p:txBody>
      </p:sp>
      <p:sp>
        <p:nvSpPr>
          <p:cNvPr id="14" name="Retângulo: Cantos Arredondados 13">
            <a:extLst>
              <a:ext uri="{FF2B5EF4-FFF2-40B4-BE49-F238E27FC236}">
                <a16:creationId xmlns:a16="http://schemas.microsoft.com/office/drawing/2014/main" id="{E7C55C53-12C0-4BD9-80A8-90FC34F3DDE2}"/>
              </a:ext>
            </a:extLst>
          </p:cNvPr>
          <p:cNvSpPr/>
          <p:nvPr/>
        </p:nvSpPr>
        <p:spPr>
          <a:xfrm>
            <a:off x="788051" y="1499410"/>
            <a:ext cx="1154394" cy="56787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Inclusion, Exclusion </a:t>
            </a:r>
            <a:br>
              <a:rPr lang="en-US" sz="900" dirty="0">
                <a:solidFill>
                  <a:schemeClr val="tx1"/>
                </a:solidFill>
              </a:rPr>
            </a:br>
            <a:r>
              <a:rPr lang="en-US" sz="900" dirty="0">
                <a:solidFill>
                  <a:schemeClr val="tx1"/>
                </a:solidFill>
              </a:rPr>
              <a:t>and Quality Criteria Definition</a:t>
            </a:r>
          </a:p>
        </p:txBody>
      </p:sp>
      <p:sp>
        <p:nvSpPr>
          <p:cNvPr id="16" name="Retângulo: Cantos Arredondados 15">
            <a:extLst>
              <a:ext uri="{FF2B5EF4-FFF2-40B4-BE49-F238E27FC236}">
                <a16:creationId xmlns:a16="http://schemas.microsoft.com/office/drawing/2014/main" id="{35F4035C-05E3-4184-9E55-1D5598C3B154}"/>
              </a:ext>
            </a:extLst>
          </p:cNvPr>
          <p:cNvSpPr/>
          <p:nvPr/>
        </p:nvSpPr>
        <p:spPr>
          <a:xfrm>
            <a:off x="2858847" y="2624856"/>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17" name="Fluxograma: Decisão 16">
            <a:extLst>
              <a:ext uri="{FF2B5EF4-FFF2-40B4-BE49-F238E27FC236}">
                <a16:creationId xmlns:a16="http://schemas.microsoft.com/office/drawing/2014/main" id="{D667945F-898A-4379-B1E6-CCFDDEFAFFBB}"/>
              </a:ext>
            </a:extLst>
          </p:cNvPr>
          <p:cNvSpPr/>
          <p:nvPr/>
        </p:nvSpPr>
        <p:spPr>
          <a:xfrm>
            <a:off x="2879462" y="1183725"/>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8" name="CaixaDeTexto 17">
            <a:extLst>
              <a:ext uri="{FF2B5EF4-FFF2-40B4-BE49-F238E27FC236}">
                <a16:creationId xmlns:a16="http://schemas.microsoft.com/office/drawing/2014/main" id="{09F902D6-F939-4329-BFDE-2369DFBE6C69}"/>
              </a:ext>
            </a:extLst>
          </p:cNvPr>
          <p:cNvSpPr txBox="1"/>
          <p:nvPr/>
        </p:nvSpPr>
        <p:spPr>
          <a:xfrm>
            <a:off x="2882672" y="1628247"/>
            <a:ext cx="1178983" cy="307777"/>
          </a:xfrm>
          <a:prstGeom prst="rect">
            <a:avLst/>
          </a:prstGeom>
          <a:noFill/>
        </p:spPr>
        <p:txBody>
          <a:bodyPr wrap="square" rtlCol="0">
            <a:spAutoFit/>
          </a:bodyPr>
          <a:lstStyle/>
          <a:p>
            <a:pPr algn="ctr"/>
            <a:r>
              <a:rPr lang="en-US" sz="700" dirty="0"/>
              <a:t>Is it a fixed type </a:t>
            </a:r>
          </a:p>
          <a:p>
            <a:pPr algn="ctr"/>
            <a:r>
              <a:rPr lang="en-US" sz="700" dirty="0"/>
              <a:t>coupon?</a:t>
            </a:r>
            <a:endParaRPr lang="pt-BR" sz="700" dirty="0"/>
          </a:p>
        </p:txBody>
      </p:sp>
      <p:sp>
        <p:nvSpPr>
          <p:cNvPr id="24" name="Fluxograma: Vários Documentos 23">
            <a:extLst>
              <a:ext uri="{FF2B5EF4-FFF2-40B4-BE49-F238E27FC236}">
                <a16:creationId xmlns:a16="http://schemas.microsoft.com/office/drawing/2014/main" id="{5089DEE2-9F83-4B93-BFCA-ACAF3A81BAD5}"/>
              </a:ext>
            </a:extLst>
          </p:cNvPr>
          <p:cNvSpPr/>
          <p:nvPr/>
        </p:nvSpPr>
        <p:spPr>
          <a:xfrm>
            <a:off x="97315" y="689014"/>
            <a:ext cx="772912" cy="639760"/>
          </a:xfrm>
          <a:prstGeom prst="flowChartMulti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6926 bonds</a:t>
            </a:r>
          </a:p>
        </p:txBody>
      </p:sp>
      <p:cxnSp>
        <p:nvCxnSpPr>
          <p:cNvPr id="25" name="Conector de Seta Reta 24">
            <a:extLst>
              <a:ext uri="{FF2B5EF4-FFF2-40B4-BE49-F238E27FC236}">
                <a16:creationId xmlns:a16="http://schemas.microsoft.com/office/drawing/2014/main" id="{8FD8DA81-241A-493D-A45C-099BD4195D40}"/>
              </a:ext>
            </a:extLst>
          </p:cNvPr>
          <p:cNvCxnSpPr>
            <a:cxnSpLocks/>
            <a:stCxn id="14" idx="3"/>
            <a:endCxn id="18" idx="1"/>
          </p:cNvCxnSpPr>
          <p:nvPr/>
        </p:nvCxnSpPr>
        <p:spPr>
          <a:xfrm flipV="1">
            <a:off x="1942445" y="1782136"/>
            <a:ext cx="940227" cy="1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0FAD9907-5A77-4771-9062-7F21FE5B5167}"/>
              </a:ext>
            </a:extLst>
          </p:cNvPr>
          <p:cNvSpPr txBox="1"/>
          <p:nvPr/>
        </p:nvSpPr>
        <p:spPr>
          <a:xfrm>
            <a:off x="3483974" y="1075128"/>
            <a:ext cx="1098058" cy="230832"/>
          </a:xfrm>
          <a:prstGeom prst="rect">
            <a:avLst/>
          </a:prstGeom>
          <a:noFill/>
        </p:spPr>
        <p:txBody>
          <a:bodyPr wrap="square" rtlCol="0">
            <a:spAutoFit/>
          </a:bodyPr>
          <a:lstStyle/>
          <a:p>
            <a:r>
              <a:rPr lang="pt-BR" sz="900" dirty="0"/>
              <a:t>No (5280 bonds)</a:t>
            </a:r>
          </a:p>
        </p:txBody>
      </p:sp>
      <p:cxnSp>
        <p:nvCxnSpPr>
          <p:cNvPr id="32" name="Conector de Seta Reta 31">
            <a:extLst>
              <a:ext uri="{FF2B5EF4-FFF2-40B4-BE49-F238E27FC236}">
                <a16:creationId xmlns:a16="http://schemas.microsoft.com/office/drawing/2014/main" id="{937A067C-FD56-47A0-9645-2FB0B1962D82}"/>
              </a:ext>
            </a:extLst>
          </p:cNvPr>
          <p:cNvCxnSpPr>
            <a:cxnSpLocks/>
            <a:stCxn id="17" idx="0"/>
          </p:cNvCxnSpPr>
          <p:nvPr/>
        </p:nvCxnSpPr>
        <p:spPr>
          <a:xfrm flipH="1" flipV="1">
            <a:off x="3439460" y="916910"/>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ixaDeTexto 32">
            <a:extLst>
              <a:ext uri="{FF2B5EF4-FFF2-40B4-BE49-F238E27FC236}">
                <a16:creationId xmlns:a16="http://schemas.microsoft.com/office/drawing/2014/main" id="{61282A84-F696-46D2-AE9B-487916AF7EAD}"/>
              </a:ext>
            </a:extLst>
          </p:cNvPr>
          <p:cNvSpPr txBox="1"/>
          <p:nvPr/>
        </p:nvSpPr>
        <p:spPr>
          <a:xfrm>
            <a:off x="3449293" y="2382828"/>
            <a:ext cx="1173209" cy="230832"/>
          </a:xfrm>
          <a:prstGeom prst="rect">
            <a:avLst/>
          </a:prstGeom>
          <a:noFill/>
        </p:spPr>
        <p:txBody>
          <a:bodyPr wrap="square" rtlCol="0">
            <a:spAutoFit/>
          </a:bodyPr>
          <a:lstStyle/>
          <a:p>
            <a:r>
              <a:rPr lang="pt-BR" sz="900" dirty="0"/>
              <a:t>Yes (</a:t>
            </a:r>
            <a:r>
              <a:rPr lang="en-US" sz="900" dirty="0"/>
              <a:t>1646 bonds) </a:t>
            </a:r>
            <a:endParaRPr lang="pt-BR" sz="900" dirty="0"/>
          </a:p>
        </p:txBody>
      </p:sp>
      <p:cxnSp>
        <p:nvCxnSpPr>
          <p:cNvPr id="34" name="Conector de Seta Reta 33">
            <a:extLst>
              <a:ext uri="{FF2B5EF4-FFF2-40B4-BE49-F238E27FC236}">
                <a16:creationId xmlns:a16="http://schemas.microsoft.com/office/drawing/2014/main" id="{035B6D02-2FAF-4A1D-892A-F07DD09F222B}"/>
              </a:ext>
            </a:extLst>
          </p:cNvPr>
          <p:cNvCxnSpPr>
            <a:cxnSpLocks/>
            <a:stCxn id="17" idx="2"/>
            <a:endCxn id="16" idx="0"/>
          </p:cNvCxnSpPr>
          <p:nvPr/>
        </p:nvCxnSpPr>
        <p:spPr>
          <a:xfrm>
            <a:off x="3439461" y="2362487"/>
            <a:ext cx="5991" cy="262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33">
            <a:extLst>
              <a:ext uri="{FF2B5EF4-FFF2-40B4-BE49-F238E27FC236}">
                <a16:creationId xmlns:a16="http://schemas.microsoft.com/office/drawing/2014/main" id="{CC0667A1-F900-7B4F-92C2-DAD8BDD13F1A}"/>
              </a:ext>
            </a:extLst>
          </p:cNvPr>
          <p:cNvCxnSpPr>
            <a:cxnSpLocks/>
            <a:stCxn id="6" idx="2"/>
            <a:endCxn id="8" idx="0"/>
          </p:cNvCxnSpPr>
          <p:nvPr/>
        </p:nvCxnSpPr>
        <p:spPr>
          <a:xfrm>
            <a:off x="1350045" y="614275"/>
            <a:ext cx="455" cy="1810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33">
            <a:extLst>
              <a:ext uri="{FF2B5EF4-FFF2-40B4-BE49-F238E27FC236}">
                <a16:creationId xmlns:a16="http://schemas.microsoft.com/office/drawing/2014/main" id="{8C0736E9-FD0E-1BC5-C940-9D9C11E7D32F}"/>
              </a:ext>
            </a:extLst>
          </p:cNvPr>
          <p:cNvCxnSpPr>
            <a:cxnSpLocks/>
          </p:cNvCxnSpPr>
          <p:nvPr/>
        </p:nvCxnSpPr>
        <p:spPr>
          <a:xfrm>
            <a:off x="1355417" y="1279469"/>
            <a:ext cx="0" cy="1893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Fluxograma: Decisão 16">
            <a:extLst>
              <a:ext uri="{FF2B5EF4-FFF2-40B4-BE49-F238E27FC236}">
                <a16:creationId xmlns:a16="http://schemas.microsoft.com/office/drawing/2014/main" id="{E71493DF-3B35-E14E-56FB-3ED7B1C6F0AA}"/>
              </a:ext>
            </a:extLst>
          </p:cNvPr>
          <p:cNvSpPr/>
          <p:nvPr/>
        </p:nvSpPr>
        <p:spPr>
          <a:xfrm>
            <a:off x="2874550" y="3304984"/>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97" name="CaixaDeTexto 17">
            <a:extLst>
              <a:ext uri="{FF2B5EF4-FFF2-40B4-BE49-F238E27FC236}">
                <a16:creationId xmlns:a16="http://schemas.microsoft.com/office/drawing/2014/main" id="{A0E9507F-BB6E-9234-E9BD-F23F663E097D}"/>
              </a:ext>
            </a:extLst>
          </p:cNvPr>
          <p:cNvSpPr txBox="1"/>
          <p:nvPr/>
        </p:nvSpPr>
        <p:spPr>
          <a:xfrm>
            <a:off x="2856494" y="3750307"/>
            <a:ext cx="1178983" cy="307777"/>
          </a:xfrm>
          <a:prstGeom prst="rect">
            <a:avLst/>
          </a:prstGeom>
          <a:noFill/>
        </p:spPr>
        <p:txBody>
          <a:bodyPr wrap="square" rtlCol="0">
            <a:spAutoFit/>
          </a:bodyPr>
          <a:lstStyle/>
          <a:p>
            <a:pPr algn="ctr"/>
            <a:r>
              <a:rPr lang="en-US" sz="700" dirty="0"/>
              <a:t>Is it an inflation linked bond (IPCA)?</a:t>
            </a:r>
            <a:endParaRPr lang="pt-BR" sz="700" dirty="0"/>
          </a:p>
        </p:txBody>
      </p:sp>
      <p:sp>
        <p:nvSpPr>
          <p:cNvPr id="101" name="CaixaDeTexto 32">
            <a:extLst>
              <a:ext uri="{FF2B5EF4-FFF2-40B4-BE49-F238E27FC236}">
                <a16:creationId xmlns:a16="http://schemas.microsoft.com/office/drawing/2014/main" id="{7F2CF2A4-EC9E-18E9-AB97-C2A665E320B0}"/>
              </a:ext>
            </a:extLst>
          </p:cNvPr>
          <p:cNvSpPr txBox="1"/>
          <p:nvPr/>
        </p:nvSpPr>
        <p:spPr>
          <a:xfrm>
            <a:off x="3424120" y="3244817"/>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1262 bonds) </a:t>
            </a:r>
            <a:endParaRPr lang="pt-BR" sz="900" dirty="0"/>
          </a:p>
        </p:txBody>
      </p:sp>
      <p:cxnSp>
        <p:nvCxnSpPr>
          <p:cNvPr id="103" name="Conector de Seta Reta 33">
            <a:extLst>
              <a:ext uri="{FF2B5EF4-FFF2-40B4-BE49-F238E27FC236}">
                <a16:creationId xmlns:a16="http://schemas.microsoft.com/office/drawing/2014/main" id="{61886A84-21EF-3585-62ED-181A3FE05316}"/>
              </a:ext>
            </a:extLst>
          </p:cNvPr>
          <p:cNvCxnSpPr>
            <a:cxnSpLocks/>
          </p:cNvCxnSpPr>
          <p:nvPr/>
        </p:nvCxnSpPr>
        <p:spPr>
          <a:xfrm>
            <a:off x="3434544" y="2980765"/>
            <a:ext cx="0" cy="272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24">
            <a:extLst>
              <a:ext uri="{FF2B5EF4-FFF2-40B4-BE49-F238E27FC236}">
                <a16:creationId xmlns:a16="http://schemas.microsoft.com/office/drawing/2014/main" id="{004F39FB-57CC-1B74-A3CA-3E7F94383074}"/>
              </a:ext>
            </a:extLst>
          </p:cNvPr>
          <p:cNvCxnSpPr>
            <a:cxnSpLocks/>
          </p:cNvCxnSpPr>
          <p:nvPr/>
        </p:nvCxnSpPr>
        <p:spPr>
          <a:xfrm>
            <a:off x="3984677" y="3891496"/>
            <a:ext cx="26153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Retângulo: Cantos Arredondados 18">
            <a:extLst>
              <a:ext uri="{FF2B5EF4-FFF2-40B4-BE49-F238E27FC236}">
                <a16:creationId xmlns:a16="http://schemas.microsoft.com/office/drawing/2014/main" id="{1690C293-F9C0-BAD1-FE0B-AD9FDC823656}"/>
              </a:ext>
            </a:extLst>
          </p:cNvPr>
          <p:cNvSpPr/>
          <p:nvPr/>
        </p:nvSpPr>
        <p:spPr>
          <a:xfrm>
            <a:off x="2060606" y="3750871"/>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11" name="CaixaDeTexto 32">
            <a:extLst>
              <a:ext uri="{FF2B5EF4-FFF2-40B4-BE49-F238E27FC236}">
                <a16:creationId xmlns:a16="http://schemas.microsoft.com/office/drawing/2014/main" id="{3A1AF1C5-FA49-923D-BBC4-58103F4100C8}"/>
              </a:ext>
            </a:extLst>
          </p:cNvPr>
          <p:cNvSpPr txBox="1"/>
          <p:nvPr/>
        </p:nvSpPr>
        <p:spPr>
          <a:xfrm>
            <a:off x="2267003" y="3249736"/>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384 bonds) </a:t>
            </a:r>
            <a:endParaRPr lang="pt-BR" sz="900" dirty="0"/>
          </a:p>
        </p:txBody>
      </p:sp>
      <p:sp>
        <p:nvSpPr>
          <p:cNvPr id="113" name="Fluxograma: Decisão 16">
            <a:extLst>
              <a:ext uri="{FF2B5EF4-FFF2-40B4-BE49-F238E27FC236}">
                <a16:creationId xmlns:a16="http://schemas.microsoft.com/office/drawing/2014/main" id="{80088846-EDCC-5245-6F11-4AAB5D728675}"/>
              </a:ext>
            </a:extLst>
          </p:cNvPr>
          <p:cNvSpPr/>
          <p:nvPr/>
        </p:nvSpPr>
        <p:spPr>
          <a:xfrm>
            <a:off x="4314976" y="4489772"/>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14" name="CaixaDeTexto 17">
            <a:extLst>
              <a:ext uri="{FF2B5EF4-FFF2-40B4-BE49-F238E27FC236}">
                <a16:creationId xmlns:a16="http://schemas.microsoft.com/office/drawing/2014/main" id="{273EBB48-8E32-64F3-B36B-0645E482B899}"/>
              </a:ext>
            </a:extLst>
          </p:cNvPr>
          <p:cNvSpPr txBox="1"/>
          <p:nvPr/>
        </p:nvSpPr>
        <p:spPr>
          <a:xfrm>
            <a:off x="4286287" y="4871298"/>
            <a:ext cx="1178983" cy="307777"/>
          </a:xfrm>
          <a:prstGeom prst="rect">
            <a:avLst/>
          </a:prstGeom>
          <a:noFill/>
        </p:spPr>
        <p:txBody>
          <a:bodyPr wrap="square" rtlCol="0">
            <a:spAutoFit/>
          </a:bodyPr>
          <a:lstStyle/>
          <a:p>
            <a:pPr algn="ctr"/>
            <a:r>
              <a:rPr lang="en-US" sz="700" dirty="0"/>
              <a:t>Is it a government backed security? </a:t>
            </a:r>
            <a:endParaRPr lang="pt-BR" sz="700" dirty="0"/>
          </a:p>
        </p:txBody>
      </p:sp>
      <p:sp>
        <p:nvSpPr>
          <p:cNvPr id="115" name="CaixaDeTexto 32">
            <a:extLst>
              <a:ext uri="{FF2B5EF4-FFF2-40B4-BE49-F238E27FC236}">
                <a16:creationId xmlns:a16="http://schemas.microsoft.com/office/drawing/2014/main" id="{B2750927-8C1B-E439-491F-9662B0BB709F}"/>
              </a:ext>
            </a:extLst>
          </p:cNvPr>
          <p:cNvSpPr txBox="1"/>
          <p:nvPr/>
        </p:nvSpPr>
        <p:spPr>
          <a:xfrm>
            <a:off x="4907078" y="4472137"/>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1220 bonds) </a:t>
            </a:r>
            <a:endParaRPr lang="pt-BR" sz="900" dirty="0"/>
          </a:p>
        </p:txBody>
      </p:sp>
      <p:cxnSp>
        <p:nvCxnSpPr>
          <p:cNvPr id="116" name="Conector de Seta Reta 24">
            <a:extLst>
              <a:ext uri="{FF2B5EF4-FFF2-40B4-BE49-F238E27FC236}">
                <a16:creationId xmlns:a16="http://schemas.microsoft.com/office/drawing/2014/main" id="{9D9B828A-60E2-6C86-F17E-A420EC8FBCD5}"/>
              </a:ext>
            </a:extLst>
          </p:cNvPr>
          <p:cNvCxnSpPr>
            <a:cxnSpLocks/>
          </p:cNvCxnSpPr>
          <p:nvPr/>
        </p:nvCxnSpPr>
        <p:spPr>
          <a:xfrm flipV="1">
            <a:off x="5422589" y="5069221"/>
            <a:ext cx="402706"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ector de Seta Reta 24">
            <a:extLst>
              <a:ext uri="{FF2B5EF4-FFF2-40B4-BE49-F238E27FC236}">
                <a16:creationId xmlns:a16="http://schemas.microsoft.com/office/drawing/2014/main" id="{23D8ED7B-F463-6118-4876-B42D129381AB}"/>
              </a:ext>
            </a:extLst>
          </p:cNvPr>
          <p:cNvCxnSpPr>
            <a:cxnSpLocks/>
          </p:cNvCxnSpPr>
          <p:nvPr/>
        </p:nvCxnSpPr>
        <p:spPr>
          <a:xfrm flipH="1">
            <a:off x="3938155" y="5072238"/>
            <a:ext cx="390102"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CaixaDeTexto 32">
            <a:extLst>
              <a:ext uri="{FF2B5EF4-FFF2-40B4-BE49-F238E27FC236}">
                <a16:creationId xmlns:a16="http://schemas.microsoft.com/office/drawing/2014/main" id="{0F49A321-CD90-037C-6CB7-BBDC2235C53E}"/>
              </a:ext>
            </a:extLst>
          </p:cNvPr>
          <p:cNvSpPr txBox="1"/>
          <p:nvPr/>
        </p:nvSpPr>
        <p:spPr>
          <a:xfrm>
            <a:off x="3643631" y="4477056"/>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42 bonds) </a:t>
            </a:r>
            <a:endParaRPr lang="pt-BR" sz="900" dirty="0"/>
          </a:p>
        </p:txBody>
      </p:sp>
      <p:cxnSp>
        <p:nvCxnSpPr>
          <p:cNvPr id="120" name="Conector de Seta Reta 33">
            <a:extLst>
              <a:ext uri="{FF2B5EF4-FFF2-40B4-BE49-F238E27FC236}">
                <a16:creationId xmlns:a16="http://schemas.microsoft.com/office/drawing/2014/main" id="{A7489F1F-B35C-D269-58E2-906757A78CA6}"/>
              </a:ext>
            </a:extLst>
          </p:cNvPr>
          <p:cNvCxnSpPr>
            <a:cxnSpLocks/>
            <a:stCxn id="199" idx="2"/>
          </p:cNvCxnSpPr>
          <p:nvPr/>
        </p:nvCxnSpPr>
        <p:spPr>
          <a:xfrm flipH="1">
            <a:off x="4884188" y="4069628"/>
            <a:ext cx="8609" cy="4080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Fluxograma: Decisão 16">
            <a:extLst>
              <a:ext uri="{FF2B5EF4-FFF2-40B4-BE49-F238E27FC236}">
                <a16:creationId xmlns:a16="http://schemas.microsoft.com/office/drawing/2014/main" id="{4F1D9F03-B67E-4F46-EA53-656BC8329CBF}"/>
              </a:ext>
            </a:extLst>
          </p:cNvPr>
          <p:cNvSpPr/>
          <p:nvPr/>
        </p:nvSpPr>
        <p:spPr>
          <a:xfrm>
            <a:off x="7960160" y="4982823"/>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25" name="CaixaDeTexto 17">
            <a:extLst>
              <a:ext uri="{FF2B5EF4-FFF2-40B4-BE49-F238E27FC236}">
                <a16:creationId xmlns:a16="http://schemas.microsoft.com/office/drawing/2014/main" id="{E0E3D962-95FE-5919-B810-4BFC6B9A3139}"/>
              </a:ext>
            </a:extLst>
          </p:cNvPr>
          <p:cNvSpPr txBox="1"/>
          <p:nvPr/>
        </p:nvSpPr>
        <p:spPr>
          <a:xfrm>
            <a:off x="7942104" y="5363548"/>
            <a:ext cx="1178983" cy="421048"/>
          </a:xfrm>
          <a:prstGeom prst="rect">
            <a:avLst/>
          </a:prstGeom>
          <a:noFill/>
        </p:spPr>
        <p:txBody>
          <a:bodyPr wrap="square" rtlCol="0">
            <a:spAutoFit/>
          </a:bodyPr>
          <a:lstStyle/>
          <a:p>
            <a:pPr algn="ctr"/>
            <a:r>
              <a:rPr lang="en-US" sz="700" dirty="0"/>
              <a:t>Financial statements (balance sheet) disclosed at CVM?</a:t>
            </a:r>
            <a:endParaRPr lang="pt-BR" sz="700" dirty="0"/>
          </a:p>
        </p:txBody>
      </p:sp>
      <p:sp>
        <p:nvSpPr>
          <p:cNvPr id="126" name="Retângulo: Cantos Arredondados 18">
            <a:extLst>
              <a:ext uri="{FF2B5EF4-FFF2-40B4-BE49-F238E27FC236}">
                <a16:creationId xmlns:a16="http://schemas.microsoft.com/office/drawing/2014/main" id="{694B6416-CA5E-9C6B-D10E-D4D89FC0B626}"/>
              </a:ext>
            </a:extLst>
          </p:cNvPr>
          <p:cNvSpPr/>
          <p:nvPr/>
        </p:nvSpPr>
        <p:spPr>
          <a:xfrm>
            <a:off x="7933554" y="4404600"/>
            <a:ext cx="1173208" cy="31140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127" name="CaixaDeTexto 30">
            <a:extLst>
              <a:ext uri="{FF2B5EF4-FFF2-40B4-BE49-F238E27FC236}">
                <a16:creationId xmlns:a16="http://schemas.microsoft.com/office/drawing/2014/main" id="{622AB065-8763-6483-57D3-D59A321FD1DC}"/>
              </a:ext>
            </a:extLst>
          </p:cNvPr>
          <p:cNvSpPr txBox="1"/>
          <p:nvPr/>
        </p:nvSpPr>
        <p:spPr>
          <a:xfrm>
            <a:off x="8564672" y="4842327"/>
            <a:ext cx="1098058" cy="230832"/>
          </a:xfrm>
          <a:prstGeom prst="rect">
            <a:avLst/>
          </a:prstGeom>
          <a:noFill/>
        </p:spPr>
        <p:txBody>
          <a:bodyPr wrap="square" rtlCol="0">
            <a:spAutoFit/>
          </a:bodyPr>
          <a:lstStyle/>
          <a:p>
            <a:r>
              <a:rPr lang="pt-BR" sz="900" dirty="0"/>
              <a:t>Yes (749 bonds)</a:t>
            </a:r>
          </a:p>
        </p:txBody>
      </p:sp>
      <p:cxnSp>
        <p:nvCxnSpPr>
          <p:cNvPr id="128" name="Conector de Seta Reta 31">
            <a:extLst>
              <a:ext uri="{FF2B5EF4-FFF2-40B4-BE49-F238E27FC236}">
                <a16:creationId xmlns:a16="http://schemas.microsoft.com/office/drawing/2014/main" id="{18C7831D-EE6A-3847-BBEA-8E59DBA9EA1A}"/>
              </a:ext>
            </a:extLst>
          </p:cNvPr>
          <p:cNvCxnSpPr>
            <a:cxnSpLocks/>
            <a:stCxn id="124" idx="0"/>
            <a:endCxn id="126" idx="2"/>
          </p:cNvCxnSpPr>
          <p:nvPr/>
        </p:nvCxnSpPr>
        <p:spPr>
          <a:xfrm flipH="1" flipV="1">
            <a:off x="8520158" y="4716008"/>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CaixaDeTexto 32">
            <a:extLst>
              <a:ext uri="{FF2B5EF4-FFF2-40B4-BE49-F238E27FC236}">
                <a16:creationId xmlns:a16="http://schemas.microsoft.com/office/drawing/2014/main" id="{D0083294-F5F2-9671-C727-CE35AE3B5B80}"/>
              </a:ext>
            </a:extLst>
          </p:cNvPr>
          <p:cNvSpPr txBox="1"/>
          <p:nvPr/>
        </p:nvSpPr>
        <p:spPr>
          <a:xfrm>
            <a:off x="8529991" y="6150027"/>
            <a:ext cx="1173209" cy="230832"/>
          </a:xfrm>
          <a:prstGeom prst="rect">
            <a:avLst/>
          </a:prstGeom>
          <a:noFill/>
        </p:spPr>
        <p:txBody>
          <a:bodyPr wrap="square" rtlCol="0">
            <a:spAutoFit/>
          </a:bodyPr>
          <a:lstStyle/>
          <a:p>
            <a:r>
              <a:rPr lang="pt-BR" sz="900" dirty="0"/>
              <a:t>No (</a:t>
            </a:r>
            <a:r>
              <a:rPr lang="en-US" sz="900" dirty="0"/>
              <a:t>369 bonds) </a:t>
            </a:r>
            <a:endParaRPr lang="pt-BR" sz="900" dirty="0"/>
          </a:p>
        </p:txBody>
      </p:sp>
      <p:cxnSp>
        <p:nvCxnSpPr>
          <p:cNvPr id="130" name="Conector de Seta Reta 33">
            <a:extLst>
              <a:ext uri="{FF2B5EF4-FFF2-40B4-BE49-F238E27FC236}">
                <a16:creationId xmlns:a16="http://schemas.microsoft.com/office/drawing/2014/main" id="{811B2F42-40E7-055C-BA2B-AE05FCE3DEB2}"/>
              </a:ext>
            </a:extLst>
          </p:cNvPr>
          <p:cNvCxnSpPr>
            <a:cxnSpLocks/>
            <a:stCxn id="124" idx="2"/>
          </p:cNvCxnSpPr>
          <p:nvPr/>
        </p:nvCxnSpPr>
        <p:spPr>
          <a:xfrm>
            <a:off x="8520159" y="6161585"/>
            <a:ext cx="5991" cy="2304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Retângulo: Cantos Arredondados 15">
            <a:extLst>
              <a:ext uri="{FF2B5EF4-FFF2-40B4-BE49-F238E27FC236}">
                <a16:creationId xmlns:a16="http://schemas.microsoft.com/office/drawing/2014/main" id="{AF118697-E87F-C564-A873-124AABC63D3F}"/>
              </a:ext>
            </a:extLst>
          </p:cNvPr>
          <p:cNvSpPr/>
          <p:nvPr/>
        </p:nvSpPr>
        <p:spPr>
          <a:xfrm>
            <a:off x="9790828" y="3220299"/>
            <a:ext cx="1298880" cy="59071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Content Analysis </a:t>
            </a:r>
          </a:p>
        </p:txBody>
      </p:sp>
      <p:sp>
        <p:nvSpPr>
          <p:cNvPr id="136" name="Fluxograma: Decisão 16">
            <a:extLst>
              <a:ext uri="{FF2B5EF4-FFF2-40B4-BE49-F238E27FC236}">
                <a16:creationId xmlns:a16="http://schemas.microsoft.com/office/drawing/2014/main" id="{D172E1FB-01DF-8E0C-CCCD-8A2F69A7AA4D}"/>
              </a:ext>
            </a:extLst>
          </p:cNvPr>
          <p:cNvSpPr/>
          <p:nvPr/>
        </p:nvSpPr>
        <p:spPr>
          <a:xfrm>
            <a:off x="7960158" y="2937713"/>
            <a:ext cx="1119997" cy="117876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900"/>
          </a:p>
        </p:txBody>
      </p:sp>
      <p:sp>
        <p:nvSpPr>
          <p:cNvPr id="137" name="CaixaDeTexto 17">
            <a:extLst>
              <a:ext uri="{FF2B5EF4-FFF2-40B4-BE49-F238E27FC236}">
                <a16:creationId xmlns:a16="http://schemas.microsoft.com/office/drawing/2014/main" id="{228FCD6A-307B-702A-7435-8922F5249A06}"/>
              </a:ext>
            </a:extLst>
          </p:cNvPr>
          <p:cNvSpPr txBox="1"/>
          <p:nvPr/>
        </p:nvSpPr>
        <p:spPr>
          <a:xfrm>
            <a:off x="7942102" y="3383034"/>
            <a:ext cx="1178983" cy="307777"/>
          </a:xfrm>
          <a:prstGeom prst="rect">
            <a:avLst/>
          </a:prstGeom>
          <a:noFill/>
        </p:spPr>
        <p:txBody>
          <a:bodyPr wrap="square" rtlCol="0">
            <a:spAutoFit/>
          </a:bodyPr>
          <a:lstStyle/>
          <a:p>
            <a:pPr algn="ctr"/>
            <a:r>
              <a:rPr lang="en-US" sz="700" dirty="0"/>
              <a:t>Is it liquid and have no pricing anomaly” ? </a:t>
            </a:r>
            <a:endParaRPr lang="pt-BR" sz="700" dirty="0"/>
          </a:p>
        </p:txBody>
      </p:sp>
      <p:sp>
        <p:nvSpPr>
          <p:cNvPr id="138" name="CaixaDeTexto 32">
            <a:extLst>
              <a:ext uri="{FF2B5EF4-FFF2-40B4-BE49-F238E27FC236}">
                <a16:creationId xmlns:a16="http://schemas.microsoft.com/office/drawing/2014/main" id="{B3D7314D-3D6B-FCD6-56D9-9100DABD2F67}"/>
              </a:ext>
            </a:extLst>
          </p:cNvPr>
          <p:cNvSpPr txBox="1"/>
          <p:nvPr/>
        </p:nvSpPr>
        <p:spPr>
          <a:xfrm>
            <a:off x="8552260" y="2920078"/>
            <a:ext cx="1173209" cy="369332"/>
          </a:xfrm>
          <a:prstGeom prst="rect">
            <a:avLst/>
          </a:prstGeom>
          <a:noFill/>
        </p:spPr>
        <p:txBody>
          <a:bodyPr wrap="square" rtlCol="0">
            <a:spAutoFit/>
          </a:bodyPr>
          <a:lstStyle/>
          <a:p>
            <a:pPr algn="ctr"/>
            <a:r>
              <a:rPr lang="pt-BR" sz="900" dirty="0"/>
              <a:t>Yes </a:t>
            </a:r>
          </a:p>
          <a:p>
            <a:pPr algn="ctr"/>
            <a:r>
              <a:rPr lang="pt-BR" sz="900" dirty="0"/>
              <a:t>`(</a:t>
            </a:r>
            <a:r>
              <a:rPr lang="en-US" sz="900" dirty="0"/>
              <a:t>103 bonds) </a:t>
            </a:r>
            <a:endParaRPr lang="pt-BR" sz="900" dirty="0"/>
          </a:p>
        </p:txBody>
      </p:sp>
      <p:cxnSp>
        <p:nvCxnSpPr>
          <p:cNvPr id="139" name="Conector de Seta Reta 24">
            <a:extLst>
              <a:ext uri="{FF2B5EF4-FFF2-40B4-BE49-F238E27FC236}">
                <a16:creationId xmlns:a16="http://schemas.microsoft.com/office/drawing/2014/main" id="{4A816FAF-A619-AAFF-E51E-F0B11947CF47}"/>
              </a:ext>
            </a:extLst>
          </p:cNvPr>
          <p:cNvCxnSpPr>
            <a:cxnSpLocks/>
          </p:cNvCxnSpPr>
          <p:nvPr/>
        </p:nvCxnSpPr>
        <p:spPr>
          <a:xfrm>
            <a:off x="9067921" y="3515657"/>
            <a:ext cx="692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Conector de Seta Reta 24">
            <a:extLst>
              <a:ext uri="{FF2B5EF4-FFF2-40B4-BE49-F238E27FC236}">
                <a16:creationId xmlns:a16="http://schemas.microsoft.com/office/drawing/2014/main" id="{1C8D8241-755A-83EB-989E-AF1A276280B9}"/>
              </a:ext>
            </a:extLst>
          </p:cNvPr>
          <p:cNvCxnSpPr>
            <a:cxnSpLocks/>
          </p:cNvCxnSpPr>
          <p:nvPr/>
        </p:nvCxnSpPr>
        <p:spPr>
          <a:xfrm flipH="1">
            <a:off x="7583337" y="3520179"/>
            <a:ext cx="390102" cy="69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ixaDeTexto 32">
            <a:extLst>
              <a:ext uri="{FF2B5EF4-FFF2-40B4-BE49-F238E27FC236}">
                <a16:creationId xmlns:a16="http://schemas.microsoft.com/office/drawing/2014/main" id="{798BB354-D2EE-4C1C-BBF3-C253BE226C21}"/>
              </a:ext>
            </a:extLst>
          </p:cNvPr>
          <p:cNvSpPr txBox="1"/>
          <p:nvPr/>
        </p:nvSpPr>
        <p:spPr>
          <a:xfrm>
            <a:off x="7288813" y="2924997"/>
            <a:ext cx="1173209" cy="369332"/>
          </a:xfrm>
          <a:prstGeom prst="rect">
            <a:avLst/>
          </a:prstGeom>
          <a:noFill/>
        </p:spPr>
        <p:txBody>
          <a:bodyPr wrap="square" rtlCol="0">
            <a:spAutoFit/>
          </a:bodyPr>
          <a:lstStyle/>
          <a:p>
            <a:pPr algn="ctr"/>
            <a:r>
              <a:rPr lang="pt-BR" sz="900" dirty="0"/>
              <a:t>No </a:t>
            </a:r>
          </a:p>
          <a:p>
            <a:pPr algn="ctr"/>
            <a:r>
              <a:rPr lang="pt-BR" sz="900" dirty="0"/>
              <a:t>`(</a:t>
            </a:r>
            <a:r>
              <a:rPr lang="en-US" sz="900" dirty="0"/>
              <a:t>646 bonds) </a:t>
            </a:r>
            <a:endParaRPr lang="pt-BR" sz="900" dirty="0"/>
          </a:p>
        </p:txBody>
      </p:sp>
      <p:cxnSp>
        <p:nvCxnSpPr>
          <p:cNvPr id="144" name="Conector de Seta Reta 31">
            <a:extLst>
              <a:ext uri="{FF2B5EF4-FFF2-40B4-BE49-F238E27FC236}">
                <a16:creationId xmlns:a16="http://schemas.microsoft.com/office/drawing/2014/main" id="{B02AAC44-2541-A8BE-BB04-6717D3ECA79E}"/>
              </a:ext>
            </a:extLst>
          </p:cNvPr>
          <p:cNvCxnSpPr>
            <a:cxnSpLocks/>
          </p:cNvCxnSpPr>
          <p:nvPr/>
        </p:nvCxnSpPr>
        <p:spPr>
          <a:xfrm flipH="1" flipV="1">
            <a:off x="8525074" y="4140823"/>
            <a:ext cx="1" cy="266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Retângulo: Cantos Arredondados 8">
            <a:extLst>
              <a:ext uri="{FF2B5EF4-FFF2-40B4-BE49-F238E27FC236}">
                <a16:creationId xmlns:a16="http://schemas.microsoft.com/office/drawing/2014/main" id="{5FB5E942-D40B-1C2D-63FE-381EC145B3D7}"/>
              </a:ext>
            </a:extLst>
          </p:cNvPr>
          <p:cNvSpPr/>
          <p:nvPr/>
        </p:nvSpPr>
        <p:spPr>
          <a:xfrm>
            <a:off x="5442584" y="5518875"/>
            <a:ext cx="762213" cy="28396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Financial</a:t>
            </a:r>
          </a:p>
        </p:txBody>
      </p:sp>
      <p:sp>
        <p:nvSpPr>
          <p:cNvPr id="157" name="Retângulo: Cantos Arredondados 9">
            <a:extLst>
              <a:ext uri="{FF2B5EF4-FFF2-40B4-BE49-F238E27FC236}">
                <a16:creationId xmlns:a16="http://schemas.microsoft.com/office/drawing/2014/main" id="{AFE78416-F8EF-8DB6-709A-B791CD00ECEF}"/>
              </a:ext>
            </a:extLst>
          </p:cNvPr>
          <p:cNvSpPr/>
          <p:nvPr/>
        </p:nvSpPr>
        <p:spPr>
          <a:xfrm>
            <a:off x="6532099" y="5525969"/>
            <a:ext cx="941296" cy="24545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Non-Financial</a:t>
            </a:r>
          </a:p>
        </p:txBody>
      </p:sp>
      <p:sp>
        <p:nvSpPr>
          <p:cNvPr id="158" name="Fluxograma: Vários Documentos 10">
            <a:extLst>
              <a:ext uri="{FF2B5EF4-FFF2-40B4-BE49-F238E27FC236}">
                <a16:creationId xmlns:a16="http://schemas.microsoft.com/office/drawing/2014/main" id="{361B322F-133A-2BD1-AF3C-CA40E2B91F4C}"/>
              </a:ext>
            </a:extLst>
          </p:cNvPr>
          <p:cNvSpPr/>
          <p:nvPr/>
        </p:nvSpPr>
        <p:spPr>
          <a:xfrm>
            <a:off x="5070408" y="5930614"/>
            <a:ext cx="1248883" cy="603200"/>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102 bonds (8.4%)</a:t>
            </a:r>
          </a:p>
          <a:p>
            <a:pPr algn="ctr"/>
            <a:r>
              <a:rPr lang="pt-BR" sz="900" dirty="0">
                <a:solidFill>
                  <a:schemeClr val="tx1"/>
                </a:solidFill>
              </a:rPr>
              <a:t>Amt Issued 14 Bi </a:t>
            </a:r>
          </a:p>
        </p:txBody>
      </p:sp>
      <p:sp>
        <p:nvSpPr>
          <p:cNvPr id="159" name="Fluxograma: Vários Documentos 11">
            <a:extLst>
              <a:ext uri="{FF2B5EF4-FFF2-40B4-BE49-F238E27FC236}">
                <a16:creationId xmlns:a16="http://schemas.microsoft.com/office/drawing/2014/main" id="{F0A3492F-D723-7096-3DA5-BE0FDB36278E}"/>
              </a:ext>
            </a:extLst>
          </p:cNvPr>
          <p:cNvSpPr/>
          <p:nvPr/>
        </p:nvSpPr>
        <p:spPr>
          <a:xfrm>
            <a:off x="6410129" y="5919981"/>
            <a:ext cx="1328745" cy="613833"/>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1118 bonds (91.6%)</a:t>
            </a:r>
          </a:p>
          <a:p>
            <a:pPr algn="ctr"/>
            <a:r>
              <a:rPr lang="pt-BR" sz="900" dirty="0">
                <a:solidFill>
                  <a:schemeClr val="tx1"/>
                </a:solidFill>
              </a:rPr>
              <a:t>Amt Issued 444 Bi</a:t>
            </a:r>
          </a:p>
        </p:txBody>
      </p:sp>
      <p:sp>
        <p:nvSpPr>
          <p:cNvPr id="160" name="Chave Esquerda 29">
            <a:extLst>
              <a:ext uri="{FF2B5EF4-FFF2-40B4-BE49-F238E27FC236}">
                <a16:creationId xmlns:a16="http://schemas.microsoft.com/office/drawing/2014/main" id="{60FD81EC-4615-8BFC-F90D-B76687A61478}"/>
              </a:ext>
            </a:extLst>
          </p:cNvPr>
          <p:cNvSpPr/>
          <p:nvPr/>
        </p:nvSpPr>
        <p:spPr>
          <a:xfrm rot="5400000">
            <a:off x="6289869" y="4199089"/>
            <a:ext cx="245456" cy="234147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65" name="Conector: Angulado 47">
            <a:extLst>
              <a:ext uri="{FF2B5EF4-FFF2-40B4-BE49-F238E27FC236}">
                <a16:creationId xmlns:a16="http://schemas.microsoft.com/office/drawing/2014/main" id="{0899E753-3DFD-9FF4-ABF9-0E3921082F9D}"/>
              </a:ext>
            </a:extLst>
          </p:cNvPr>
          <p:cNvCxnSpPr>
            <a:cxnSpLocks/>
            <a:stCxn id="157" idx="3"/>
            <a:endCxn id="125" idx="1"/>
          </p:cNvCxnSpPr>
          <p:nvPr/>
        </p:nvCxnSpPr>
        <p:spPr>
          <a:xfrm flipV="1">
            <a:off x="7473395" y="5574072"/>
            <a:ext cx="468709" cy="7462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 name="Fluxograma: Vários Documentos 19">
            <a:extLst>
              <a:ext uri="{FF2B5EF4-FFF2-40B4-BE49-F238E27FC236}">
                <a16:creationId xmlns:a16="http://schemas.microsoft.com/office/drawing/2014/main" id="{F79E7E8C-1308-237A-847F-44E16DB16105}"/>
              </a:ext>
            </a:extLst>
          </p:cNvPr>
          <p:cNvSpPr/>
          <p:nvPr/>
        </p:nvSpPr>
        <p:spPr>
          <a:xfrm>
            <a:off x="10164726" y="2243094"/>
            <a:ext cx="1922605" cy="893511"/>
          </a:xfrm>
          <a:prstGeom prst="flowChartMulti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900" b="1" dirty="0">
                <a:solidFill>
                  <a:schemeClr val="tx1"/>
                </a:solidFill>
              </a:rPr>
              <a:t>Final econometric sample</a:t>
            </a:r>
          </a:p>
          <a:p>
            <a:pPr marL="171450" indent="-171450">
              <a:buFont typeface="Arial" panose="020B0604020202020204" pitchFamily="34" charset="0"/>
              <a:buChar char="•"/>
            </a:pPr>
            <a:r>
              <a:rPr lang="pt-BR" sz="900" dirty="0">
                <a:solidFill>
                  <a:schemeClr val="tx1"/>
                </a:solidFill>
              </a:rPr>
              <a:t>103 bonds</a:t>
            </a:r>
          </a:p>
          <a:p>
            <a:pPr marL="171450" indent="-171450">
              <a:buFont typeface="Arial" panose="020B0604020202020204" pitchFamily="34" charset="0"/>
              <a:buChar char="•"/>
            </a:pPr>
            <a:r>
              <a:rPr lang="pt-BR" sz="900" dirty="0">
                <a:solidFill>
                  <a:schemeClr val="tx1"/>
                </a:solidFill>
              </a:rPr>
              <a:t>48 Issuers</a:t>
            </a:r>
          </a:p>
          <a:p>
            <a:pPr marL="171450" indent="-171450">
              <a:buFont typeface="Arial" panose="020B0604020202020204" pitchFamily="34" charset="0"/>
              <a:buChar char="•"/>
            </a:pPr>
            <a:r>
              <a:rPr lang="pt-BR" sz="900" dirty="0">
                <a:solidFill>
                  <a:schemeClr val="tx1"/>
                </a:solidFill>
              </a:rPr>
              <a:t>4229 observations</a:t>
            </a:r>
          </a:p>
        </p:txBody>
      </p:sp>
      <p:cxnSp>
        <p:nvCxnSpPr>
          <p:cNvPr id="193" name="Conector de Seta Reta 24">
            <a:extLst>
              <a:ext uri="{FF2B5EF4-FFF2-40B4-BE49-F238E27FC236}">
                <a16:creationId xmlns:a16="http://schemas.microsoft.com/office/drawing/2014/main" id="{4D98BF57-CD96-A880-7B70-E458D659B314}"/>
              </a:ext>
            </a:extLst>
          </p:cNvPr>
          <p:cNvCxnSpPr>
            <a:cxnSpLocks/>
            <a:endCxn id="110" idx="3"/>
          </p:cNvCxnSpPr>
          <p:nvPr/>
        </p:nvCxnSpPr>
        <p:spPr>
          <a:xfrm flipH="1" flipV="1">
            <a:off x="2691104" y="3874351"/>
            <a:ext cx="203495" cy="2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Retângulo: Cantos Arredondados 18">
            <a:extLst>
              <a:ext uri="{FF2B5EF4-FFF2-40B4-BE49-F238E27FC236}">
                <a16:creationId xmlns:a16="http://schemas.microsoft.com/office/drawing/2014/main" id="{A67DE0B2-431A-CA0F-BD3F-7017979C3D90}"/>
              </a:ext>
            </a:extLst>
          </p:cNvPr>
          <p:cNvSpPr/>
          <p:nvPr/>
        </p:nvSpPr>
        <p:spPr>
          <a:xfrm>
            <a:off x="3308165" y="4955902"/>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6" name="Retângulo: Cantos Arredondados 18">
            <a:extLst>
              <a:ext uri="{FF2B5EF4-FFF2-40B4-BE49-F238E27FC236}">
                <a16:creationId xmlns:a16="http://schemas.microsoft.com/office/drawing/2014/main" id="{4F5FF5B9-085B-A90F-7564-ECA2A72832E3}"/>
              </a:ext>
            </a:extLst>
          </p:cNvPr>
          <p:cNvSpPr/>
          <p:nvPr/>
        </p:nvSpPr>
        <p:spPr>
          <a:xfrm>
            <a:off x="8220424" y="6433829"/>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7" name="Retângulo: Cantos Arredondados 18">
            <a:extLst>
              <a:ext uri="{FF2B5EF4-FFF2-40B4-BE49-F238E27FC236}">
                <a16:creationId xmlns:a16="http://schemas.microsoft.com/office/drawing/2014/main" id="{3A07A27F-6636-5AB0-451E-8A0A0554BF7E}"/>
              </a:ext>
            </a:extLst>
          </p:cNvPr>
          <p:cNvSpPr/>
          <p:nvPr/>
        </p:nvSpPr>
        <p:spPr>
          <a:xfrm>
            <a:off x="6933878" y="3403544"/>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8" name="Retângulo: Cantos Arredondados 18">
            <a:extLst>
              <a:ext uri="{FF2B5EF4-FFF2-40B4-BE49-F238E27FC236}">
                <a16:creationId xmlns:a16="http://schemas.microsoft.com/office/drawing/2014/main" id="{53CA6839-0C61-286B-08A9-A7165021C8A9}"/>
              </a:ext>
            </a:extLst>
          </p:cNvPr>
          <p:cNvSpPr/>
          <p:nvPr/>
        </p:nvSpPr>
        <p:spPr>
          <a:xfrm>
            <a:off x="3127412" y="639073"/>
            <a:ext cx="630498" cy="2469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Excluded</a:t>
            </a:r>
          </a:p>
        </p:txBody>
      </p:sp>
      <p:sp>
        <p:nvSpPr>
          <p:cNvPr id="199" name="Retângulo: Cantos Arredondados 15">
            <a:extLst>
              <a:ext uri="{FF2B5EF4-FFF2-40B4-BE49-F238E27FC236}">
                <a16:creationId xmlns:a16="http://schemas.microsoft.com/office/drawing/2014/main" id="{FDA5B080-5940-DE2A-268A-34FF24D2CD6A}"/>
              </a:ext>
            </a:extLst>
          </p:cNvPr>
          <p:cNvSpPr/>
          <p:nvPr/>
        </p:nvSpPr>
        <p:spPr>
          <a:xfrm>
            <a:off x="4306192" y="3712923"/>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208" name="Retângulo: Cantos Arredondados 15">
            <a:extLst>
              <a:ext uri="{FF2B5EF4-FFF2-40B4-BE49-F238E27FC236}">
                <a16:creationId xmlns:a16="http://schemas.microsoft.com/office/drawing/2014/main" id="{8DE41E6F-2D11-564A-79A7-41E68F6057B9}"/>
              </a:ext>
            </a:extLst>
          </p:cNvPr>
          <p:cNvSpPr/>
          <p:nvPr/>
        </p:nvSpPr>
        <p:spPr>
          <a:xfrm>
            <a:off x="5823842" y="4889889"/>
            <a:ext cx="1173209" cy="35670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Retained</a:t>
            </a:r>
          </a:p>
        </p:txBody>
      </p:sp>
      <p:sp>
        <p:nvSpPr>
          <p:cNvPr id="211" name="Retângulo 13">
            <a:extLst>
              <a:ext uri="{FF2B5EF4-FFF2-40B4-BE49-F238E27FC236}">
                <a16:creationId xmlns:a16="http://schemas.microsoft.com/office/drawing/2014/main" id="{22C7D873-B7F9-DA4A-CD64-D3FA13A2E9D1}"/>
              </a:ext>
            </a:extLst>
          </p:cNvPr>
          <p:cNvSpPr/>
          <p:nvPr/>
        </p:nvSpPr>
        <p:spPr>
          <a:xfrm>
            <a:off x="4261650" y="475150"/>
            <a:ext cx="2538021" cy="18219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Screening stage</a:t>
            </a:r>
          </a:p>
        </p:txBody>
      </p:sp>
    </p:spTree>
    <p:extLst>
      <p:ext uri="{BB962C8B-B14F-4D97-AF65-F5344CB8AC3E}">
        <p14:creationId xmlns:p14="http://schemas.microsoft.com/office/powerpoint/2010/main" val="3461055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eta: Pentágono 2">
            <a:extLst>
              <a:ext uri="{FF2B5EF4-FFF2-40B4-BE49-F238E27FC236}">
                <a16:creationId xmlns:a16="http://schemas.microsoft.com/office/drawing/2014/main" id="{96EA0195-7580-BAF9-6C7A-BE9B75BF1FAB}"/>
              </a:ext>
            </a:extLst>
          </p:cNvPr>
          <p:cNvSpPr/>
          <p:nvPr/>
        </p:nvSpPr>
        <p:spPr>
          <a:xfrm>
            <a:off x="337962" y="646035"/>
            <a:ext cx="11643672" cy="6035040"/>
          </a:xfrm>
          <a:prstGeom prst="homePlate">
            <a:avLst>
              <a:gd name="adj" fmla="val 12457"/>
            </a:avLst>
          </a:prstGeom>
          <a:solidFill>
            <a:srgbClr val="E0D5CA"/>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endParaRPr lang="en-US" sz="2000" dirty="0">
              <a:solidFill>
                <a:schemeClr val="tx1"/>
              </a:solidFill>
              <a:latin typeface="+mj-lt"/>
            </a:endParaRPr>
          </a:p>
        </p:txBody>
      </p:sp>
      <p:sp>
        <p:nvSpPr>
          <p:cNvPr id="4" name="Seta: Pentágono 3">
            <a:extLst>
              <a:ext uri="{FF2B5EF4-FFF2-40B4-BE49-F238E27FC236}">
                <a16:creationId xmlns:a16="http://schemas.microsoft.com/office/drawing/2014/main" id="{0051BB3E-753F-AF2D-90F8-E7F1714D7B7B}"/>
              </a:ext>
            </a:extLst>
          </p:cNvPr>
          <p:cNvSpPr/>
          <p:nvPr/>
        </p:nvSpPr>
        <p:spPr>
          <a:xfrm>
            <a:off x="430386" y="700741"/>
            <a:ext cx="3809882" cy="4297680"/>
          </a:xfrm>
          <a:prstGeom prst="homePlate">
            <a:avLst>
              <a:gd name="adj" fmla="val 1063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latin typeface="+mj-lt"/>
              </a:rPr>
              <a:t>Scopus query &amp; corpus construction</a:t>
            </a:r>
          </a:p>
          <a:p>
            <a:pPr marL="285750" indent="-285750">
              <a:buFont typeface="Arial" panose="020B0604020202020204" pitchFamily="34" charset="0"/>
              <a:buChar char="•"/>
            </a:pPr>
            <a:endParaRPr lang="en-US" sz="12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Definition of research scope</a:t>
            </a:r>
          </a:p>
          <a:p>
            <a:pPr marL="742950" lvl="1" indent="-285750">
              <a:buFont typeface="Courier New" panose="02070309020205020404" pitchFamily="49" charset="0"/>
              <a:buChar char="o"/>
            </a:pPr>
            <a:r>
              <a:rPr lang="en-US" sz="1200" dirty="0">
                <a:solidFill>
                  <a:schemeClr val="tx1"/>
                </a:solidFill>
                <a:latin typeface="+mj-lt"/>
              </a:rPr>
              <a:t>Corporate and sovereign credit spreads</a:t>
            </a:r>
          </a:p>
          <a:p>
            <a:pPr marL="742950" lvl="1" indent="-285750">
              <a:buFont typeface="Courier New" panose="02070309020205020404" pitchFamily="49" charset="0"/>
              <a:buChar char="o"/>
            </a:pPr>
            <a:r>
              <a:rPr lang="en-US" sz="1200" dirty="0">
                <a:solidFill>
                  <a:schemeClr val="tx1"/>
                </a:solidFill>
                <a:latin typeface="+mj-lt"/>
              </a:rPr>
              <a:t>Emerging markets and Brazil</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Structured query in Scopus</a:t>
            </a:r>
          </a:p>
          <a:p>
            <a:pPr marL="285750" lvl="1" indent="-285750">
              <a:buFont typeface="Arial" panose="020B0604020202020204" pitchFamily="34" charset="0"/>
              <a:buChar char="•"/>
            </a:pPr>
            <a:r>
              <a:rPr lang="en-US" sz="1200" dirty="0">
                <a:solidFill>
                  <a:schemeClr val="tx1"/>
                </a:solidFill>
                <a:latin typeface="+mj-lt"/>
              </a:rPr>
              <a:t>Filters applied</a:t>
            </a:r>
          </a:p>
          <a:p>
            <a:pPr marL="742950" lvl="1" indent="-285750">
              <a:buFont typeface="Courier New" panose="02070309020205020404" pitchFamily="49" charset="0"/>
              <a:buChar char="o"/>
            </a:pPr>
            <a:r>
              <a:rPr lang="en-US" sz="1200" dirty="0">
                <a:solidFill>
                  <a:schemeClr val="tx1"/>
                </a:solidFill>
                <a:latin typeface="+mj-lt"/>
              </a:rPr>
              <a:t>Peer-reviewed journals</a:t>
            </a:r>
          </a:p>
          <a:p>
            <a:pPr marL="742950" lvl="1" indent="-285750">
              <a:buFont typeface="Courier New" panose="02070309020205020404" pitchFamily="49" charset="0"/>
              <a:buChar char="o"/>
            </a:pPr>
            <a:r>
              <a:rPr lang="en-US" sz="1200" dirty="0">
                <a:solidFill>
                  <a:schemeClr val="tx1"/>
                </a:solidFill>
                <a:latin typeface="+mj-lt"/>
              </a:rPr>
              <a:t>Leading outlets in economics and finance</a:t>
            </a:r>
          </a:p>
          <a:p>
            <a:pPr marL="742950" lvl="1" indent="-285750">
              <a:buFont typeface="Courier New" panose="02070309020205020404" pitchFamily="49" charset="0"/>
              <a:buChar char="o"/>
            </a:pPr>
            <a:r>
              <a:rPr lang="en-US" sz="1200" dirty="0">
                <a:solidFill>
                  <a:schemeClr val="tx1"/>
                </a:solidFill>
                <a:latin typeface="+mj-lt"/>
              </a:rPr>
              <a:t>Geographic focus on EMs / Latin America</a:t>
            </a:r>
          </a:p>
          <a:p>
            <a:pPr marL="285750" lvl="1" indent="-285750">
              <a:buFont typeface="Arial" panose="020B0604020202020204" pitchFamily="34" charset="0"/>
              <a:buChar char="•"/>
            </a:pPr>
            <a:r>
              <a:rPr lang="en-US" sz="1200" dirty="0">
                <a:solidFill>
                  <a:schemeClr val="tx1"/>
                </a:solidFill>
                <a:latin typeface="+mj-lt"/>
              </a:rPr>
              <a:t>Export of records (.bib format)</a:t>
            </a:r>
          </a:p>
          <a:p>
            <a:pPr marL="285750" lvl="1" indent="-285750">
              <a:buFont typeface="Arial" panose="020B0604020202020204" pitchFamily="34" charset="0"/>
              <a:buChar char="•"/>
            </a:pPr>
            <a:r>
              <a:rPr lang="en-US" sz="1200" dirty="0">
                <a:solidFill>
                  <a:schemeClr val="tx1"/>
                </a:solidFill>
                <a:latin typeface="+mj-lt"/>
              </a:rPr>
              <a:t>Construction of bibliographic corpus</a:t>
            </a:r>
          </a:p>
          <a:p>
            <a:pPr marL="285750" lvl="1" indent="-285750">
              <a:buFont typeface="Arial" panose="020B0604020202020204" pitchFamily="34" charset="0"/>
              <a:buChar char="•"/>
            </a:pPr>
            <a:endParaRPr lang="en-US" sz="1200" dirty="0">
              <a:solidFill>
                <a:schemeClr val="tx1"/>
              </a:solidFill>
              <a:latin typeface="+mj-lt"/>
            </a:endParaRPr>
          </a:p>
        </p:txBody>
      </p:sp>
      <p:sp>
        <p:nvSpPr>
          <p:cNvPr id="30" name="Seta: Pentágono 29">
            <a:extLst>
              <a:ext uri="{FF2B5EF4-FFF2-40B4-BE49-F238E27FC236}">
                <a16:creationId xmlns:a16="http://schemas.microsoft.com/office/drawing/2014/main" id="{4790A5FC-7485-015B-7D79-13B71E687CC8}"/>
              </a:ext>
            </a:extLst>
          </p:cNvPr>
          <p:cNvSpPr/>
          <p:nvPr/>
        </p:nvSpPr>
        <p:spPr>
          <a:xfrm>
            <a:off x="4335328" y="700741"/>
            <a:ext cx="3267008" cy="4297680"/>
          </a:xfrm>
          <a:prstGeom prst="homePlate">
            <a:avLst>
              <a:gd name="adj" fmla="val 970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dirty="0">
                <a:solidFill>
                  <a:schemeClr val="tx1"/>
                </a:solidFill>
                <a:latin typeface="+mj-lt"/>
              </a:rPr>
              <a:t>Bibliometric + empirical modeling</a:t>
            </a:r>
          </a:p>
          <a:p>
            <a:endParaRPr lang="pt-BR" sz="1100" dirty="0">
              <a:solidFill>
                <a:schemeClr val="tx1"/>
              </a:solidFill>
              <a:latin typeface="+mj-lt"/>
            </a:endParaRPr>
          </a:p>
          <a:p>
            <a:endParaRPr lang="pt-BR" sz="11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Bibliometric analysis (R / </a:t>
            </a:r>
            <a:r>
              <a:rPr lang="en-US" sz="1200" dirty="0" err="1">
                <a:solidFill>
                  <a:schemeClr val="tx1"/>
                </a:solidFill>
                <a:latin typeface="+mj-lt"/>
              </a:rPr>
              <a:t>bibliometrix</a:t>
            </a:r>
            <a:r>
              <a:rPr lang="en-US" sz="1200" dirty="0">
                <a:solidFill>
                  <a:schemeClr val="tx1"/>
                </a:solidFill>
                <a:latin typeface="+mj-lt"/>
              </a:rPr>
              <a:t>):</a:t>
            </a:r>
          </a:p>
          <a:p>
            <a:pPr marL="742950" lvl="1" indent="-285750">
              <a:buFont typeface="Courier New" panose="02070309020205020404" pitchFamily="49" charset="0"/>
              <a:buChar char="o"/>
            </a:pPr>
            <a:r>
              <a:rPr lang="en-US" sz="1200" dirty="0">
                <a:solidFill>
                  <a:schemeClr val="tx1"/>
                </a:solidFill>
                <a:latin typeface="+mj-lt"/>
              </a:rPr>
              <a:t>Term frequency</a:t>
            </a:r>
          </a:p>
          <a:p>
            <a:pPr marL="742950" lvl="1" indent="-285750">
              <a:buFont typeface="Courier New" panose="02070309020205020404" pitchFamily="49" charset="0"/>
              <a:buChar char="o"/>
            </a:pPr>
            <a:r>
              <a:rPr lang="en-US" sz="1200" dirty="0">
                <a:solidFill>
                  <a:schemeClr val="tx1"/>
                </a:solidFill>
                <a:latin typeface="+mj-lt"/>
              </a:rPr>
              <a:t>Thematic mapping</a:t>
            </a:r>
          </a:p>
          <a:p>
            <a:pPr marL="742950" lvl="1" indent="-285750">
              <a:buFont typeface="Courier New" panose="02070309020205020404" pitchFamily="49" charset="0"/>
              <a:buChar char="o"/>
            </a:pPr>
            <a:r>
              <a:rPr lang="en-US" sz="1200" dirty="0">
                <a:solidFill>
                  <a:schemeClr val="tx1"/>
                </a:solidFill>
                <a:latin typeface="+mj-lt"/>
              </a:rPr>
              <a:t>Evolution of topics</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Identification of:</a:t>
            </a:r>
          </a:p>
          <a:p>
            <a:pPr marL="742950" lvl="1" indent="-285750">
              <a:buFont typeface="Courier New" panose="02070309020205020404" pitchFamily="49" charset="0"/>
              <a:buChar char="o"/>
            </a:pPr>
            <a:r>
              <a:rPr lang="en-US" sz="1200" dirty="0">
                <a:solidFill>
                  <a:schemeClr val="tx1"/>
                </a:solidFill>
                <a:latin typeface="+mj-lt"/>
              </a:rPr>
              <a:t>Main determinants studied in the literature</a:t>
            </a:r>
          </a:p>
          <a:p>
            <a:pPr marL="742950" lvl="1" indent="-285750">
              <a:buFont typeface="Courier New" panose="02070309020205020404" pitchFamily="49" charset="0"/>
              <a:buChar char="o"/>
            </a:pPr>
            <a:r>
              <a:rPr lang="en-US" sz="1200" dirty="0">
                <a:solidFill>
                  <a:schemeClr val="tx1"/>
                </a:solidFill>
                <a:latin typeface="+mj-lt"/>
              </a:rPr>
              <a:t>Dominant theoretical lenses</a:t>
            </a:r>
          </a:p>
          <a:p>
            <a:pPr marL="457200" lvl="1"/>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Translation into empirical strategy:</a:t>
            </a:r>
          </a:p>
          <a:p>
            <a:pPr marL="742950" lvl="1" indent="-285750">
              <a:buFont typeface="Courier New" panose="02070309020205020404" pitchFamily="49" charset="0"/>
              <a:buChar char="o"/>
            </a:pPr>
            <a:r>
              <a:rPr lang="en-US" sz="1200" dirty="0">
                <a:solidFill>
                  <a:schemeClr val="tx1"/>
                </a:solidFill>
                <a:latin typeface="+mj-lt"/>
              </a:rPr>
              <a:t>Choice of variables</a:t>
            </a:r>
          </a:p>
          <a:p>
            <a:pPr marL="742950" lvl="1" indent="-285750">
              <a:buFont typeface="Courier New" panose="02070309020205020404" pitchFamily="49" charset="0"/>
              <a:buChar char="o"/>
            </a:pPr>
            <a:r>
              <a:rPr lang="en-US" sz="1200" dirty="0">
                <a:solidFill>
                  <a:schemeClr val="tx1"/>
                </a:solidFill>
                <a:latin typeface="+mj-lt"/>
              </a:rPr>
              <a:t>Model specification</a:t>
            </a:r>
          </a:p>
          <a:p>
            <a:pPr marL="742950" lvl="1" indent="-285750">
              <a:buFont typeface="Courier New" panose="02070309020205020404" pitchFamily="49" charset="0"/>
              <a:buChar char="o"/>
            </a:pPr>
            <a:r>
              <a:rPr lang="en-US" sz="1200" dirty="0">
                <a:solidFill>
                  <a:schemeClr val="tx1"/>
                </a:solidFill>
                <a:latin typeface="+mj-lt"/>
              </a:rPr>
              <a:t>Identification approach (panel FE)</a:t>
            </a:r>
          </a:p>
          <a:p>
            <a:pPr marL="285750" lvl="1" indent="-285750">
              <a:buFont typeface="Arial" panose="020B0604020202020204" pitchFamily="34" charset="0"/>
              <a:buChar char="•"/>
            </a:pPr>
            <a:endParaRPr lang="en-US" sz="1100" dirty="0">
              <a:solidFill>
                <a:schemeClr val="tx1"/>
              </a:solidFill>
              <a:latin typeface="+mj-lt"/>
            </a:endParaRPr>
          </a:p>
        </p:txBody>
      </p:sp>
      <p:sp>
        <p:nvSpPr>
          <p:cNvPr id="31" name="Seta: Pentágono 30">
            <a:extLst>
              <a:ext uri="{FF2B5EF4-FFF2-40B4-BE49-F238E27FC236}">
                <a16:creationId xmlns:a16="http://schemas.microsoft.com/office/drawing/2014/main" id="{ACDEF5D2-0401-EB07-72D6-0F15F65AE2C0}"/>
              </a:ext>
            </a:extLst>
          </p:cNvPr>
          <p:cNvSpPr/>
          <p:nvPr/>
        </p:nvSpPr>
        <p:spPr>
          <a:xfrm>
            <a:off x="7672211" y="700741"/>
            <a:ext cx="3449930" cy="4297680"/>
          </a:xfrm>
          <a:prstGeom prst="homePlate">
            <a:avLst>
              <a:gd name="adj" fmla="val 1019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dirty="0">
                <a:solidFill>
                  <a:schemeClr val="tx1"/>
                </a:solidFill>
                <a:latin typeface="+mj-lt"/>
              </a:rPr>
              <a:t>Determinants &amp; modeling choices</a:t>
            </a:r>
          </a:p>
          <a:p>
            <a:endParaRPr lang="pt-BR" b="1" dirty="0">
              <a:solidFill>
                <a:schemeClr val="tx1"/>
              </a:solidFill>
              <a:latin typeface="+mj-lt"/>
            </a:endParaRPr>
          </a:p>
          <a:p>
            <a:endParaRPr lang="pt-BR" sz="1200" dirty="0">
              <a:solidFill>
                <a:schemeClr val="tx1"/>
              </a:solidFill>
              <a:latin typeface="+mj-lt"/>
            </a:endParaRPr>
          </a:p>
          <a:p>
            <a:pPr marL="285750" indent="-285750">
              <a:buFont typeface="Arial" panose="020B0604020202020204" pitchFamily="34" charset="0"/>
              <a:buChar char="•"/>
            </a:pPr>
            <a:r>
              <a:rPr lang="en-US" sz="1200" dirty="0">
                <a:solidFill>
                  <a:schemeClr val="tx1"/>
                </a:solidFill>
                <a:latin typeface="+mj-lt"/>
              </a:rPr>
              <a:t>Key determinants highlighted in the literature:</a:t>
            </a:r>
          </a:p>
          <a:p>
            <a:pPr marL="742950" lvl="1" indent="-285750">
              <a:buFont typeface="Courier New" panose="02070309020205020404" pitchFamily="49" charset="0"/>
              <a:buChar char="o"/>
            </a:pPr>
            <a:r>
              <a:rPr lang="en-US" sz="1200" dirty="0">
                <a:solidFill>
                  <a:schemeClr val="tx1"/>
                </a:solidFill>
                <a:latin typeface="+mj-lt"/>
              </a:rPr>
              <a:t>Global risk factors</a:t>
            </a:r>
          </a:p>
          <a:p>
            <a:pPr marL="742950" lvl="1" indent="-285750">
              <a:buFont typeface="Courier New" panose="02070309020205020404" pitchFamily="49" charset="0"/>
              <a:buChar char="o"/>
            </a:pPr>
            <a:r>
              <a:rPr lang="en-US" sz="1200" dirty="0">
                <a:solidFill>
                  <a:schemeClr val="tx1"/>
                </a:solidFill>
                <a:latin typeface="+mj-lt"/>
              </a:rPr>
              <a:t>Sovereign risk</a:t>
            </a:r>
          </a:p>
          <a:p>
            <a:pPr marL="742950" lvl="1" indent="-285750">
              <a:buFont typeface="Courier New" panose="02070309020205020404" pitchFamily="49" charset="0"/>
              <a:buChar char="o"/>
            </a:pPr>
            <a:r>
              <a:rPr lang="en-US" sz="1200" dirty="0">
                <a:solidFill>
                  <a:schemeClr val="tx1"/>
                </a:solidFill>
                <a:latin typeface="+mj-lt"/>
              </a:rPr>
              <a:t>Macro-financial channels</a:t>
            </a:r>
          </a:p>
          <a:p>
            <a:pPr marL="742950" lvl="1" indent="-285750">
              <a:buFont typeface="Courier New" panose="02070309020205020404" pitchFamily="49" charset="0"/>
              <a:buChar char="o"/>
            </a:pPr>
            <a:r>
              <a:rPr lang="en-US" sz="1200" dirty="0">
                <a:solidFill>
                  <a:schemeClr val="tx1"/>
                </a:solidFill>
                <a:latin typeface="+mj-lt"/>
              </a:rPr>
              <a:t>Firm-level controls</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Identification of gaps:</a:t>
            </a:r>
          </a:p>
          <a:p>
            <a:pPr marL="742950" lvl="1" indent="-285750">
              <a:buFont typeface="Courier New" panose="02070309020205020404" pitchFamily="49" charset="0"/>
              <a:buChar char="o"/>
            </a:pPr>
            <a:r>
              <a:rPr lang="en-US" sz="1200" dirty="0">
                <a:solidFill>
                  <a:schemeClr val="tx1"/>
                </a:solidFill>
                <a:latin typeface="+mj-lt"/>
              </a:rPr>
              <a:t>Local-currency corporate debt</a:t>
            </a:r>
          </a:p>
          <a:p>
            <a:pPr marL="742950" lvl="1" indent="-285750">
              <a:buFont typeface="Courier New" panose="02070309020205020404" pitchFamily="49" charset="0"/>
              <a:buChar char="o"/>
            </a:pPr>
            <a:r>
              <a:rPr lang="en-US" sz="1200" dirty="0">
                <a:solidFill>
                  <a:schemeClr val="tx1"/>
                </a:solidFill>
                <a:latin typeface="+mj-lt"/>
              </a:rPr>
              <a:t>Brazil-focused evidence</a:t>
            </a:r>
          </a:p>
          <a:p>
            <a:pPr marL="742950" lvl="1" indent="-285750">
              <a:buFont typeface="Courier New" panose="02070309020205020404" pitchFamily="49" charset="0"/>
              <a:buChar char="o"/>
            </a:pPr>
            <a:r>
              <a:rPr lang="en-US" sz="1200" dirty="0">
                <a:solidFill>
                  <a:schemeClr val="tx1"/>
                </a:solidFill>
                <a:latin typeface="+mj-lt"/>
              </a:rPr>
              <a:t>Bond-level panel data</a:t>
            </a:r>
          </a:p>
          <a:p>
            <a:pPr marL="742950" lvl="1" indent="-285750">
              <a:buFont typeface="Courier New" panose="02070309020205020404" pitchFamily="49" charset="0"/>
              <a:buChar char="o"/>
            </a:pPr>
            <a:endParaRPr lang="en-US" sz="1200" dirty="0">
              <a:solidFill>
                <a:schemeClr val="tx1"/>
              </a:solidFill>
              <a:latin typeface="+mj-lt"/>
            </a:endParaRPr>
          </a:p>
          <a:p>
            <a:pPr marL="742950" lvl="1" indent="-285750">
              <a:buFont typeface="Courier New" panose="02070309020205020404" pitchFamily="49" charset="0"/>
              <a:buChar char="o"/>
            </a:pPr>
            <a:endParaRPr lang="en-US" sz="1200" dirty="0">
              <a:solidFill>
                <a:schemeClr val="tx1"/>
              </a:solidFill>
              <a:latin typeface="+mj-lt"/>
            </a:endParaRPr>
          </a:p>
          <a:p>
            <a:pPr marL="285750" lvl="1" indent="-285750">
              <a:buFont typeface="Arial" panose="020B0604020202020204" pitchFamily="34" charset="0"/>
              <a:buChar char="•"/>
            </a:pPr>
            <a:r>
              <a:rPr lang="en-US" sz="1200" dirty="0">
                <a:solidFill>
                  <a:schemeClr val="tx1"/>
                </a:solidFill>
                <a:latin typeface="+mj-lt"/>
              </a:rPr>
              <a:t>Resulting contributions:</a:t>
            </a:r>
          </a:p>
          <a:p>
            <a:pPr marL="742950" lvl="1" indent="-285750">
              <a:buFont typeface="Courier New" panose="02070309020205020404" pitchFamily="49" charset="0"/>
              <a:buChar char="o"/>
            </a:pPr>
            <a:r>
              <a:rPr lang="en-US" sz="1200" dirty="0">
                <a:solidFill>
                  <a:schemeClr val="tx1"/>
                </a:solidFill>
                <a:latin typeface="+mj-lt"/>
              </a:rPr>
              <a:t>Empirical model design</a:t>
            </a:r>
          </a:p>
          <a:p>
            <a:pPr marL="742950" lvl="1" indent="-285750">
              <a:buFont typeface="Courier New" panose="02070309020205020404" pitchFamily="49" charset="0"/>
              <a:buChar char="o"/>
            </a:pPr>
            <a:r>
              <a:rPr lang="en-US" sz="1200" dirty="0">
                <a:solidFill>
                  <a:schemeClr val="tx1"/>
                </a:solidFill>
                <a:latin typeface="+mj-lt"/>
              </a:rPr>
              <a:t>Robustness strategy</a:t>
            </a:r>
          </a:p>
          <a:p>
            <a:pPr marL="742950" lvl="1" indent="-285750">
              <a:buFont typeface="Courier New" panose="02070309020205020404" pitchFamily="49" charset="0"/>
              <a:buChar char="o"/>
            </a:pPr>
            <a:r>
              <a:rPr lang="en-US" sz="1200" dirty="0">
                <a:solidFill>
                  <a:schemeClr val="tx1"/>
                </a:solidFill>
                <a:latin typeface="+mj-lt"/>
              </a:rPr>
              <a:t>Interpretation framework</a:t>
            </a:r>
            <a:endParaRPr lang="pt-BR" sz="1200" dirty="0">
              <a:solidFill>
                <a:schemeClr val="tx1"/>
              </a:solidFill>
              <a:latin typeface="+mj-lt"/>
            </a:endParaRPr>
          </a:p>
        </p:txBody>
      </p:sp>
      <p:sp>
        <p:nvSpPr>
          <p:cNvPr id="32" name="Seta: Pentágono 31">
            <a:extLst>
              <a:ext uri="{FF2B5EF4-FFF2-40B4-BE49-F238E27FC236}">
                <a16:creationId xmlns:a16="http://schemas.microsoft.com/office/drawing/2014/main" id="{B79CCEEA-921C-D3A8-C8D3-90D3F95B2844}"/>
              </a:ext>
            </a:extLst>
          </p:cNvPr>
          <p:cNvSpPr/>
          <p:nvPr/>
        </p:nvSpPr>
        <p:spPr>
          <a:xfrm>
            <a:off x="438248" y="5893647"/>
            <a:ext cx="10534554" cy="755624"/>
          </a:xfrm>
          <a:prstGeom prst="homePlate">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47675"/>
            <a:r>
              <a:rPr lang="pt-BR" sz="1600" b="1" dirty="0">
                <a:solidFill>
                  <a:schemeClr val="tx1"/>
                </a:solidFill>
                <a:latin typeface="+mj-lt"/>
              </a:rPr>
              <a:t>Tools:</a:t>
            </a:r>
            <a:endParaRPr lang="en-US" sz="1600" b="1" dirty="0">
              <a:solidFill>
                <a:schemeClr val="tx1"/>
              </a:solidFill>
              <a:latin typeface="+mj-lt"/>
            </a:endParaRPr>
          </a:p>
        </p:txBody>
      </p:sp>
      <p:sp>
        <p:nvSpPr>
          <p:cNvPr id="33" name="Seta: Pentágono 32">
            <a:extLst>
              <a:ext uri="{FF2B5EF4-FFF2-40B4-BE49-F238E27FC236}">
                <a16:creationId xmlns:a16="http://schemas.microsoft.com/office/drawing/2014/main" id="{ED33288B-F801-0F45-2404-2355096EC7BA}"/>
              </a:ext>
            </a:extLst>
          </p:cNvPr>
          <p:cNvSpPr/>
          <p:nvPr/>
        </p:nvSpPr>
        <p:spPr>
          <a:xfrm>
            <a:off x="438249" y="5066416"/>
            <a:ext cx="10534554" cy="755624"/>
          </a:xfrm>
          <a:prstGeom prst="homePlate">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47675"/>
            <a:r>
              <a:rPr lang="en-US" sz="1600" b="1" dirty="0">
                <a:solidFill>
                  <a:schemeClr val="tx1"/>
                </a:solidFill>
                <a:latin typeface="+mj-lt"/>
              </a:rPr>
              <a:t>Databases in academic research</a:t>
            </a:r>
            <a:r>
              <a:rPr lang="pt-BR" sz="1600" b="1" dirty="0">
                <a:solidFill>
                  <a:schemeClr val="tx1"/>
                </a:solidFill>
                <a:latin typeface="+mj-lt"/>
              </a:rPr>
              <a:t>:</a:t>
            </a:r>
            <a:endParaRPr lang="en-US" sz="1600" b="1" dirty="0">
              <a:solidFill>
                <a:schemeClr val="tx1"/>
              </a:solidFill>
              <a:latin typeface="+mj-lt"/>
            </a:endParaRPr>
          </a:p>
        </p:txBody>
      </p:sp>
      <p:pic>
        <p:nvPicPr>
          <p:cNvPr id="1026" name="Picture 2">
            <a:extLst>
              <a:ext uri="{FF2B5EF4-FFF2-40B4-BE49-F238E27FC236}">
                <a16:creationId xmlns:a16="http://schemas.microsoft.com/office/drawing/2014/main" id="{C7763DA6-6F66-9AA7-EB97-7E94DCF4863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37579" y="5988519"/>
            <a:ext cx="1563438"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bliometrix - bibliometrix">
            <a:extLst>
              <a:ext uri="{FF2B5EF4-FFF2-40B4-BE49-F238E27FC236}">
                <a16:creationId xmlns:a16="http://schemas.microsoft.com/office/drawing/2014/main" id="{FB1BB2D1-257A-6A81-3910-2279712FA7E8}"/>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4035627" y="5988519"/>
            <a:ext cx="479424"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 Office 2021 chega este ano para Windows e macOS - TecMundo">
            <a:extLst>
              <a:ext uri="{FF2B5EF4-FFF2-40B4-BE49-F238E27FC236}">
                <a16:creationId xmlns:a16="http://schemas.microsoft.com/office/drawing/2014/main" id="{987F5A08-54F4-FD42-F8C7-FF62A4C293C6}"/>
              </a:ext>
            </a:extLst>
          </p:cNvPr>
          <p:cNvPicPr>
            <a:picLocks noChangeAspect="1" noChangeArrowheads="1"/>
          </p:cNvPicPr>
          <p:nvPr/>
        </p:nvPicPr>
        <p:blipFill>
          <a:blip r:embed="rId5" cstate="hqprint">
            <a:extLst>
              <a:ext uri="{28A0092B-C50C-407E-A947-70E740481C1C}">
                <a14:useLocalDpi xmlns:a14="http://schemas.microsoft.com/office/drawing/2010/main"/>
              </a:ext>
            </a:extLst>
          </a:blip>
          <a:srcRect/>
          <a:stretch>
            <a:fillRect/>
          </a:stretch>
        </p:blipFill>
        <p:spPr bwMode="auto">
          <a:xfrm>
            <a:off x="6815339" y="5988519"/>
            <a:ext cx="137160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Using Scopus | Macao Polytechnic University Library">
            <a:extLst>
              <a:ext uri="{FF2B5EF4-FFF2-40B4-BE49-F238E27FC236}">
                <a16:creationId xmlns:a16="http://schemas.microsoft.com/office/drawing/2014/main" id="{60030D6A-37BA-5330-C3CB-8A2855509FD7}"/>
              </a:ext>
            </a:extLst>
          </p:cNvPr>
          <p:cNvPicPr>
            <a:picLocks noChangeAspect="1" noChangeArrowheads="1"/>
          </p:cNvPicPr>
          <p:nvPr/>
        </p:nvPicPr>
        <p:blipFill rotWithShape="1">
          <a:blip r:embed="rId6" cstate="hqprint">
            <a:clrChange>
              <a:clrFrom>
                <a:srgbClr val="FFFFFF"/>
              </a:clrFrom>
              <a:clrTo>
                <a:srgbClr val="FFFFFF">
                  <a:alpha val="0"/>
                </a:srgbClr>
              </a:clrTo>
            </a:clrChange>
            <a:extLst>
              <a:ext uri="{28A0092B-C50C-407E-A947-70E740481C1C}">
                <a14:useLocalDpi xmlns:a14="http://schemas.microsoft.com/office/drawing/2010/main"/>
              </a:ext>
            </a:extLst>
          </a:blip>
          <a:srcRect t="24367" b="19364"/>
          <a:stretch/>
        </p:blipFill>
        <p:spPr bwMode="auto">
          <a:xfrm>
            <a:off x="3989710" y="5169499"/>
            <a:ext cx="1564464" cy="54864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loomberg Logo, symbol, meaning, history, PNG, brand">
            <a:extLst>
              <a:ext uri="{FF2B5EF4-FFF2-40B4-BE49-F238E27FC236}">
                <a16:creationId xmlns:a16="http://schemas.microsoft.com/office/drawing/2014/main" id="{CBE49C01-8822-D38D-7317-D2DBEBCD82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01085" y="5169499"/>
            <a:ext cx="975360" cy="5486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logo with blue text&#10;&#10;AI-generated content may be incorrect.">
            <a:extLst>
              <a:ext uri="{FF2B5EF4-FFF2-40B4-BE49-F238E27FC236}">
                <a16:creationId xmlns:a16="http://schemas.microsoft.com/office/drawing/2014/main" id="{BFC544BF-7110-ECCD-0ABF-E728A0B677AE}"/>
              </a:ext>
            </a:extLst>
          </p:cNvPr>
          <p:cNvPicPr>
            <a:picLocks noChangeAspect="1"/>
          </p:cNvPicPr>
          <p:nvPr/>
        </p:nvPicPr>
        <p:blipFill>
          <a:blip r:embed="rId8"/>
          <a:stretch>
            <a:fillRect/>
          </a:stretch>
        </p:blipFill>
        <p:spPr>
          <a:xfrm>
            <a:off x="7023356" y="5169499"/>
            <a:ext cx="900108" cy="548640"/>
          </a:xfrm>
          <a:prstGeom prst="rect">
            <a:avLst/>
          </a:prstGeom>
        </p:spPr>
      </p:pic>
      <p:pic>
        <p:nvPicPr>
          <p:cNvPr id="7" name="Picture 6" descr="A blue and white logo&#10;&#10;AI-generated content may be incorrect.">
            <a:extLst>
              <a:ext uri="{FF2B5EF4-FFF2-40B4-BE49-F238E27FC236}">
                <a16:creationId xmlns:a16="http://schemas.microsoft.com/office/drawing/2014/main" id="{1BD2511C-B9B2-7DA1-55D9-C83C7AEAC66C}"/>
              </a:ext>
            </a:extLst>
          </p:cNvPr>
          <p:cNvPicPr>
            <a:picLocks noChangeAspect="1"/>
          </p:cNvPicPr>
          <p:nvPr/>
        </p:nvPicPr>
        <p:blipFill>
          <a:blip r:embed="rId9"/>
          <a:stretch>
            <a:fillRect/>
          </a:stretch>
        </p:blipFill>
        <p:spPr>
          <a:xfrm>
            <a:off x="8170375" y="5169499"/>
            <a:ext cx="1176372" cy="548640"/>
          </a:xfrm>
          <a:prstGeom prst="rect">
            <a:avLst/>
          </a:prstGeom>
        </p:spPr>
      </p:pic>
      <p:pic>
        <p:nvPicPr>
          <p:cNvPr id="8" name="Picture 7" descr="A logo of a company&#10;&#10;AI-generated content may be incorrect.">
            <a:extLst>
              <a:ext uri="{FF2B5EF4-FFF2-40B4-BE49-F238E27FC236}">
                <a16:creationId xmlns:a16="http://schemas.microsoft.com/office/drawing/2014/main" id="{5A6C4186-5D42-91B5-0A62-A98AF4675674}"/>
              </a:ext>
            </a:extLst>
          </p:cNvPr>
          <p:cNvPicPr>
            <a:picLocks noChangeAspect="1"/>
          </p:cNvPicPr>
          <p:nvPr/>
        </p:nvPicPr>
        <p:blipFill>
          <a:blip r:embed="rId10"/>
          <a:stretch>
            <a:fillRect/>
          </a:stretch>
        </p:blipFill>
        <p:spPr>
          <a:xfrm>
            <a:off x="9593659" y="5169499"/>
            <a:ext cx="836280" cy="548640"/>
          </a:xfrm>
          <a:prstGeom prst="rect">
            <a:avLst/>
          </a:prstGeom>
        </p:spPr>
      </p:pic>
      <p:pic>
        <p:nvPicPr>
          <p:cNvPr id="9" name="Picture 8" descr="A close-up of a word&#10;&#10;AI-generated content may be incorrect.">
            <a:extLst>
              <a:ext uri="{FF2B5EF4-FFF2-40B4-BE49-F238E27FC236}">
                <a16:creationId xmlns:a16="http://schemas.microsoft.com/office/drawing/2014/main" id="{01B88E07-B3A2-0D67-94A3-9E1A235199A7}"/>
              </a:ext>
            </a:extLst>
          </p:cNvPr>
          <p:cNvPicPr>
            <a:picLocks noChangeAspect="1"/>
          </p:cNvPicPr>
          <p:nvPr/>
        </p:nvPicPr>
        <p:blipFill>
          <a:blip r:embed="rId11"/>
          <a:stretch>
            <a:fillRect/>
          </a:stretch>
        </p:blipFill>
        <p:spPr>
          <a:xfrm>
            <a:off x="4749661" y="5988519"/>
            <a:ext cx="1831068" cy="548640"/>
          </a:xfrm>
          <a:prstGeom prst="rect">
            <a:avLst/>
          </a:prstGeom>
        </p:spPr>
      </p:pic>
      <p:pic>
        <p:nvPicPr>
          <p:cNvPr id="10" name="Picture 9" descr="A blue and white logo&#10;&#10;AI-generated content may be incorrect.">
            <a:extLst>
              <a:ext uri="{FF2B5EF4-FFF2-40B4-BE49-F238E27FC236}">
                <a16:creationId xmlns:a16="http://schemas.microsoft.com/office/drawing/2014/main" id="{CCD1D74C-D465-07C1-E1C3-98C33EB2B1D9}"/>
              </a:ext>
            </a:extLst>
          </p:cNvPr>
          <p:cNvPicPr>
            <a:picLocks noChangeAspect="1"/>
          </p:cNvPicPr>
          <p:nvPr/>
        </p:nvPicPr>
        <p:blipFill>
          <a:blip r:embed="rId12"/>
          <a:stretch>
            <a:fillRect/>
          </a:stretch>
        </p:blipFill>
        <p:spPr>
          <a:xfrm>
            <a:off x="8421549" y="5988519"/>
            <a:ext cx="1240974" cy="548640"/>
          </a:xfrm>
          <a:prstGeom prst="rect">
            <a:avLst/>
          </a:prstGeom>
        </p:spPr>
      </p:pic>
      <p:pic>
        <p:nvPicPr>
          <p:cNvPr id="21" name="Picture 20" descr="A logo of a cat&#10;&#10;AI-generated content may be incorrect.">
            <a:extLst>
              <a:ext uri="{FF2B5EF4-FFF2-40B4-BE49-F238E27FC236}">
                <a16:creationId xmlns:a16="http://schemas.microsoft.com/office/drawing/2014/main" id="{E2F2386B-298C-DD8B-7E9C-B5C448EA69A7}"/>
              </a:ext>
            </a:extLst>
          </p:cNvPr>
          <p:cNvPicPr>
            <a:picLocks noChangeAspect="1"/>
          </p:cNvPicPr>
          <p:nvPr/>
        </p:nvPicPr>
        <p:blipFill>
          <a:blip r:embed="rId13"/>
          <a:stretch>
            <a:fillRect/>
          </a:stretch>
        </p:blipFill>
        <p:spPr>
          <a:xfrm>
            <a:off x="9897134" y="5988519"/>
            <a:ext cx="432870" cy="548640"/>
          </a:xfrm>
          <a:prstGeom prst="rect">
            <a:avLst/>
          </a:prstGeom>
        </p:spPr>
      </p:pic>
      <p:pic>
        <p:nvPicPr>
          <p:cNvPr id="5" name="Picture 4">
            <a:extLst>
              <a:ext uri="{FF2B5EF4-FFF2-40B4-BE49-F238E27FC236}">
                <a16:creationId xmlns:a16="http://schemas.microsoft.com/office/drawing/2014/main" id="{A287F6C7-5CA1-9401-53DA-1356927D12EB}"/>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21272"/>
          <a:stretch>
            <a:fillRect/>
          </a:stretch>
        </p:blipFill>
        <p:spPr bwMode="auto">
          <a:xfrm>
            <a:off x="931716" y="4167662"/>
            <a:ext cx="2611726" cy="73333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2D3363E-A50A-2CA3-D103-A0A43EFD0806}"/>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5156" t="27799" r="10570" b="1155"/>
          <a:stretch>
            <a:fillRect/>
          </a:stretch>
        </p:blipFill>
        <p:spPr bwMode="auto">
          <a:xfrm>
            <a:off x="4445606" y="1864962"/>
            <a:ext cx="2710957" cy="111956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extLst>
              <a:ext uri="{FF2B5EF4-FFF2-40B4-BE49-F238E27FC236}">
                <a16:creationId xmlns:a16="http://schemas.microsoft.com/office/drawing/2014/main" id="{A946698A-5178-17D2-8427-58A125E1C469}"/>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33247" t="41053" r="29153" b="9218"/>
          <a:stretch>
            <a:fillRect/>
          </a:stretch>
        </p:blipFill>
        <p:spPr bwMode="auto">
          <a:xfrm>
            <a:off x="1197455" y="1814922"/>
            <a:ext cx="1589709" cy="89339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6">
            <a:extLst>
              <a:ext uri="{FF2B5EF4-FFF2-40B4-BE49-F238E27FC236}">
                <a16:creationId xmlns:a16="http://schemas.microsoft.com/office/drawing/2014/main" id="{5BE9366C-5078-6C9C-0418-AAAB1B2E6202}"/>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Systematic literature review &amp; empirical strategy</a:t>
            </a:r>
          </a:p>
        </p:txBody>
      </p:sp>
    </p:spTree>
    <p:extLst>
      <p:ext uri="{BB962C8B-B14F-4D97-AF65-F5344CB8AC3E}">
        <p14:creationId xmlns:p14="http://schemas.microsoft.com/office/powerpoint/2010/main" val="4173470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506BC-AA91-3A27-68F5-32EA95CEE500}"/>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9D18588A-53C3-57D9-07CD-231A66D41457}"/>
              </a:ext>
            </a:extLst>
          </p:cNvPr>
          <p:cNvSpPr/>
          <p:nvPr/>
        </p:nvSpPr>
        <p:spPr>
          <a:xfrm>
            <a:off x="742926" y="1219180"/>
            <a:ext cx="4998275" cy="251840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A2A273A5-B20C-21D4-EC13-55CD6F16DA39}"/>
              </a:ext>
            </a:extLst>
          </p:cNvPr>
          <p:cNvSpPr/>
          <p:nvPr/>
        </p:nvSpPr>
        <p:spPr>
          <a:xfrm>
            <a:off x="1231371" y="1102465"/>
            <a:ext cx="1087692" cy="2666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Data </a:t>
            </a:r>
            <a:endParaRPr lang="en-US" sz="1800" b="1" i="1" dirty="0">
              <a:solidFill>
                <a:srgbClr val="012EA5"/>
              </a:solidFill>
              <a:latin typeface="+mj-lt"/>
              <a:cs typeface="Times New Roman" panose="02020603050405020304" pitchFamily="18" charset="0"/>
            </a:endParaRPr>
          </a:p>
        </p:txBody>
      </p:sp>
      <p:sp>
        <p:nvSpPr>
          <p:cNvPr id="12" name="TextBox 11">
            <a:extLst>
              <a:ext uri="{FF2B5EF4-FFF2-40B4-BE49-F238E27FC236}">
                <a16:creationId xmlns:a16="http://schemas.microsoft.com/office/drawing/2014/main" id="{396F1A75-8BC4-91AD-BFE8-BF57735A7BB3}"/>
              </a:ext>
            </a:extLst>
          </p:cNvPr>
          <p:cNvSpPr txBox="1"/>
          <p:nvPr/>
        </p:nvSpPr>
        <p:spPr>
          <a:xfrm>
            <a:off x="817732" y="1412589"/>
            <a:ext cx="4923469" cy="2308324"/>
          </a:xfrm>
          <a:prstGeom prst="rect">
            <a:avLst/>
          </a:prstGeom>
          <a:noFill/>
        </p:spPr>
        <p:txBody>
          <a:bodyPr wrap="square">
            <a:spAutoFit/>
          </a:bodyPr>
          <a:lstStyle/>
          <a:p>
            <a:pPr lvl="0"/>
            <a:r>
              <a:rPr lang="en-US" sz="1800" b="1" kern="100" dirty="0">
                <a:effectLst/>
                <a:latin typeface="+mj-lt"/>
                <a:ea typeface="M PLUS 2" pitchFamily="2" charset="-128"/>
                <a:cs typeface="Calibri" panose="020F0502020204030204" pitchFamily="34" charset="0"/>
              </a:rPr>
              <a:t>Sample: </a:t>
            </a:r>
            <a:r>
              <a:rPr lang="en-US" sz="1800" kern="100" dirty="0">
                <a:effectLst/>
                <a:latin typeface="+mj-lt"/>
                <a:ea typeface="M PLUS 2" pitchFamily="2" charset="-128"/>
                <a:cs typeface="Calibri" panose="020F0502020204030204" pitchFamily="34" charset="0"/>
              </a:rPr>
              <a:t>Brazilian non-financial corporate bonds</a:t>
            </a:r>
          </a:p>
          <a:p>
            <a:pPr lvl="0"/>
            <a:r>
              <a:rPr lang="en-US" sz="1800" kern="100" dirty="0">
                <a:effectLst/>
                <a:latin typeface="+mj-lt"/>
                <a:ea typeface="M PLUS 2" pitchFamily="2" charset="-128"/>
                <a:cs typeface="Calibri" panose="020F0502020204030204" pitchFamily="34" charset="0"/>
              </a:rPr>
              <a:t>Currency &amp; indexation: BRL, IPCA-linked only</a:t>
            </a:r>
          </a:p>
          <a:p>
            <a:pPr lvl="0"/>
            <a:r>
              <a:rPr lang="en-US" sz="1800" kern="100" dirty="0">
                <a:effectLst/>
                <a:latin typeface="+mj-lt"/>
                <a:ea typeface="M PLUS 2" pitchFamily="2" charset="-128"/>
                <a:cs typeface="Calibri" panose="020F0502020204030204" pitchFamily="34" charset="0"/>
              </a:rPr>
              <a:t>Period: 2010–2025 (monthly)</a:t>
            </a:r>
          </a:p>
          <a:p>
            <a:pPr lvl="0"/>
            <a:endParaRPr lang="en-US" sz="1800" b="1"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Final sample: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103 bonds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48 issuers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4,229 observations</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C2BA50AD-66C2-7BFC-9E05-BB8CE1F9F976}"/>
              </a:ext>
            </a:extLst>
          </p:cNvPr>
          <p:cNvSpPr/>
          <p:nvPr/>
        </p:nvSpPr>
        <p:spPr>
          <a:xfrm>
            <a:off x="6033356" y="1219180"/>
            <a:ext cx="5559170" cy="251840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0012F978-456D-09CE-7C3F-2BE8ED7A113E}"/>
              </a:ext>
            </a:extLst>
          </p:cNvPr>
          <p:cNvSpPr/>
          <p:nvPr/>
        </p:nvSpPr>
        <p:spPr>
          <a:xfrm>
            <a:off x="6521801" y="1102465"/>
            <a:ext cx="1919990" cy="22650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Market structure </a:t>
            </a:r>
            <a:endParaRPr lang="en-US" sz="1800" b="1" i="1" dirty="0">
              <a:solidFill>
                <a:srgbClr val="012EA5"/>
              </a:solidFill>
              <a:latin typeface="+mj-lt"/>
              <a:cs typeface="Times New Roman" panose="02020603050405020304" pitchFamily="18" charset="0"/>
            </a:endParaRPr>
          </a:p>
        </p:txBody>
      </p:sp>
      <p:sp>
        <p:nvSpPr>
          <p:cNvPr id="18" name="TextBox 17">
            <a:extLst>
              <a:ext uri="{FF2B5EF4-FFF2-40B4-BE49-F238E27FC236}">
                <a16:creationId xmlns:a16="http://schemas.microsoft.com/office/drawing/2014/main" id="{BB92B2CD-B7E1-4654-BC37-AD95CB0C49CC}"/>
              </a:ext>
            </a:extLst>
          </p:cNvPr>
          <p:cNvSpPr txBox="1"/>
          <p:nvPr/>
        </p:nvSpPr>
        <p:spPr>
          <a:xfrm>
            <a:off x="6275400" y="1878215"/>
            <a:ext cx="5183615" cy="1200329"/>
          </a:xfrm>
          <a:prstGeom prst="rect">
            <a:avLst/>
          </a:prstGeom>
          <a:noFill/>
        </p:spPr>
        <p:txBody>
          <a:bodyPr wrap="square">
            <a:spAutoFit/>
          </a:bodyPr>
          <a:lstStyle/>
          <a:p>
            <a:pPr lvl="0"/>
            <a:r>
              <a:rPr lang="en-US" sz="1800" kern="100" dirty="0">
                <a:effectLst/>
                <a:latin typeface="+mj-lt"/>
                <a:ea typeface="M PLUS 2" pitchFamily="2" charset="-128"/>
                <a:cs typeface="Calibri" panose="020F0502020204030204" pitchFamily="34" charset="0"/>
              </a:rPr>
              <a:t>Predominantly OTC (Over-the-Counter) market</a:t>
            </a:r>
          </a:p>
          <a:p>
            <a:pPr lvl="0"/>
            <a:r>
              <a:rPr lang="en-US" sz="1800" kern="100" dirty="0">
                <a:effectLst/>
                <a:latin typeface="+mj-lt"/>
                <a:ea typeface="M PLUS 2" pitchFamily="2" charset="-128"/>
                <a:cs typeface="Calibri" panose="020F0502020204030204" pitchFamily="34" charset="0"/>
              </a:rPr>
              <a:t>No centralized price formation</a:t>
            </a:r>
          </a:p>
          <a:p>
            <a:pPr lvl="0"/>
            <a:r>
              <a:rPr lang="en-US" sz="1800" kern="100" dirty="0">
                <a:effectLst/>
                <a:latin typeface="+mj-lt"/>
                <a:ea typeface="M PLUS 2" pitchFamily="2" charset="-128"/>
                <a:cs typeface="Calibri" panose="020F0502020204030204" pitchFamily="34" charset="0"/>
              </a:rPr>
              <a:t>Prices reported by multiple dealers and institutions</a:t>
            </a:r>
          </a:p>
          <a:p>
            <a:pPr lvl="0"/>
            <a:r>
              <a:rPr lang="en-US" sz="1800" kern="100" dirty="0">
                <a:effectLst/>
                <a:latin typeface="+mj-lt"/>
                <a:ea typeface="M PLUS 2" pitchFamily="2" charset="-128"/>
                <a:cs typeface="Calibri" panose="020F0502020204030204" pitchFamily="34" charset="0"/>
              </a:rPr>
              <a:t>High fragmentation and uneven liquidity</a:t>
            </a:r>
          </a:p>
        </p:txBody>
      </p:sp>
      <p:sp>
        <p:nvSpPr>
          <p:cNvPr id="19" name="Retângulo 12">
            <a:extLst>
              <a:ext uri="{FF2B5EF4-FFF2-40B4-BE49-F238E27FC236}">
                <a16:creationId xmlns:a16="http://schemas.microsoft.com/office/drawing/2014/main" id="{6B1A440C-3AAF-6B63-99E6-CA647B88880F}"/>
              </a:ext>
            </a:extLst>
          </p:cNvPr>
          <p:cNvSpPr/>
          <p:nvPr/>
        </p:nvSpPr>
        <p:spPr>
          <a:xfrm>
            <a:off x="2179674" y="4052957"/>
            <a:ext cx="7469611" cy="216708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765A0156-74F1-884E-6DEB-BAF1C9EAC992}"/>
              </a:ext>
            </a:extLst>
          </p:cNvPr>
          <p:cNvSpPr/>
          <p:nvPr/>
        </p:nvSpPr>
        <p:spPr>
          <a:xfrm>
            <a:off x="2542715" y="3968326"/>
            <a:ext cx="2532779" cy="11671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Data consolidation </a:t>
            </a:r>
            <a:endParaRPr lang="en-US" sz="1800" b="1" i="1" dirty="0">
              <a:solidFill>
                <a:srgbClr val="012EA5"/>
              </a:solidFill>
              <a:latin typeface="+mj-lt"/>
              <a:cs typeface="Times New Roman" panose="02020603050405020304" pitchFamily="18" charset="0"/>
            </a:endParaRPr>
          </a:p>
        </p:txBody>
      </p:sp>
      <p:sp>
        <p:nvSpPr>
          <p:cNvPr id="22" name="TextBox 21">
            <a:extLst>
              <a:ext uri="{FF2B5EF4-FFF2-40B4-BE49-F238E27FC236}">
                <a16:creationId xmlns:a16="http://schemas.microsoft.com/office/drawing/2014/main" id="{0737AE4A-BDF7-DBA8-C67A-6EABE44BEAC2}"/>
              </a:ext>
            </a:extLst>
          </p:cNvPr>
          <p:cNvSpPr txBox="1"/>
          <p:nvPr/>
        </p:nvSpPr>
        <p:spPr>
          <a:xfrm>
            <a:off x="2915886" y="4246366"/>
            <a:ext cx="5653955" cy="1754326"/>
          </a:xfrm>
          <a:prstGeom prst="rect">
            <a:avLst/>
          </a:prstGeom>
          <a:noFill/>
        </p:spPr>
        <p:txBody>
          <a:bodyPr wrap="square">
            <a:spAutoFit/>
          </a:bodyPr>
          <a:lstStyle/>
          <a:p>
            <a:pPr lvl="0"/>
            <a:r>
              <a:rPr lang="en-US" sz="1800" kern="100" dirty="0">
                <a:effectLst/>
                <a:latin typeface="+mj-lt"/>
                <a:ea typeface="M PLUS 2" pitchFamily="2" charset="-128"/>
                <a:cs typeface="Calibri" panose="020F0502020204030204" pitchFamily="34" charset="0"/>
              </a:rPr>
              <a:t>Prices consolidated from up to 28 sources (Bloomberg)</a:t>
            </a:r>
          </a:p>
          <a:p>
            <a:pPr lvl="0"/>
            <a:r>
              <a:rPr lang="en-US" sz="1800" b="1" kern="100" dirty="0">
                <a:effectLst/>
                <a:latin typeface="+mj-lt"/>
                <a:ea typeface="M PLUS 2" pitchFamily="2" charset="-128"/>
                <a:cs typeface="Calibri" panose="020F0502020204030204" pitchFamily="34" charset="0"/>
              </a:rPr>
              <a:t>For each bond–date: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select most reliable and continuous quote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filter outliers and bad prints</a:t>
            </a:r>
          </a:p>
          <a:p>
            <a:pPr lvl="0"/>
            <a:endParaRPr lang="en-US" sz="1800" kern="100" dirty="0">
              <a:latin typeface="+mj-lt"/>
              <a:ea typeface="M PLUS 2" pitchFamily="2" charset="-128"/>
              <a:cs typeface="Calibri" panose="020F0502020204030204" pitchFamily="34" charset="0"/>
            </a:endParaRPr>
          </a:p>
          <a:p>
            <a:pPr lvl="0"/>
            <a:r>
              <a:rPr lang="en-US" sz="1800" kern="100" dirty="0">
                <a:effectLst/>
                <a:latin typeface="+mj-lt"/>
                <a:ea typeface="M PLUS 2" pitchFamily="2" charset="-128"/>
                <a:cs typeface="Calibri" panose="020F0502020204030204" pitchFamily="34" charset="0"/>
              </a:rPr>
              <a:t>Ensures consistent time series for panel estimation</a:t>
            </a:r>
          </a:p>
        </p:txBody>
      </p:sp>
      <p:sp>
        <p:nvSpPr>
          <p:cNvPr id="26" name="TextBox 25">
            <a:extLst>
              <a:ext uri="{FF2B5EF4-FFF2-40B4-BE49-F238E27FC236}">
                <a16:creationId xmlns:a16="http://schemas.microsoft.com/office/drawing/2014/main" id="{3B4B50F9-1E25-6908-7C74-767177A03AAB}"/>
              </a:ext>
            </a:extLst>
          </p:cNvPr>
          <p:cNvSpPr txBox="1"/>
          <p:nvPr/>
        </p:nvSpPr>
        <p:spPr>
          <a:xfrm>
            <a:off x="179400" y="6450740"/>
            <a:ext cx="6096000" cy="307777"/>
          </a:xfrm>
          <a:prstGeom prst="rect">
            <a:avLst/>
          </a:prstGeom>
          <a:noFill/>
        </p:spPr>
        <p:txBody>
          <a:bodyPr wrap="square">
            <a:spAutoFit/>
          </a:bodyPr>
          <a:lstStyle/>
          <a:p>
            <a:r>
              <a:rPr lang="en-US" dirty="0">
                <a:latin typeface="+mj-lt"/>
              </a:rPr>
              <a:t>(Sources: Bloomberg, B3, ANBIMA, Central Bank of Brazil)</a:t>
            </a:r>
          </a:p>
        </p:txBody>
      </p:sp>
      <p:sp>
        <p:nvSpPr>
          <p:cNvPr id="3" name="TextBox 6">
            <a:extLst>
              <a:ext uri="{FF2B5EF4-FFF2-40B4-BE49-F238E27FC236}">
                <a16:creationId xmlns:a16="http://schemas.microsoft.com/office/drawing/2014/main" id="{C4A2F7D3-0FB0-63B9-6AB1-90D449CE8DA4}"/>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1: Data &amp; market structure</a:t>
            </a:r>
          </a:p>
        </p:txBody>
      </p:sp>
    </p:spTree>
    <p:extLst>
      <p:ext uri="{BB962C8B-B14F-4D97-AF65-F5344CB8AC3E}">
        <p14:creationId xmlns:p14="http://schemas.microsoft.com/office/powerpoint/2010/main" val="694122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812B-1206-19C7-A440-1E3419F24E61}"/>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A1CB6228-F92B-F656-A39E-513624323D39}"/>
              </a:ext>
            </a:extLst>
          </p:cNvPr>
          <p:cNvSpPr/>
          <p:nvPr/>
        </p:nvSpPr>
        <p:spPr>
          <a:xfrm>
            <a:off x="514794" y="1061290"/>
            <a:ext cx="5534684" cy="145786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BB1541BB-4B70-A980-5528-944DB3C6DB55}"/>
              </a:ext>
            </a:extLst>
          </p:cNvPr>
          <p:cNvSpPr/>
          <p:nvPr/>
        </p:nvSpPr>
        <p:spPr>
          <a:xfrm>
            <a:off x="923027" y="976660"/>
            <a:ext cx="2438395" cy="2666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Corporate bond spread</a:t>
            </a:r>
          </a:p>
          <a:p>
            <a:pPr algn="ctr"/>
            <a:r>
              <a:rPr lang="pt-BR" sz="1800" b="1" i="1" dirty="0">
                <a:solidFill>
                  <a:srgbClr val="012EA5"/>
                </a:solidFill>
                <a:latin typeface="+mj-lt"/>
                <a:cs typeface="Times New Roman" panose="02020603050405020304" pitchFamily="18" charset="0"/>
              </a:rPr>
              <a:t> </a:t>
            </a:r>
            <a:endParaRPr lang="en-US" sz="1800" b="1" i="1" dirty="0">
              <a:solidFill>
                <a:srgbClr val="012EA5"/>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A869805-68D2-80BC-579A-421CA77B3025}"/>
                  </a:ext>
                </a:extLst>
              </p:cNvPr>
              <p:cNvSpPr txBox="1"/>
              <p:nvPr/>
            </p:nvSpPr>
            <p:spPr>
              <a:xfrm>
                <a:off x="509389" y="1169449"/>
                <a:ext cx="5197543" cy="12197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b="1" i="1">
                              <a:latin typeface="Cambria Math" panose="02040503050406030204" pitchFamily="18" charset="0"/>
                            </a:rPr>
                          </m:ctrlPr>
                        </m:sSubPr>
                        <m:e>
                          <m:r>
                            <m:rPr>
                              <m:nor/>
                            </m:rPr>
                            <a:rPr lang="en-US" sz="1800" b="1">
                              <a:latin typeface="+mj-lt"/>
                            </a:rPr>
                            <m:t>Spread</m:t>
                          </m:r>
                        </m:e>
                        <m:sub>
                          <m:r>
                            <a:rPr lang="ar-AE" sz="1800" b="1" i="1">
                              <a:latin typeface="Cambria Math" panose="02040503050406030204" pitchFamily="18" charset="0"/>
                            </a:rPr>
                            <m:t>𝒊</m:t>
                          </m:r>
                          <m:r>
                            <a:rPr lang="ar-AE" sz="1800" b="1">
                              <a:latin typeface="Cambria Math" panose="02040503050406030204" pitchFamily="18" charset="0"/>
                            </a:rPr>
                            <m:t>,</m:t>
                          </m:r>
                          <m:r>
                            <a:rPr lang="ar-AE" sz="1800" b="1" i="1">
                              <a:latin typeface="Cambria Math" panose="02040503050406030204" pitchFamily="18" charset="0"/>
                            </a:rPr>
                            <m:t>𝒕</m:t>
                          </m:r>
                        </m:sub>
                      </m:sSub>
                      <m:r>
                        <a:rPr lang="ar-AE" sz="1800" b="1">
                          <a:latin typeface="Cambria Math" panose="02040503050406030204" pitchFamily="18" charset="0"/>
                        </a:rPr>
                        <m:t>=</m:t>
                      </m:r>
                      <m:r>
                        <a:rPr lang="ar-AE" sz="1800" b="1" i="1">
                          <a:latin typeface="Cambria Math" panose="02040503050406030204" pitchFamily="18" charset="0"/>
                        </a:rPr>
                        <m:t>𝒀𝑻</m:t>
                      </m:r>
                      <m:sSub>
                        <m:sSubPr>
                          <m:ctrlPr>
                            <a:rPr lang="ar-AE" sz="1800" b="1" i="1">
                              <a:latin typeface="Cambria Math" panose="02040503050406030204" pitchFamily="18" charset="0"/>
                            </a:rPr>
                          </m:ctrlPr>
                        </m:sSubPr>
                        <m:e>
                          <m:r>
                            <a:rPr lang="ar-AE" sz="1800" b="1" i="1">
                              <a:latin typeface="Cambria Math" panose="02040503050406030204" pitchFamily="18" charset="0"/>
                            </a:rPr>
                            <m:t>𝑴</m:t>
                          </m:r>
                        </m:e>
                        <m:sub>
                          <m:r>
                            <a:rPr lang="ar-AE" sz="1800" b="1" i="1">
                              <a:latin typeface="Cambria Math" panose="02040503050406030204" pitchFamily="18" charset="0"/>
                            </a:rPr>
                            <m:t>𝒊</m:t>
                          </m:r>
                          <m:r>
                            <a:rPr lang="ar-AE" sz="1800" b="1">
                              <a:latin typeface="Cambria Math" panose="02040503050406030204" pitchFamily="18" charset="0"/>
                            </a:rPr>
                            <m:t>,</m:t>
                          </m:r>
                          <m:r>
                            <a:rPr lang="ar-AE" sz="1800" b="1" i="1">
                              <a:latin typeface="Cambria Math" panose="02040503050406030204" pitchFamily="18" charset="0"/>
                            </a:rPr>
                            <m:t>𝒕</m:t>
                          </m:r>
                        </m:sub>
                      </m:sSub>
                      <m:r>
                        <a:rPr lang="ar-AE" sz="1800" b="1">
                          <a:latin typeface="Cambria Math" panose="02040503050406030204" pitchFamily="18" charset="0"/>
                        </a:rPr>
                        <m:t>−</m:t>
                      </m:r>
                      <m:sSup>
                        <m:sSupPr>
                          <m:ctrlPr>
                            <a:rPr lang="ar-AE" sz="1800" b="1" i="1">
                              <a:latin typeface="Cambria Math" panose="02040503050406030204" pitchFamily="18" charset="0"/>
                            </a:rPr>
                          </m:ctrlPr>
                        </m:sSupPr>
                        <m:e>
                          <m:r>
                            <a:rPr lang="ar-AE" sz="1800" b="1" i="1">
                              <a:latin typeface="Cambria Math" panose="02040503050406030204" pitchFamily="18" charset="0"/>
                            </a:rPr>
                            <m:t>𝒚</m:t>
                          </m:r>
                        </m:e>
                        <m:sup>
                          <m:r>
                            <a:rPr lang="ar-AE" sz="1800" b="1" i="1">
                              <a:latin typeface="Cambria Math" panose="02040503050406030204" pitchFamily="18" charset="0"/>
                            </a:rPr>
                            <m:t>𝑰𝑷𝑪𝑨</m:t>
                          </m:r>
                        </m:sup>
                      </m:sSup>
                      <m:d>
                        <m:dPr>
                          <m:sepChr m:val=","/>
                          <m:ctrlPr>
                            <a:rPr lang="ar-AE" sz="1800" b="1" i="1">
                              <a:latin typeface="Cambria Math" panose="02040503050406030204" pitchFamily="18" charset="0"/>
                            </a:rPr>
                          </m:ctrlPr>
                        </m:dPr>
                        <m:e>
                          <m:r>
                            <a:rPr lang="ar-AE" sz="1800" b="1" i="1">
                              <a:latin typeface="Cambria Math" panose="02040503050406030204" pitchFamily="18" charset="0"/>
                            </a:rPr>
                            <m:t>𝒕</m:t>
                          </m:r>
                        </m:e>
                        <m:e>
                          <m:sSub>
                            <m:sSubPr>
                              <m:ctrlPr>
                                <a:rPr lang="ar-AE" sz="1800" b="1" i="1">
                                  <a:latin typeface="Cambria Math" panose="02040503050406030204" pitchFamily="18" charset="0"/>
                                </a:rPr>
                              </m:ctrlPr>
                            </m:sSubPr>
                            <m:e>
                              <m:r>
                                <a:rPr lang="ar-AE" sz="1800" b="1" i="1">
                                  <a:latin typeface="Cambria Math" panose="02040503050406030204" pitchFamily="18" charset="0"/>
                                </a:rPr>
                                <m:t>𝝉</m:t>
                              </m:r>
                            </m:e>
                            <m:sub>
                              <m:r>
                                <a:rPr lang="ar-AE" sz="1800" b="1" i="1">
                                  <a:latin typeface="Cambria Math" panose="02040503050406030204" pitchFamily="18" charset="0"/>
                                </a:rPr>
                                <m:t>𝒊</m:t>
                              </m:r>
                            </m:sub>
                          </m:sSub>
                        </m:e>
                      </m:d>
                    </m:oMath>
                  </m:oMathPara>
                </a14:m>
                <a:endParaRPr lang="en-US" sz="1800" b="1" dirty="0">
                  <a:latin typeface="+mj-lt"/>
                </a:endParaRPr>
              </a:p>
              <a:p>
                <a:endParaRPr lang="ar-AE" sz="1800" b="1" dirty="0">
                  <a:latin typeface="+mj-lt"/>
                </a:endParaRPr>
              </a:p>
              <a:p>
                <a:pPr marL="285750" indent="-285750">
                  <a:buFont typeface="Arial" panose="020B0604020202020204" pitchFamily="34" charset="0"/>
                  <a:buChar char="•"/>
                </a:pPr>
                <a:r>
                  <a:rPr lang="en-US" sz="1800" dirty="0">
                    <a:latin typeface="+mj-lt"/>
                  </a:rPr>
                  <a:t>Measures the </a:t>
                </a:r>
                <a:r>
                  <a:rPr lang="en-US" sz="1800" b="1" dirty="0">
                    <a:latin typeface="+mj-lt"/>
                  </a:rPr>
                  <a:t>real cost of corporate financing</a:t>
                </a:r>
                <a:endParaRPr lang="en-US" sz="1800" dirty="0">
                  <a:latin typeface="+mj-lt"/>
                </a:endParaRPr>
              </a:p>
              <a:p>
                <a:pPr marL="285750" indent="-285750">
                  <a:buFont typeface="Arial" panose="020B0604020202020204" pitchFamily="34" charset="0"/>
                  <a:buChar char="•"/>
                </a:pPr>
                <a:r>
                  <a:rPr lang="en-US" sz="1800" dirty="0">
                    <a:latin typeface="+mj-lt"/>
                  </a:rPr>
                  <a:t>Focus on </a:t>
                </a:r>
                <a:r>
                  <a:rPr lang="en-US" sz="1800" b="1" dirty="0">
                    <a:latin typeface="+mj-lt"/>
                  </a:rPr>
                  <a:t>IPCA-linked bonds</a:t>
                </a:r>
                <a:r>
                  <a:rPr lang="en-US" sz="1800" dirty="0">
                    <a:latin typeface="+mj-lt"/>
                  </a:rPr>
                  <a:t> to isolate real risk</a:t>
                </a:r>
              </a:p>
            </p:txBody>
          </p:sp>
        </mc:Choice>
        <mc:Fallback xmlns="">
          <p:sp>
            <p:nvSpPr>
              <p:cNvPr id="12" name="TextBox 11">
                <a:extLst>
                  <a:ext uri="{FF2B5EF4-FFF2-40B4-BE49-F238E27FC236}">
                    <a16:creationId xmlns:a16="http://schemas.microsoft.com/office/drawing/2014/main" id="{5A869805-68D2-80BC-579A-421CA77B3025}"/>
                  </a:ext>
                </a:extLst>
              </p:cNvPr>
              <p:cNvSpPr txBox="1">
                <a:spLocks noRot="1" noChangeAspect="1" noMove="1" noResize="1" noEditPoints="1" noAdjustHandles="1" noChangeArrowheads="1" noChangeShapeType="1" noTextEdit="1"/>
              </p:cNvSpPr>
              <p:nvPr/>
            </p:nvSpPr>
            <p:spPr>
              <a:xfrm>
                <a:off x="509389" y="1169449"/>
                <a:ext cx="5197543" cy="1219757"/>
              </a:xfrm>
              <a:prstGeom prst="rect">
                <a:avLst/>
              </a:prstGeom>
              <a:blipFill>
                <a:blip r:embed="rId5"/>
                <a:stretch>
                  <a:fillRect l="-822" b="-7500"/>
                </a:stretch>
              </a:blipFill>
            </p:spPr>
            <p:txBody>
              <a:bodyPr/>
              <a:lstStyle/>
              <a:p>
                <a:r>
                  <a:rPr lang="en-US">
                    <a:noFill/>
                  </a:rPr>
                  <a:t> </a:t>
                </a:r>
              </a:p>
            </p:txBody>
          </p:sp>
        </mc:Fallback>
      </mc:AlternateContent>
      <p:sp>
        <p:nvSpPr>
          <p:cNvPr id="15" name="Retângulo 12">
            <a:extLst>
              <a:ext uri="{FF2B5EF4-FFF2-40B4-BE49-F238E27FC236}">
                <a16:creationId xmlns:a16="http://schemas.microsoft.com/office/drawing/2014/main" id="{FD9D4FE5-D97D-7CB4-2194-C5C8A0C24512}"/>
              </a:ext>
            </a:extLst>
          </p:cNvPr>
          <p:cNvSpPr/>
          <p:nvPr/>
        </p:nvSpPr>
        <p:spPr>
          <a:xfrm>
            <a:off x="6500305" y="1061290"/>
            <a:ext cx="5161663" cy="521192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100BAE62-A11D-5A4D-83B1-81F56B52E3B0}"/>
              </a:ext>
            </a:extLst>
          </p:cNvPr>
          <p:cNvSpPr/>
          <p:nvPr/>
        </p:nvSpPr>
        <p:spPr>
          <a:xfrm>
            <a:off x="6882664" y="976660"/>
            <a:ext cx="2637724" cy="116132"/>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Real risk-free curve (IPCA)</a:t>
            </a:r>
            <a:endParaRPr lang="en-US" sz="1800" b="1" i="1" dirty="0">
              <a:solidFill>
                <a:srgbClr val="012EA5"/>
              </a:solidFill>
              <a:latin typeface="+mj-lt"/>
              <a:cs typeface="Times New Roman" panose="02020603050405020304" pitchFamily="18" charset="0"/>
            </a:endParaRPr>
          </a:p>
        </p:txBody>
      </p:sp>
      <p:sp>
        <p:nvSpPr>
          <p:cNvPr id="18" name="TextBox 17">
            <a:extLst>
              <a:ext uri="{FF2B5EF4-FFF2-40B4-BE49-F238E27FC236}">
                <a16:creationId xmlns:a16="http://schemas.microsoft.com/office/drawing/2014/main" id="{4416FBFF-9177-DBD1-32F3-DF8753B2A853}"/>
              </a:ext>
            </a:extLst>
          </p:cNvPr>
          <p:cNvSpPr txBox="1"/>
          <p:nvPr/>
        </p:nvSpPr>
        <p:spPr>
          <a:xfrm>
            <a:off x="6663138" y="1420843"/>
            <a:ext cx="4834279" cy="4524315"/>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0–5 years: </a:t>
            </a:r>
            <a:r>
              <a:rPr lang="en-US" sz="1800" kern="100" dirty="0">
                <a:effectLst/>
                <a:latin typeface="+mj-lt"/>
                <a:ea typeface="M PLUS 2" pitchFamily="2" charset="-128"/>
                <a:cs typeface="Calibri" panose="020F0502020204030204" pitchFamily="34" charset="0"/>
              </a:rPr>
              <a:t>WLA Index (DI × IPCA futures)</a:t>
            </a: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lvl="0"/>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endParaRPr lang="en-US" sz="1800" b="1" kern="100" dirty="0">
              <a:effectLst/>
              <a:latin typeface="+mj-lt"/>
              <a:ea typeface="M PLUS 2" pitchFamily="2" charset="-128"/>
              <a:cs typeface="Calibri" panose="020F0502020204030204" pitchFamily="34" charset="0"/>
            </a:endParaRP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5–15 years: </a:t>
            </a:r>
            <a:r>
              <a:rPr lang="en-US" sz="1800" kern="100" dirty="0">
                <a:effectLst/>
                <a:latin typeface="+mj-lt"/>
                <a:ea typeface="M PLUS 2" pitchFamily="2" charset="-128"/>
                <a:cs typeface="Calibri" panose="020F0502020204030204" pitchFamily="34" charset="0"/>
              </a:rPr>
              <a:t>NTN-B sovereign bonds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Curve extended using Nelson–Siegel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Smooth matching at 5-year tenor</a:t>
            </a:r>
          </a:p>
        </p:txBody>
      </p:sp>
      <p:sp>
        <p:nvSpPr>
          <p:cNvPr id="19" name="Retângulo 12">
            <a:extLst>
              <a:ext uri="{FF2B5EF4-FFF2-40B4-BE49-F238E27FC236}">
                <a16:creationId xmlns:a16="http://schemas.microsoft.com/office/drawing/2014/main" id="{18BB0454-63BE-05CC-D9AA-0FBFC88CD998}"/>
              </a:ext>
            </a:extLst>
          </p:cNvPr>
          <p:cNvSpPr/>
          <p:nvPr/>
        </p:nvSpPr>
        <p:spPr>
          <a:xfrm>
            <a:off x="509390" y="2851488"/>
            <a:ext cx="5558584" cy="342172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CBA0DF53-83CB-D14E-7B7F-5D505455C482}"/>
              </a:ext>
            </a:extLst>
          </p:cNvPr>
          <p:cNvSpPr/>
          <p:nvPr/>
        </p:nvSpPr>
        <p:spPr>
          <a:xfrm>
            <a:off x="997834" y="2766857"/>
            <a:ext cx="2574156" cy="11138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Key explanatory variables </a:t>
            </a:r>
            <a:endParaRPr lang="en-US" sz="1800" b="1" i="1" dirty="0">
              <a:solidFill>
                <a:srgbClr val="012EA5"/>
              </a:solidFill>
              <a:latin typeface="+mj-lt"/>
              <a:cs typeface="Times New Roman" panose="02020603050405020304" pitchFamily="18" charset="0"/>
            </a:endParaRPr>
          </a:p>
        </p:txBody>
      </p:sp>
      <p:sp>
        <p:nvSpPr>
          <p:cNvPr id="22" name="TextBox 21">
            <a:extLst>
              <a:ext uri="{FF2B5EF4-FFF2-40B4-BE49-F238E27FC236}">
                <a16:creationId xmlns:a16="http://schemas.microsoft.com/office/drawing/2014/main" id="{CE70F398-DB64-5CC6-AC4E-B1A68AEB411A}"/>
              </a:ext>
            </a:extLst>
          </p:cNvPr>
          <p:cNvSpPr txBox="1"/>
          <p:nvPr/>
        </p:nvSpPr>
        <p:spPr>
          <a:xfrm>
            <a:off x="530032" y="3045187"/>
            <a:ext cx="5602112" cy="3139321"/>
          </a:xfrm>
          <a:prstGeom prst="rect">
            <a:avLst/>
          </a:prstGeom>
          <a:noFill/>
        </p:spPr>
        <p:txBody>
          <a:bodyPr wrap="square">
            <a:spAutoFit/>
          </a:bodyPr>
          <a:lstStyle/>
          <a:p>
            <a:pPr lvl="0"/>
            <a:r>
              <a:rPr lang="en-US" sz="1800" b="1" kern="100" dirty="0">
                <a:effectLst/>
                <a:latin typeface="+mj-lt"/>
                <a:ea typeface="M PLUS 2" pitchFamily="2" charset="-128"/>
                <a:cs typeface="Calibri" panose="020F0502020204030204" pitchFamily="34" charset="0"/>
              </a:rPr>
              <a:t>Global factors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VIX (global risk appetite)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Fed 3M Forward (international monetary cycle)</a:t>
            </a:r>
            <a:endParaRPr lang="en-US" sz="1800"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Sovereign &amp; local macro</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Synthetic CDS BRL(sovereign risk in local currency)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USD/BRL ( balance-sheet &amp; risk perception channel)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GDP YoY (real activity &amp; default expectations)</a:t>
            </a:r>
            <a:endParaRPr lang="en-US" sz="1800" b="1" kern="100" dirty="0">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Firm / bond characteristics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Issue size / assets (liquidity)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Leverage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Time to maturity</a:t>
            </a:r>
          </a:p>
        </p:txBody>
      </p:sp>
      <p:pic>
        <p:nvPicPr>
          <p:cNvPr id="9" name="Google Shape;176;p26">
            <a:extLst>
              <a:ext uri="{FF2B5EF4-FFF2-40B4-BE49-F238E27FC236}">
                <a16:creationId xmlns:a16="http://schemas.microsoft.com/office/drawing/2014/main" id="{FD710DC7-202B-6E0D-92B4-CEF7A98011A0}"/>
              </a:ext>
            </a:extLst>
          </p:cNvPr>
          <p:cNvPicPr preferRelativeResize="0"/>
          <p:nvPr/>
        </p:nvPicPr>
        <p:blipFill>
          <a:blip r:embed="rId6">
            <a:clrChange>
              <a:clrFrom>
                <a:srgbClr val="FFFFFF"/>
              </a:clrFrom>
              <a:clrTo>
                <a:srgbClr val="FFFFFF">
                  <a:alpha val="0"/>
                </a:srgbClr>
              </a:clrTo>
            </a:clrChange>
            <a:alphaModFix/>
          </a:blip>
          <a:stretch>
            <a:fillRect/>
          </a:stretch>
        </p:blipFill>
        <p:spPr>
          <a:xfrm>
            <a:off x="6879304" y="1873825"/>
            <a:ext cx="4618114" cy="2990046"/>
          </a:xfrm>
          <a:prstGeom prst="rect">
            <a:avLst/>
          </a:prstGeom>
          <a:noFill/>
          <a:ln>
            <a:noFill/>
          </a:ln>
        </p:spPr>
      </p:pic>
      <p:sp>
        <p:nvSpPr>
          <p:cNvPr id="3" name="TextBox 6">
            <a:extLst>
              <a:ext uri="{FF2B5EF4-FFF2-40B4-BE49-F238E27FC236}">
                <a16:creationId xmlns:a16="http://schemas.microsoft.com/office/drawing/2014/main" id="{0A30EB31-8E6B-7707-72B1-1F22248B21F5}"/>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2: Spread construction / variables</a:t>
            </a:r>
          </a:p>
        </p:txBody>
      </p:sp>
      <p:sp>
        <p:nvSpPr>
          <p:cNvPr id="5" name="TextBox 4">
            <a:extLst>
              <a:ext uri="{FF2B5EF4-FFF2-40B4-BE49-F238E27FC236}">
                <a16:creationId xmlns:a16="http://schemas.microsoft.com/office/drawing/2014/main" id="{406C0F0B-31FF-4062-8991-3303A2E40E12}"/>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Detailed construction in Technical Appendix)</a:t>
            </a:r>
          </a:p>
        </p:txBody>
      </p:sp>
    </p:spTree>
    <p:extLst>
      <p:ext uri="{BB962C8B-B14F-4D97-AF65-F5344CB8AC3E}">
        <p14:creationId xmlns:p14="http://schemas.microsoft.com/office/powerpoint/2010/main" val="3780547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18A5-2AF4-8FEF-2B84-3419806A671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6FCF5670-EAB5-E49C-4F20-E8B07D312432}"/>
              </a:ext>
            </a:extLst>
          </p:cNvPr>
          <p:cNvSpPr/>
          <p:nvPr/>
        </p:nvSpPr>
        <p:spPr>
          <a:xfrm>
            <a:off x="179401" y="1061465"/>
            <a:ext cx="5628768" cy="391175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1D7B7758-6EE8-7E48-0F4C-45C3EF1D254D}"/>
              </a:ext>
            </a:extLst>
          </p:cNvPr>
          <p:cNvSpPr/>
          <p:nvPr/>
        </p:nvSpPr>
        <p:spPr>
          <a:xfrm>
            <a:off x="633283" y="965336"/>
            <a:ext cx="2050923" cy="143541"/>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Model decision tree </a:t>
            </a:r>
            <a:endParaRPr lang="en-US" sz="1800" b="1" i="1" dirty="0">
              <a:solidFill>
                <a:srgbClr val="012EA5"/>
              </a:solidFill>
              <a:latin typeface="+mj-lt"/>
              <a:cs typeface="Times New Roman" panose="02020603050405020304" pitchFamily="18" charset="0"/>
            </a:endParaRPr>
          </a:p>
        </p:txBody>
      </p:sp>
      <p:sp>
        <p:nvSpPr>
          <p:cNvPr id="15" name="Retângulo 12">
            <a:extLst>
              <a:ext uri="{FF2B5EF4-FFF2-40B4-BE49-F238E27FC236}">
                <a16:creationId xmlns:a16="http://schemas.microsoft.com/office/drawing/2014/main" id="{E5812D7A-7809-8F03-2576-E410378E1212}"/>
              </a:ext>
            </a:extLst>
          </p:cNvPr>
          <p:cNvSpPr/>
          <p:nvPr/>
        </p:nvSpPr>
        <p:spPr>
          <a:xfrm>
            <a:off x="5982781" y="2428569"/>
            <a:ext cx="6096000" cy="429619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326D4A61-3F4C-6B9F-13E8-600211E7B786}"/>
              </a:ext>
            </a:extLst>
          </p:cNvPr>
          <p:cNvSpPr/>
          <p:nvPr/>
        </p:nvSpPr>
        <p:spPr>
          <a:xfrm>
            <a:off x="6275400" y="2341552"/>
            <a:ext cx="1961872" cy="17403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Stationarity check</a:t>
            </a:r>
          </a:p>
        </p:txBody>
      </p:sp>
      <p:sp>
        <p:nvSpPr>
          <p:cNvPr id="3" name="TextBox 6">
            <a:extLst>
              <a:ext uri="{FF2B5EF4-FFF2-40B4-BE49-F238E27FC236}">
                <a16:creationId xmlns:a16="http://schemas.microsoft.com/office/drawing/2014/main" id="{63AB69DD-96DF-5674-73C0-444AC830CAD9}"/>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Methodology (FE + why not dynamic)</a:t>
            </a:r>
          </a:p>
        </p:txBody>
      </p:sp>
      <p:pic>
        <p:nvPicPr>
          <p:cNvPr id="7" name="Picture 6">
            <a:extLst>
              <a:ext uri="{FF2B5EF4-FFF2-40B4-BE49-F238E27FC236}">
                <a16:creationId xmlns:a16="http://schemas.microsoft.com/office/drawing/2014/main" id="{84CD3DAE-72F0-5256-6CAD-F8F908D88CFF}"/>
              </a:ext>
            </a:extLst>
          </p:cNvPr>
          <p:cNvPicPr>
            <a:picLocks noChangeAspect="1"/>
          </p:cNvPicPr>
          <p:nvPr/>
        </p:nvPicPr>
        <p:blipFill>
          <a:blip r:embed="rId3"/>
          <a:stretch>
            <a:fillRect/>
          </a:stretch>
        </p:blipFill>
        <p:spPr>
          <a:xfrm>
            <a:off x="317456" y="1266986"/>
            <a:ext cx="5404918" cy="3706230"/>
          </a:xfrm>
          <a:prstGeom prst="rect">
            <a:avLst/>
          </a:prstGeom>
        </p:spPr>
      </p:pic>
      <p:pic>
        <p:nvPicPr>
          <p:cNvPr id="9" name="Picture 8">
            <a:extLst>
              <a:ext uri="{FF2B5EF4-FFF2-40B4-BE49-F238E27FC236}">
                <a16:creationId xmlns:a16="http://schemas.microsoft.com/office/drawing/2014/main" id="{6127AA24-E9A5-C3EC-9005-3A5F97535A50}"/>
              </a:ext>
            </a:extLst>
          </p:cNvPr>
          <p:cNvPicPr>
            <a:picLocks noChangeAspect="1"/>
          </p:cNvPicPr>
          <p:nvPr/>
        </p:nvPicPr>
        <p:blipFill>
          <a:blip r:embed="rId4"/>
          <a:stretch>
            <a:fillRect/>
          </a:stretch>
        </p:blipFill>
        <p:spPr>
          <a:xfrm>
            <a:off x="6413454" y="2569784"/>
            <a:ext cx="5490715" cy="4034844"/>
          </a:xfrm>
          <a:prstGeom prst="rect">
            <a:avLst/>
          </a:prstGeom>
        </p:spPr>
      </p:pic>
    </p:spTree>
    <p:extLst>
      <p:ext uri="{BB962C8B-B14F-4D97-AF65-F5344CB8AC3E}">
        <p14:creationId xmlns:p14="http://schemas.microsoft.com/office/powerpoint/2010/main" val="216448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9D4C-C574-1708-1335-BC6097FB5E0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6FA9A552-DA59-C8A0-F9FE-4463C8FCCF95}"/>
              </a:ext>
            </a:extLst>
          </p:cNvPr>
          <p:cNvSpPr/>
          <p:nvPr/>
        </p:nvSpPr>
        <p:spPr>
          <a:xfrm>
            <a:off x="477114" y="1272071"/>
            <a:ext cx="3775910" cy="240093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32A9F22F-4550-61DA-F778-3190667C6176}"/>
              </a:ext>
            </a:extLst>
          </p:cNvPr>
          <p:cNvSpPr/>
          <p:nvPr/>
        </p:nvSpPr>
        <p:spPr>
          <a:xfrm>
            <a:off x="748383" y="1187441"/>
            <a:ext cx="2810968" cy="12755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pt-BR" sz="1800" b="1" i="1" dirty="0">
                <a:solidFill>
                  <a:srgbClr val="012EA5"/>
                </a:solidFill>
                <a:latin typeface="+mj-lt"/>
                <a:cs typeface="Times New Roman" panose="02020603050405020304" pitchFamily="18" charset="0"/>
              </a:rPr>
              <a:t>Baseline econometric model </a:t>
            </a:r>
            <a:endParaRPr lang="en-US" sz="1800" b="1" i="1" dirty="0">
              <a:solidFill>
                <a:srgbClr val="012EA5"/>
              </a:solidFill>
              <a:latin typeface="+mj-lt"/>
              <a:cs typeface="Times New Roman" panose="02020603050405020304" pitchFamily="18" charset="0"/>
            </a:endParaRPr>
          </a:p>
        </p:txBody>
      </p:sp>
      <p:sp>
        <p:nvSpPr>
          <p:cNvPr id="12" name="TextBox 11">
            <a:extLst>
              <a:ext uri="{FF2B5EF4-FFF2-40B4-BE49-F238E27FC236}">
                <a16:creationId xmlns:a16="http://schemas.microsoft.com/office/drawing/2014/main" id="{A80BFBDA-D18E-4C5C-2FE4-FB970DA513E4}"/>
              </a:ext>
            </a:extLst>
          </p:cNvPr>
          <p:cNvSpPr txBox="1"/>
          <p:nvPr/>
        </p:nvSpPr>
        <p:spPr>
          <a:xfrm>
            <a:off x="748383" y="1606330"/>
            <a:ext cx="3063150" cy="1477328"/>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Static panel data model with bond fixed effects (FE)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Monthly bond-level panel, 2010–2025</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Errors clustered by issuer</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076AB644-0A2A-FB13-140D-7F2984B9FD1A}"/>
              </a:ext>
            </a:extLst>
          </p:cNvPr>
          <p:cNvSpPr/>
          <p:nvPr/>
        </p:nvSpPr>
        <p:spPr>
          <a:xfrm>
            <a:off x="4582412" y="1312177"/>
            <a:ext cx="6946265" cy="236082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3A76FB70-5A68-A09A-41E8-C2D03F88C274}"/>
              </a:ext>
            </a:extLst>
          </p:cNvPr>
          <p:cNvSpPr/>
          <p:nvPr/>
        </p:nvSpPr>
        <p:spPr>
          <a:xfrm>
            <a:off x="4991821" y="1195462"/>
            <a:ext cx="1961872" cy="17403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Why Fixed Effects?</a:t>
            </a:r>
          </a:p>
        </p:txBody>
      </p:sp>
      <p:sp>
        <p:nvSpPr>
          <p:cNvPr id="18" name="TextBox 17">
            <a:extLst>
              <a:ext uri="{FF2B5EF4-FFF2-40B4-BE49-F238E27FC236}">
                <a16:creationId xmlns:a16="http://schemas.microsoft.com/office/drawing/2014/main" id="{70E222DE-24D0-5C8C-DDED-4BD0EAEC3A11}"/>
              </a:ext>
            </a:extLst>
          </p:cNvPr>
          <p:cNvSpPr txBox="1"/>
          <p:nvPr/>
        </p:nvSpPr>
        <p:spPr>
          <a:xfrm>
            <a:off x="4720857" y="1505586"/>
            <a:ext cx="6134986" cy="2031325"/>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Strong unobserved heterogeneity across bonds and issuers (ρ ≈ 0.82 of total variance)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Structural characteristics (sector, governance, contract design) are correlated with regressors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Hausman test rejects Random Effects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FE isolates within-bond variation, identifying macro and sovereign effects</a:t>
            </a:r>
          </a:p>
        </p:txBody>
      </p:sp>
      <p:sp>
        <p:nvSpPr>
          <p:cNvPr id="19" name="Retângulo 12">
            <a:extLst>
              <a:ext uri="{FF2B5EF4-FFF2-40B4-BE49-F238E27FC236}">
                <a16:creationId xmlns:a16="http://schemas.microsoft.com/office/drawing/2014/main" id="{08EE05FA-2FE2-1CC7-53E0-6169290F0974}"/>
              </a:ext>
            </a:extLst>
          </p:cNvPr>
          <p:cNvSpPr/>
          <p:nvPr/>
        </p:nvSpPr>
        <p:spPr>
          <a:xfrm>
            <a:off x="477114" y="4058193"/>
            <a:ext cx="11051563" cy="168148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4D45114C-EB4B-69D7-9528-0F6212B813D9}"/>
              </a:ext>
            </a:extLst>
          </p:cNvPr>
          <p:cNvSpPr/>
          <p:nvPr/>
        </p:nvSpPr>
        <p:spPr>
          <a:xfrm>
            <a:off x="844675" y="3964341"/>
            <a:ext cx="2866088" cy="1861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Why not a dynamic model?</a:t>
            </a:r>
          </a:p>
        </p:txBody>
      </p:sp>
      <p:sp>
        <p:nvSpPr>
          <p:cNvPr id="22" name="TextBox 21">
            <a:extLst>
              <a:ext uri="{FF2B5EF4-FFF2-40B4-BE49-F238E27FC236}">
                <a16:creationId xmlns:a16="http://schemas.microsoft.com/office/drawing/2014/main" id="{8DFA23DF-6B21-8DBB-539A-FCFFFF1DFFF2}"/>
              </a:ext>
            </a:extLst>
          </p:cNvPr>
          <p:cNvSpPr txBox="1"/>
          <p:nvPr/>
        </p:nvSpPr>
        <p:spPr>
          <a:xfrm>
            <a:off x="1593206" y="4376839"/>
            <a:ext cx="9396614"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Monthly spreads reflect aggregated OTC prices, not high-frequency adjustment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Including lagged spreads yields mechanical persistence(</a:t>
            </a:r>
            <a:r>
              <a:rPr lang="en-US" sz="1800" kern="100" dirty="0" err="1">
                <a:effectLst/>
                <a:latin typeface="+mj-lt"/>
                <a:ea typeface="M PLUS 2" pitchFamily="2" charset="-128"/>
                <a:cs typeface="Calibri" panose="020F0502020204030204" pitchFamily="34" charset="0"/>
              </a:rPr>
              <a:t>L.spread</a:t>
            </a:r>
            <a:r>
              <a:rPr lang="en-US" sz="1800" kern="100" dirty="0">
                <a:effectLst/>
                <a:latin typeface="+mj-lt"/>
                <a:ea typeface="M PLUS 2" pitchFamily="2" charset="-128"/>
                <a:cs typeface="Calibri" panose="020F0502020204030204" pitchFamily="34" charset="0"/>
              </a:rPr>
              <a:t> ≈ 0.9 dominates the model)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Dynamic specification reduces interpretability of economic channels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Used only as a robustness check, not as the baseline model</a:t>
            </a:r>
          </a:p>
        </p:txBody>
      </p:sp>
      <p:sp>
        <p:nvSpPr>
          <p:cNvPr id="3" name="TextBox 6">
            <a:extLst>
              <a:ext uri="{FF2B5EF4-FFF2-40B4-BE49-F238E27FC236}">
                <a16:creationId xmlns:a16="http://schemas.microsoft.com/office/drawing/2014/main" id="{0CCFE637-5BD1-9FC7-CCAE-50FF0C20F86B}"/>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Methodology (FE + why not dynamic)</a:t>
            </a:r>
          </a:p>
        </p:txBody>
      </p:sp>
      <p:sp>
        <p:nvSpPr>
          <p:cNvPr id="5" name="TextBox 4">
            <a:extLst>
              <a:ext uri="{FF2B5EF4-FFF2-40B4-BE49-F238E27FC236}">
                <a16:creationId xmlns:a16="http://schemas.microsoft.com/office/drawing/2014/main" id="{836D71FA-FEB1-A2D7-25AC-E38E6F526D94}"/>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Alternative estimators shown in robustness slide)</a:t>
            </a:r>
          </a:p>
        </p:txBody>
      </p:sp>
    </p:spTree>
    <p:extLst>
      <p:ext uri="{BB962C8B-B14F-4D97-AF65-F5344CB8AC3E}">
        <p14:creationId xmlns:p14="http://schemas.microsoft.com/office/powerpoint/2010/main" val="61119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46D3-7634-DDE4-4475-F12EF86ACC5D}"/>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8C06461A-93B1-7712-67F8-728F7FC752E6}"/>
              </a:ext>
            </a:extLst>
          </p:cNvPr>
          <p:cNvSpPr/>
          <p:nvPr/>
        </p:nvSpPr>
        <p:spPr>
          <a:xfrm>
            <a:off x="434583" y="1369816"/>
            <a:ext cx="5830312" cy="232301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A366415E-0597-EA5C-073B-0AD8F664EE3A}"/>
              </a:ext>
            </a:extLst>
          </p:cNvPr>
          <p:cNvSpPr/>
          <p:nvPr/>
        </p:nvSpPr>
        <p:spPr>
          <a:xfrm>
            <a:off x="923027" y="1285186"/>
            <a:ext cx="3412284" cy="12473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Global &amp; macro factors dominate</a:t>
            </a:r>
          </a:p>
        </p:txBody>
      </p:sp>
      <p:sp>
        <p:nvSpPr>
          <p:cNvPr id="12" name="TextBox 11">
            <a:extLst>
              <a:ext uri="{FF2B5EF4-FFF2-40B4-BE49-F238E27FC236}">
                <a16:creationId xmlns:a16="http://schemas.microsoft.com/office/drawing/2014/main" id="{ACBB735C-A7BF-4001-878C-1611863B360F}"/>
              </a:ext>
            </a:extLst>
          </p:cNvPr>
          <p:cNvSpPr txBox="1"/>
          <p:nvPr/>
        </p:nvSpPr>
        <p:spPr>
          <a:xfrm>
            <a:off x="509390" y="1701449"/>
            <a:ext cx="5498006" cy="1754326"/>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Fed 3M Forward: </a:t>
            </a:r>
            <a:r>
              <a:rPr lang="en-US" sz="1800" kern="100" dirty="0">
                <a:effectLst/>
                <a:latin typeface="+mj-lt"/>
                <a:ea typeface="M PLUS 2" pitchFamily="2" charset="-128"/>
                <a:cs typeface="Calibri" panose="020F0502020204030204" pitchFamily="34" charset="0"/>
              </a:rPr>
              <a:t>positive and statistically significant (tighter global monetary conditions increase spreads)</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USD/BRL depreciation: </a:t>
            </a:r>
            <a:r>
              <a:rPr lang="en-US" sz="1800" kern="100" dirty="0">
                <a:effectLst/>
                <a:latin typeface="+mj-lt"/>
                <a:ea typeface="M PLUS 2" pitchFamily="2" charset="-128"/>
                <a:cs typeface="Calibri" panose="020F0502020204030204" pitchFamily="34" charset="0"/>
              </a:rPr>
              <a:t>large positive effect (exchange rate is a key macro-financial channel)</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GDP growth (YoY): </a:t>
            </a:r>
            <a:r>
              <a:rPr lang="en-US" sz="1800" kern="100" dirty="0">
                <a:effectLst/>
                <a:latin typeface="+mj-lt"/>
                <a:ea typeface="M PLUS 2" pitchFamily="2" charset="-128"/>
                <a:cs typeface="Calibri" panose="020F0502020204030204" pitchFamily="34" charset="0"/>
              </a:rPr>
              <a:t>negative and significant (stronger real activity reduces perceived credit risk)</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888D3823-98A6-83C5-4468-EECFAB2B71DA}"/>
              </a:ext>
            </a:extLst>
          </p:cNvPr>
          <p:cNvSpPr/>
          <p:nvPr/>
        </p:nvSpPr>
        <p:spPr>
          <a:xfrm>
            <a:off x="6644214" y="1369816"/>
            <a:ext cx="4923355" cy="232301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716F52AD-6E41-19C4-F203-819F9DB89F4A}"/>
              </a:ext>
            </a:extLst>
          </p:cNvPr>
          <p:cNvSpPr/>
          <p:nvPr/>
        </p:nvSpPr>
        <p:spPr>
          <a:xfrm>
            <a:off x="6968373" y="1325291"/>
            <a:ext cx="3905173" cy="11671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Sovereign risk: a non-standard result</a:t>
            </a:r>
          </a:p>
        </p:txBody>
      </p:sp>
      <p:sp>
        <p:nvSpPr>
          <p:cNvPr id="18" name="TextBox 17">
            <a:extLst>
              <a:ext uri="{FF2B5EF4-FFF2-40B4-BE49-F238E27FC236}">
                <a16:creationId xmlns:a16="http://schemas.microsoft.com/office/drawing/2014/main" id="{AEC6FD8F-FBB5-6D4A-6F22-2825B8092D35}"/>
              </a:ext>
            </a:extLst>
          </p:cNvPr>
          <p:cNvSpPr txBox="1"/>
          <p:nvPr/>
        </p:nvSpPr>
        <p:spPr>
          <a:xfrm>
            <a:off x="6778023" y="1741555"/>
            <a:ext cx="4640690" cy="1477328"/>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Synthetic CDS BRL: </a:t>
            </a:r>
            <a:r>
              <a:rPr lang="en-US" sz="1800" kern="100" dirty="0">
                <a:effectLst/>
                <a:latin typeface="+mj-lt"/>
                <a:ea typeface="M PLUS 2" pitchFamily="2" charset="-128"/>
                <a:cs typeface="Calibri" panose="020F0502020204030204" pitchFamily="34" charset="0"/>
              </a:rPr>
              <a:t>negative and significant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spreads do not follow a mechanical sovereign ceiling</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Suggests non-linear or portfolio-rebalancing effects in IPCA-linked bonds</a:t>
            </a:r>
          </a:p>
        </p:txBody>
      </p:sp>
      <p:sp>
        <p:nvSpPr>
          <p:cNvPr id="19" name="Retângulo 12">
            <a:extLst>
              <a:ext uri="{FF2B5EF4-FFF2-40B4-BE49-F238E27FC236}">
                <a16:creationId xmlns:a16="http://schemas.microsoft.com/office/drawing/2014/main" id="{5D51E510-424C-837E-E6C2-0B44514111A6}"/>
              </a:ext>
            </a:extLst>
          </p:cNvPr>
          <p:cNvSpPr/>
          <p:nvPr/>
        </p:nvSpPr>
        <p:spPr>
          <a:xfrm>
            <a:off x="2030818" y="4169915"/>
            <a:ext cx="8708066" cy="1660508"/>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8C6A51A9-DA78-B961-5C16-60F28F5A2616}"/>
              </a:ext>
            </a:extLst>
          </p:cNvPr>
          <p:cNvSpPr/>
          <p:nvPr/>
        </p:nvSpPr>
        <p:spPr>
          <a:xfrm>
            <a:off x="2504386" y="4024464"/>
            <a:ext cx="3282793" cy="31485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Firm &amp; bond characteristics</a:t>
            </a:r>
          </a:p>
        </p:txBody>
      </p:sp>
      <p:sp>
        <p:nvSpPr>
          <p:cNvPr id="22" name="TextBox 21">
            <a:extLst>
              <a:ext uri="{FF2B5EF4-FFF2-40B4-BE49-F238E27FC236}">
                <a16:creationId xmlns:a16="http://schemas.microsoft.com/office/drawing/2014/main" id="{4F2C5C36-80E7-0140-F474-7332390C10B2}"/>
              </a:ext>
            </a:extLst>
          </p:cNvPr>
          <p:cNvSpPr txBox="1"/>
          <p:nvPr/>
        </p:nvSpPr>
        <p:spPr>
          <a:xfrm>
            <a:off x="2757858" y="4621673"/>
            <a:ext cx="7072537" cy="923330"/>
          </a:xfrm>
          <a:prstGeom prst="rect">
            <a:avLst/>
          </a:prstGeom>
          <a:noFill/>
        </p:spPr>
        <p:txBody>
          <a:bodyPr wrap="square">
            <a:spAutoFit/>
          </a:bodyPr>
          <a:lstStyle/>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Issue size / assets: </a:t>
            </a:r>
            <a:r>
              <a:rPr lang="en-US" sz="1800" kern="100" dirty="0">
                <a:effectLst/>
                <a:latin typeface="+mj-lt"/>
                <a:ea typeface="M PLUS 2" pitchFamily="2" charset="-128"/>
                <a:cs typeface="Calibri" panose="020F0502020204030204" pitchFamily="34" charset="0"/>
              </a:rPr>
              <a:t>negative and significant (liquidity effect dominates)</a:t>
            </a:r>
          </a:p>
          <a:p>
            <a:pPr marL="285750" lvl="0" indent="-285750">
              <a:buFont typeface="Arial" panose="020B0604020202020204" pitchFamily="34" charset="0"/>
              <a:buChar char="•"/>
            </a:pPr>
            <a:r>
              <a:rPr lang="en-US" sz="1800" b="1" kern="100" dirty="0">
                <a:effectLst/>
                <a:latin typeface="+mj-lt"/>
                <a:ea typeface="M PLUS 2" pitchFamily="2" charset="-128"/>
                <a:cs typeface="Calibri" panose="020F0502020204030204" pitchFamily="34" charset="0"/>
              </a:rPr>
              <a:t>Other firm-level variables: </a:t>
            </a:r>
            <a:r>
              <a:rPr lang="en-US" sz="1800" kern="100" dirty="0">
                <a:effectLst/>
                <a:latin typeface="+mj-lt"/>
                <a:ea typeface="M PLUS 2" pitchFamily="2" charset="-128"/>
                <a:cs typeface="Calibri" panose="020F0502020204030204" pitchFamily="34" charset="0"/>
              </a:rPr>
              <a:t>not robust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Macro and global factors explain most of the variation</a:t>
            </a:r>
          </a:p>
        </p:txBody>
      </p:sp>
      <p:sp>
        <p:nvSpPr>
          <p:cNvPr id="3" name="TextBox 6">
            <a:extLst>
              <a:ext uri="{FF2B5EF4-FFF2-40B4-BE49-F238E27FC236}">
                <a16:creationId xmlns:a16="http://schemas.microsoft.com/office/drawing/2014/main" id="{70E8F2A7-F40B-5753-14E5-A3E4AECBFE48}"/>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Main results</a:t>
            </a:r>
          </a:p>
        </p:txBody>
      </p:sp>
      <p:sp>
        <p:nvSpPr>
          <p:cNvPr id="5" name="TextBox 4">
            <a:extLst>
              <a:ext uri="{FF2B5EF4-FFF2-40B4-BE49-F238E27FC236}">
                <a16:creationId xmlns:a16="http://schemas.microsoft.com/office/drawing/2014/main" id="{E78741A3-F4AE-A89A-BC3B-F21BF9761889}"/>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FE with issuer-clustered SEs; robustness discussed next)</a:t>
            </a:r>
          </a:p>
        </p:txBody>
      </p:sp>
    </p:spTree>
    <p:extLst>
      <p:ext uri="{BB962C8B-B14F-4D97-AF65-F5344CB8AC3E}">
        <p14:creationId xmlns:p14="http://schemas.microsoft.com/office/powerpoint/2010/main" val="2436351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B784-C9AA-6A3F-6E34-4B7B630690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95E4EA1-8A9B-D240-E46F-860BEAD5B400}"/>
              </a:ext>
            </a:extLst>
          </p:cNvPr>
          <p:cNvPicPr>
            <a:picLocks noChangeAspect="1"/>
          </p:cNvPicPr>
          <p:nvPr/>
        </p:nvPicPr>
        <p:blipFill>
          <a:blip r:embed="rId3"/>
          <a:stretch>
            <a:fillRect/>
          </a:stretch>
        </p:blipFill>
        <p:spPr>
          <a:xfrm>
            <a:off x="3481722" y="2746672"/>
            <a:ext cx="8506282" cy="3727878"/>
          </a:xfrm>
          <a:prstGeom prst="rect">
            <a:avLst/>
          </a:prstGeom>
          <a:ln>
            <a:solidFill>
              <a:schemeClr val="tx1"/>
            </a:solidFill>
          </a:ln>
        </p:spPr>
      </p:pic>
      <p:sp>
        <p:nvSpPr>
          <p:cNvPr id="4" name="Retângulo 12">
            <a:extLst>
              <a:ext uri="{FF2B5EF4-FFF2-40B4-BE49-F238E27FC236}">
                <a16:creationId xmlns:a16="http://schemas.microsoft.com/office/drawing/2014/main" id="{342A6E5F-5C31-F54C-DEA6-A3F0EDA9946C}"/>
              </a:ext>
            </a:extLst>
          </p:cNvPr>
          <p:cNvSpPr/>
          <p:nvPr/>
        </p:nvSpPr>
        <p:spPr>
          <a:xfrm>
            <a:off x="217459" y="941465"/>
            <a:ext cx="4577826" cy="153330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4F1834CC-C9C0-4E16-C2F3-BC40B22173D4}"/>
              </a:ext>
            </a:extLst>
          </p:cNvPr>
          <p:cNvSpPr/>
          <p:nvPr/>
        </p:nvSpPr>
        <p:spPr>
          <a:xfrm>
            <a:off x="705902" y="856835"/>
            <a:ext cx="2943119" cy="12473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Alternative specifications</a:t>
            </a:r>
          </a:p>
        </p:txBody>
      </p:sp>
      <p:sp>
        <p:nvSpPr>
          <p:cNvPr id="12" name="TextBox 11">
            <a:extLst>
              <a:ext uri="{FF2B5EF4-FFF2-40B4-BE49-F238E27FC236}">
                <a16:creationId xmlns:a16="http://schemas.microsoft.com/office/drawing/2014/main" id="{65EF6B50-7B9A-7C29-3953-3ADEA5130DD8}"/>
              </a:ext>
            </a:extLst>
          </p:cNvPr>
          <p:cNvSpPr txBox="1"/>
          <p:nvPr/>
        </p:nvSpPr>
        <p:spPr>
          <a:xfrm>
            <a:off x="299497" y="1250415"/>
            <a:ext cx="5028684"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FE with lagged spread</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Panel-Corrected Standard Errors (PCSE)</a:t>
            </a:r>
            <a:br>
              <a:rPr lang="en-US" sz="1800" kern="100" dirty="0">
                <a:effectLst/>
                <a:latin typeface="+mj-lt"/>
                <a:ea typeface="M PLUS 2" pitchFamily="2" charset="-128"/>
                <a:cs typeface="Calibri" panose="020F0502020204030204" pitchFamily="34" charset="0"/>
              </a:rPr>
            </a:br>
            <a:r>
              <a:rPr lang="en-US" sz="1800" kern="100" dirty="0">
                <a:effectLst/>
                <a:latin typeface="+mj-lt"/>
                <a:ea typeface="M PLUS 2" pitchFamily="2" charset="-128"/>
                <a:cs typeface="Calibri" panose="020F0502020204030204" pitchFamily="34" charset="0"/>
              </a:rPr>
              <a:t>(pairwise and AR(1))</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48A900F8-2676-CF0F-568D-EF92CA3ADBD5}"/>
              </a:ext>
            </a:extLst>
          </p:cNvPr>
          <p:cNvSpPr/>
          <p:nvPr/>
        </p:nvSpPr>
        <p:spPr>
          <a:xfrm>
            <a:off x="217458" y="2747772"/>
            <a:ext cx="3004211" cy="383347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B1BEF232-8524-D87D-D4B3-CC70B5D343EC}"/>
              </a:ext>
            </a:extLst>
          </p:cNvPr>
          <p:cNvSpPr/>
          <p:nvPr/>
        </p:nvSpPr>
        <p:spPr>
          <a:xfrm>
            <a:off x="460784" y="2663140"/>
            <a:ext cx="1516876" cy="209112"/>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Key findings</a:t>
            </a:r>
          </a:p>
        </p:txBody>
      </p:sp>
      <p:sp>
        <p:nvSpPr>
          <p:cNvPr id="18" name="TextBox 17">
            <a:extLst>
              <a:ext uri="{FF2B5EF4-FFF2-40B4-BE49-F238E27FC236}">
                <a16:creationId xmlns:a16="http://schemas.microsoft.com/office/drawing/2014/main" id="{AA445FEB-4DE8-0C8F-820C-64828736F518}"/>
              </a:ext>
            </a:extLst>
          </p:cNvPr>
          <p:cNvSpPr txBox="1"/>
          <p:nvPr/>
        </p:nvSpPr>
        <p:spPr>
          <a:xfrm>
            <a:off x="299497" y="3020949"/>
            <a:ext cx="2825536" cy="341632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Main signs and significance largely preserved</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Lagged spread dominates dynamics (</a:t>
            </a:r>
            <a:r>
              <a:rPr lang="en-US" sz="1800" kern="100" dirty="0" err="1">
                <a:effectLst/>
                <a:latin typeface="+mj-lt"/>
                <a:ea typeface="M PLUS 2" pitchFamily="2" charset="-128"/>
                <a:cs typeface="Calibri" panose="020F0502020204030204" pitchFamily="34" charset="0"/>
              </a:rPr>
              <a:t>L.spread</a:t>
            </a:r>
            <a:r>
              <a:rPr lang="en-US" sz="1800" kern="100" dirty="0">
                <a:effectLst/>
                <a:latin typeface="+mj-lt"/>
                <a:ea typeface="M PLUS 2" pitchFamily="2" charset="-128"/>
                <a:cs typeface="Calibri" panose="020F0502020204030204" pitchFamily="34" charset="0"/>
              </a:rPr>
              <a:t> ≈ 0.9 - mechanical persistence)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PCSE unstable in large-N, unbalanced OTC panel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Static FE remains the most interpretable and stable specification</a:t>
            </a:r>
          </a:p>
        </p:txBody>
      </p:sp>
      <p:sp>
        <p:nvSpPr>
          <p:cNvPr id="19" name="Retângulo 12">
            <a:extLst>
              <a:ext uri="{FF2B5EF4-FFF2-40B4-BE49-F238E27FC236}">
                <a16:creationId xmlns:a16="http://schemas.microsoft.com/office/drawing/2014/main" id="{66CFB392-0E9B-4B60-B06D-5701DB7D3BC5}"/>
              </a:ext>
            </a:extLst>
          </p:cNvPr>
          <p:cNvSpPr/>
          <p:nvPr/>
        </p:nvSpPr>
        <p:spPr>
          <a:xfrm>
            <a:off x="5018568" y="941465"/>
            <a:ext cx="6969632" cy="1546058"/>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07E3BAE2-E686-7490-A1E0-DC985E3DB1B9}"/>
              </a:ext>
            </a:extLst>
          </p:cNvPr>
          <p:cNvSpPr/>
          <p:nvPr/>
        </p:nvSpPr>
        <p:spPr>
          <a:xfrm>
            <a:off x="5279414" y="719985"/>
            <a:ext cx="1467251" cy="40567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Interpretation</a:t>
            </a:r>
          </a:p>
        </p:txBody>
      </p:sp>
      <p:sp>
        <p:nvSpPr>
          <p:cNvPr id="22" name="TextBox 21">
            <a:extLst>
              <a:ext uri="{FF2B5EF4-FFF2-40B4-BE49-F238E27FC236}">
                <a16:creationId xmlns:a16="http://schemas.microsoft.com/office/drawing/2014/main" id="{9AE8ED77-A6AF-91AC-4921-287F5D86D728}"/>
              </a:ext>
            </a:extLst>
          </p:cNvPr>
          <p:cNvSpPr txBox="1"/>
          <p:nvPr/>
        </p:nvSpPr>
        <p:spPr>
          <a:xfrm>
            <a:off x="5279414" y="1246452"/>
            <a:ext cx="6623722"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Persistence reflects OTC price frictions, not economic adjustment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Results are not driven by estimator choice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Robustness supports FE as the baseline model</a:t>
            </a:r>
          </a:p>
        </p:txBody>
      </p:sp>
      <p:sp>
        <p:nvSpPr>
          <p:cNvPr id="5" name="TextBox 6">
            <a:extLst>
              <a:ext uri="{FF2B5EF4-FFF2-40B4-BE49-F238E27FC236}">
                <a16:creationId xmlns:a16="http://schemas.microsoft.com/office/drawing/2014/main" id="{F6F86413-F56E-D839-3A1F-E2F0DEF215DE}"/>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Robustness Checks</a:t>
            </a:r>
          </a:p>
        </p:txBody>
      </p:sp>
    </p:spTree>
    <p:extLst>
      <p:ext uri="{BB962C8B-B14F-4D97-AF65-F5344CB8AC3E}">
        <p14:creationId xmlns:p14="http://schemas.microsoft.com/office/powerpoint/2010/main" val="852603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BC3A-23F0-DACD-EBAD-08C92DC6263E}"/>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991AF34B-3BF7-28A4-24E8-2CF7D4D4A1E0}"/>
              </a:ext>
            </a:extLst>
          </p:cNvPr>
          <p:cNvSpPr/>
          <p:nvPr/>
        </p:nvSpPr>
        <p:spPr>
          <a:xfrm>
            <a:off x="560120" y="1272251"/>
            <a:ext cx="5661417" cy="206105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81710F74-F7ED-0AFB-A52B-4538D94C5A93}"/>
              </a:ext>
            </a:extLst>
          </p:cNvPr>
          <p:cNvSpPr/>
          <p:nvPr/>
        </p:nvSpPr>
        <p:spPr>
          <a:xfrm>
            <a:off x="1048564" y="1187621"/>
            <a:ext cx="2943119" cy="12473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Global and macro dominance</a:t>
            </a:r>
          </a:p>
        </p:txBody>
      </p:sp>
      <p:sp>
        <p:nvSpPr>
          <p:cNvPr id="12" name="TextBox 11">
            <a:extLst>
              <a:ext uri="{FF2B5EF4-FFF2-40B4-BE49-F238E27FC236}">
                <a16:creationId xmlns:a16="http://schemas.microsoft.com/office/drawing/2014/main" id="{D3AB3F6C-300D-12C3-DD9F-65FCBBB2CFC6}"/>
              </a:ext>
            </a:extLst>
          </p:cNvPr>
          <p:cNvSpPr txBox="1"/>
          <p:nvPr/>
        </p:nvSpPr>
        <p:spPr>
          <a:xfrm>
            <a:off x="634926" y="1465660"/>
            <a:ext cx="5683465" cy="1477328"/>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spreads in BRL respond primarily to global monetary conditions and exchange rate movements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Local-currency corporate debt is not insulated from global financial cycles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FX acts as a key macro-financial transmission channel</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7E6FE73A-0D6A-8BF3-AE96-DF65263925FF}"/>
              </a:ext>
            </a:extLst>
          </p:cNvPr>
          <p:cNvSpPr/>
          <p:nvPr/>
        </p:nvSpPr>
        <p:spPr>
          <a:xfrm>
            <a:off x="6393196" y="1272251"/>
            <a:ext cx="5293293" cy="2055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CBFE3D9C-D0A4-4331-7897-7B3472E64BF6}"/>
              </a:ext>
            </a:extLst>
          </p:cNvPr>
          <p:cNvSpPr/>
          <p:nvPr/>
        </p:nvSpPr>
        <p:spPr>
          <a:xfrm>
            <a:off x="6634711" y="1219706"/>
            <a:ext cx="2754203" cy="1247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Liquidity vs. fundamentals</a:t>
            </a:r>
          </a:p>
        </p:txBody>
      </p:sp>
      <p:sp>
        <p:nvSpPr>
          <p:cNvPr id="18" name="TextBox 17">
            <a:extLst>
              <a:ext uri="{FF2B5EF4-FFF2-40B4-BE49-F238E27FC236}">
                <a16:creationId xmlns:a16="http://schemas.microsoft.com/office/drawing/2014/main" id="{FA220823-24CC-0F2D-160E-CC3DE3266D51}"/>
              </a:ext>
            </a:extLst>
          </p:cNvPr>
          <p:cNvSpPr txBox="1"/>
          <p:nvPr/>
        </p:nvSpPr>
        <p:spPr>
          <a:xfrm>
            <a:off x="6719441" y="1505766"/>
            <a:ext cx="4131360"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Larger issues exhibit lower spreads due to higher secondary-market liquidity</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Firm-level balance-sheet indicators add limited explanatory power</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Structural issuer characteristics largely absorbed by bond fixed effects</a:t>
            </a:r>
          </a:p>
        </p:txBody>
      </p:sp>
      <p:sp>
        <p:nvSpPr>
          <p:cNvPr id="19" name="Retângulo 12">
            <a:extLst>
              <a:ext uri="{FF2B5EF4-FFF2-40B4-BE49-F238E27FC236}">
                <a16:creationId xmlns:a16="http://schemas.microsoft.com/office/drawing/2014/main" id="{0E6FE352-0C0D-21C1-F8DA-AC94A8A2DEA3}"/>
              </a:ext>
            </a:extLst>
          </p:cNvPr>
          <p:cNvSpPr/>
          <p:nvPr/>
        </p:nvSpPr>
        <p:spPr>
          <a:xfrm>
            <a:off x="560120" y="3713807"/>
            <a:ext cx="7839602" cy="2616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mj-lt"/>
              </a:rPr>
              <a:t>Z</a:t>
            </a:r>
          </a:p>
        </p:txBody>
      </p:sp>
      <p:sp>
        <p:nvSpPr>
          <p:cNvPr id="21" name="Retângulo 13">
            <a:extLst>
              <a:ext uri="{FF2B5EF4-FFF2-40B4-BE49-F238E27FC236}">
                <a16:creationId xmlns:a16="http://schemas.microsoft.com/office/drawing/2014/main" id="{5067B145-6497-CD49-5907-ED833959ECFC}"/>
              </a:ext>
            </a:extLst>
          </p:cNvPr>
          <p:cNvSpPr/>
          <p:nvPr/>
        </p:nvSpPr>
        <p:spPr>
          <a:xfrm>
            <a:off x="772116" y="3629176"/>
            <a:ext cx="3312093" cy="2379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Sovereign–corporate relationship</a:t>
            </a:r>
          </a:p>
        </p:txBody>
      </p:sp>
      <p:sp>
        <p:nvSpPr>
          <p:cNvPr id="22" name="TextBox 21">
            <a:extLst>
              <a:ext uri="{FF2B5EF4-FFF2-40B4-BE49-F238E27FC236}">
                <a16:creationId xmlns:a16="http://schemas.microsoft.com/office/drawing/2014/main" id="{89862100-9F4B-1290-0095-D1BFD271575C}"/>
              </a:ext>
            </a:extLst>
          </p:cNvPr>
          <p:cNvSpPr txBox="1"/>
          <p:nvPr/>
        </p:nvSpPr>
        <p:spPr>
          <a:xfrm>
            <a:off x="634926" y="3907216"/>
            <a:ext cx="7530879" cy="2308324"/>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Negative coefficient on synthetic CDS BRL challenges the standard sovereign-ceiling view</a:t>
            </a:r>
          </a:p>
          <a:p>
            <a:pPr lvl="0"/>
            <a:endParaRPr lang="en-US" sz="1800" kern="100" dirty="0">
              <a:effectLst/>
              <a:latin typeface="+mj-lt"/>
              <a:ea typeface="M PLUS 2" pitchFamily="2" charset="-128"/>
              <a:cs typeface="Calibri" panose="020F0502020204030204" pitchFamily="34" charset="0"/>
            </a:endParaRPr>
          </a:p>
          <a:p>
            <a:pPr lvl="0"/>
            <a:r>
              <a:rPr lang="en-US" sz="1800" b="1" kern="100" dirty="0">
                <a:effectLst/>
                <a:latin typeface="+mj-lt"/>
                <a:ea typeface="M PLUS 2" pitchFamily="2" charset="-128"/>
                <a:cs typeface="Calibri" panose="020F0502020204030204" pitchFamily="34" charset="0"/>
              </a:rPr>
              <a:t>Possible mechanisms:</a:t>
            </a:r>
          </a:p>
          <a:p>
            <a:pPr marL="285750" lvl="2"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Portfolio rebalancing toward high-quality corporates during sovereign stress</a:t>
            </a:r>
          </a:p>
          <a:p>
            <a:pPr marL="285750" lvl="2"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IPCA-linked corporates as relative safe assets in local currency</a:t>
            </a:r>
          </a:p>
          <a:p>
            <a:pPr marL="285750" lvl="2" indent="-285750">
              <a:buFont typeface="Arial" panose="020B0604020202020204" pitchFamily="34" charset="0"/>
              <a:buChar char="•"/>
            </a:pPr>
            <a:endParaRPr lang="en-US" sz="1800" kern="100" dirty="0">
              <a:effectLst/>
              <a:latin typeface="+mj-lt"/>
              <a:ea typeface="M PLUS 2" pitchFamily="2" charset="-128"/>
              <a:cs typeface="Calibri" panose="020F0502020204030204" pitchFamily="34" charset="0"/>
            </a:endParaRPr>
          </a:p>
          <a:p>
            <a:pPr lvl="1"/>
            <a:r>
              <a:rPr lang="en-US" sz="1800" kern="100" dirty="0">
                <a:effectLst/>
                <a:latin typeface="+mj-lt"/>
                <a:ea typeface="M PLUS 2" pitchFamily="2" charset="-128"/>
                <a:cs typeface="Calibri" panose="020F0502020204030204" pitchFamily="34" charset="0"/>
              </a:rPr>
              <a:t>Transmission is non-linear and market-segment specific</a:t>
            </a:r>
          </a:p>
        </p:txBody>
      </p:sp>
      <p:sp>
        <p:nvSpPr>
          <p:cNvPr id="3" name="Retângulo 12">
            <a:extLst>
              <a:ext uri="{FF2B5EF4-FFF2-40B4-BE49-F238E27FC236}">
                <a16:creationId xmlns:a16="http://schemas.microsoft.com/office/drawing/2014/main" id="{245CC427-403A-CF04-3E02-0A131B967051}"/>
              </a:ext>
            </a:extLst>
          </p:cNvPr>
          <p:cNvSpPr/>
          <p:nvPr/>
        </p:nvSpPr>
        <p:spPr>
          <a:xfrm>
            <a:off x="8654248" y="3712318"/>
            <a:ext cx="3032241" cy="261608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5" name="Retângulo 13">
            <a:extLst>
              <a:ext uri="{FF2B5EF4-FFF2-40B4-BE49-F238E27FC236}">
                <a16:creationId xmlns:a16="http://schemas.microsoft.com/office/drawing/2014/main" id="{15BB8264-346B-CE5F-D438-CF5553EE29B7}"/>
              </a:ext>
            </a:extLst>
          </p:cNvPr>
          <p:cNvSpPr/>
          <p:nvPr/>
        </p:nvSpPr>
        <p:spPr>
          <a:xfrm>
            <a:off x="8740884" y="3623204"/>
            <a:ext cx="2462846" cy="23793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Role of market structure</a:t>
            </a:r>
          </a:p>
        </p:txBody>
      </p:sp>
      <p:sp>
        <p:nvSpPr>
          <p:cNvPr id="7" name="TextBox 6">
            <a:extLst>
              <a:ext uri="{FF2B5EF4-FFF2-40B4-BE49-F238E27FC236}">
                <a16:creationId xmlns:a16="http://schemas.microsoft.com/office/drawing/2014/main" id="{C1D4FD8A-E6DD-CC4F-2AE1-972735BE0255}"/>
              </a:ext>
            </a:extLst>
          </p:cNvPr>
          <p:cNvSpPr txBox="1"/>
          <p:nvPr/>
        </p:nvSpPr>
        <p:spPr>
          <a:xfrm>
            <a:off x="8840339" y="4059616"/>
            <a:ext cx="2758644" cy="2031325"/>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Observed persistence reflects OTC price frictions, not slow information adjustment</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Pricing dynamics differ from exchange-traded or highly liquid markets</a:t>
            </a:r>
          </a:p>
        </p:txBody>
      </p:sp>
      <p:sp>
        <p:nvSpPr>
          <p:cNvPr id="8" name="TextBox 6">
            <a:extLst>
              <a:ext uri="{FF2B5EF4-FFF2-40B4-BE49-F238E27FC236}">
                <a16:creationId xmlns:a16="http://schemas.microsoft.com/office/drawing/2014/main" id="{6BE25345-3B70-1C8D-109D-77D6C85C77F6}"/>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Phase 3: Interpretation of Results</a:t>
            </a:r>
          </a:p>
        </p:txBody>
      </p:sp>
    </p:spTree>
    <p:extLst>
      <p:ext uri="{BB962C8B-B14F-4D97-AF65-F5344CB8AC3E}">
        <p14:creationId xmlns:p14="http://schemas.microsoft.com/office/powerpoint/2010/main" val="209847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0BA2-DB5E-2167-E02F-26E0BA83BDE3}"/>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82D4FED7-F9A5-79DD-91C4-D9C3CE703B19}"/>
              </a:ext>
            </a:extLst>
          </p:cNvPr>
          <p:cNvSpPr/>
          <p:nvPr/>
        </p:nvSpPr>
        <p:spPr>
          <a:xfrm>
            <a:off x="296336" y="1348549"/>
            <a:ext cx="11599327" cy="1878431"/>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6" name="Retângulo 13">
            <a:extLst>
              <a:ext uri="{FF2B5EF4-FFF2-40B4-BE49-F238E27FC236}">
                <a16:creationId xmlns:a16="http://schemas.microsoft.com/office/drawing/2014/main" id="{1A677A2F-7A29-C08C-58CB-141909B397A4}"/>
              </a:ext>
            </a:extLst>
          </p:cNvPr>
          <p:cNvSpPr/>
          <p:nvPr/>
        </p:nvSpPr>
        <p:spPr>
          <a:xfrm>
            <a:off x="1716516" y="1263921"/>
            <a:ext cx="1713882" cy="167664"/>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Key takeaways</a:t>
            </a:r>
          </a:p>
        </p:txBody>
      </p:sp>
      <p:sp>
        <p:nvSpPr>
          <p:cNvPr id="12" name="TextBox 11">
            <a:extLst>
              <a:ext uri="{FF2B5EF4-FFF2-40B4-BE49-F238E27FC236}">
                <a16:creationId xmlns:a16="http://schemas.microsoft.com/office/drawing/2014/main" id="{74F38DE7-321C-4538-7994-035ADEECF397}"/>
              </a:ext>
            </a:extLst>
          </p:cNvPr>
          <p:cNvSpPr txBox="1"/>
          <p:nvPr/>
        </p:nvSpPr>
        <p:spPr>
          <a:xfrm>
            <a:off x="1608434" y="1768061"/>
            <a:ext cx="9084501"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Corporate bond spreads in BRL are driven primarily by global monetary conditions and FX</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Firm-level fundamentals play a secondary role once heterogeneity is controlled for</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The sovereign-corporate link is non-mechanical in IPCA-linked bonds</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Market structure (OTC pricing) matters for observed dynamics</a:t>
            </a:r>
            <a:endParaRPr lang="en-US" sz="1800" dirty="0">
              <a:latin typeface="Calibri" panose="020F0502020204030204" pitchFamily="34" charset="0"/>
              <a:ea typeface="M PLUS 2" pitchFamily="2" charset="-128"/>
              <a:cs typeface="Calibri" panose="020F0502020204030204" pitchFamily="34" charset="0"/>
            </a:endParaRPr>
          </a:p>
        </p:txBody>
      </p:sp>
      <p:sp>
        <p:nvSpPr>
          <p:cNvPr id="13" name="Retângulo 12">
            <a:extLst>
              <a:ext uri="{FF2B5EF4-FFF2-40B4-BE49-F238E27FC236}">
                <a16:creationId xmlns:a16="http://schemas.microsoft.com/office/drawing/2014/main" id="{811319F0-365C-B052-1FCF-72D16FE94326}"/>
              </a:ext>
            </a:extLst>
          </p:cNvPr>
          <p:cNvSpPr/>
          <p:nvPr/>
        </p:nvSpPr>
        <p:spPr>
          <a:xfrm>
            <a:off x="296336" y="3649217"/>
            <a:ext cx="4159573" cy="259191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14" name="Retângulo 13">
            <a:extLst>
              <a:ext uri="{FF2B5EF4-FFF2-40B4-BE49-F238E27FC236}">
                <a16:creationId xmlns:a16="http://schemas.microsoft.com/office/drawing/2014/main" id="{03EA6BF7-EAFB-780D-03D4-1A86A73770B5}"/>
              </a:ext>
            </a:extLst>
          </p:cNvPr>
          <p:cNvSpPr/>
          <p:nvPr/>
        </p:nvSpPr>
        <p:spPr>
          <a:xfrm>
            <a:off x="582762" y="3518154"/>
            <a:ext cx="1115468" cy="18116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Academic</a:t>
            </a:r>
          </a:p>
        </p:txBody>
      </p:sp>
      <p:sp>
        <p:nvSpPr>
          <p:cNvPr id="17" name="TextBox 16">
            <a:extLst>
              <a:ext uri="{FF2B5EF4-FFF2-40B4-BE49-F238E27FC236}">
                <a16:creationId xmlns:a16="http://schemas.microsoft.com/office/drawing/2014/main" id="{5C3E0B05-8F75-A629-C1EA-824492A77668}"/>
              </a:ext>
            </a:extLst>
          </p:cNvPr>
          <p:cNvSpPr txBox="1"/>
          <p:nvPr/>
        </p:nvSpPr>
        <p:spPr>
          <a:xfrm>
            <a:off x="371142" y="3746089"/>
            <a:ext cx="4084767" cy="2031325"/>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New empirical evidence on local-currency corporate bond spreads in a major EM</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Challenges the mechanical sovereign-ceiling view in IPCA-linked debt</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Clarifies the role of global monetary conditions and FX in corporate pricing</a:t>
            </a:r>
            <a:endParaRPr lang="en-US" sz="1800" dirty="0">
              <a:latin typeface="Calibri" panose="020F0502020204030204" pitchFamily="34" charset="0"/>
              <a:ea typeface="M PLUS 2" pitchFamily="2" charset="-128"/>
              <a:cs typeface="Calibri" panose="020F0502020204030204" pitchFamily="34" charset="0"/>
            </a:endParaRPr>
          </a:p>
        </p:txBody>
      </p:sp>
      <p:sp>
        <p:nvSpPr>
          <p:cNvPr id="20" name="Retângulo 12">
            <a:extLst>
              <a:ext uri="{FF2B5EF4-FFF2-40B4-BE49-F238E27FC236}">
                <a16:creationId xmlns:a16="http://schemas.microsoft.com/office/drawing/2014/main" id="{0F9AEA14-BC55-30D2-6DE1-E142318F50A0}"/>
              </a:ext>
            </a:extLst>
          </p:cNvPr>
          <p:cNvSpPr/>
          <p:nvPr/>
        </p:nvSpPr>
        <p:spPr>
          <a:xfrm>
            <a:off x="7726160" y="3591114"/>
            <a:ext cx="4181621" cy="2650012"/>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23" name="Retângulo 13">
            <a:extLst>
              <a:ext uri="{FF2B5EF4-FFF2-40B4-BE49-F238E27FC236}">
                <a16:creationId xmlns:a16="http://schemas.microsoft.com/office/drawing/2014/main" id="{72F06D5F-30D7-F2D0-FFE5-E31410BDFAB4}"/>
              </a:ext>
            </a:extLst>
          </p:cNvPr>
          <p:cNvSpPr/>
          <p:nvPr/>
        </p:nvSpPr>
        <p:spPr>
          <a:xfrm>
            <a:off x="7942357" y="3506483"/>
            <a:ext cx="1733272" cy="1928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Methodological</a:t>
            </a:r>
          </a:p>
        </p:txBody>
      </p:sp>
      <p:sp>
        <p:nvSpPr>
          <p:cNvPr id="24" name="TextBox 23">
            <a:extLst>
              <a:ext uri="{FF2B5EF4-FFF2-40B4-BE49-F238E27FC236}">
                <a16:creationId xmlns:a16="http://schemas.microsoft.com/office/drawing/2014/main" id="{CFB2FEC4-8FE8-97A5-7D66-02FEB9BA2E16}"/>
              </a:ext>
            </a:extLst>
          </p:cNvPr>
          <p:cNvSpPr txBox="1"/>
          <p:nvPr/>
        </p:nvSpPr>
        <p:spPr>
          <a:xfrm>
            <a:off x="7791443" y="3784523"/>
            <a:ext cx="4041536"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Construction of a real risk-free curve (IPCA)(WLA + NTN-B + Nelson–Siegel)</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Rigorous treatment of OTC price fragmentation</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Bond-level panel approach with strong heterogeneity control (FE)</a:t>
            </a:r>
          </a:p>
        </p:txBody>
      </p:sp>
      <p:sp>
        <p:nvSpPr>
          <p:cNvPr id="25" name="Retângulo 12">
            <a:extLst>
              <a:ext uri="{FF2B5EF4-FFF2-40B4-BE49-F238E27FC236}">
                <a16:creationId xmlns:a16="http://schemas.microsoft.com/office/drawing/2014/main" id="{108129A9-A07B-FEF3-8888-BED90D03CA2F}"/>
              </a:ext>
            </a:extLst>
          </p:cNvPr>
          <p:cNvSpPr/>
          <p:nvPr/>
        </p:nvSpPr>
        <p:spPr>
          <a:xfrm>
            <a:off x="4633311" y="3623197"/>
            <a:ext cx="2915447" cy="2617929"/>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Calibri" panose="020F0502020204030204" pitchFamily="34" charset="0"/>
              <a:cs typeface="Calibri" panose="020F0502020204030204" pitchFamily="34" charset="0"/>
            </a:endParaRPr>
          </a:p>
        </p:txBody>
      </p:sp>
      <p:sp>
        <p:nvSpPr>
          <p:cNvPr id="26" name="Retângulo 13">
            <a:extLst>
              <a:ext uri="{FF2B5EF4-FFF2-40B4-BE49-F238E27FC236}">
                <a16:creationId xmlns:a16="http://schemas.microsoft.com/office/drawing/2014/main" id="{1A91B13B-D155-6F83-692C-B2A5CB30213D}"/>
              </a:ext>
            </a:extLst>
          </p:cNvPr>
          <p:cNvSpPr/>
          <p:nvPr/>
        </p:nvSpPr>
        <p:spPr>
          <a:xfrm>
            <a:off x="4882308" y="3506483"/>
            <a:ext cx="2306664" cy="19283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Calibri" panose="020F0502020204030204" pitchFamily="34" charset="0"/>
                <a:cs typeface="Calibri" panose="020F0502020204030204" pitchFamily="34" charset="0"/>
              </a:rPr>
              <a:t>Applied / Professional</a:t>
            </a:r>
          </a:p>
        </p:txBody>
      </p:sp>
      <p:sp>
        <p:nvSpPr>
          <p:cNvPr id="27" name="TextBox 26">
            <a:extLst>
              <a:ext uri="{FF2B5EF4-FFF2-40B4-BE49-F238E27FC236}">
                <a16:creationId xmlns:a16="http://schemas.microsoft.com/office/drawing/2014/main" id="{070BB4D4-3562-E1A2-288C-E41DA1D7F5EC}"/>
              </a:ext>
            </a:extLst>
          </p:cNvPr>
          <p:cNvSpPr txBox="1"/>
          <p:nvPr/>
        </p:nvSpPr>
        <p:spPr>
          <a:xfrm>
            <a:off x="4708117" y="3816607"/>
            <a:ext cx="2720301" cy="1754326"/>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Insights for pricing, risk management, and relative-value strategies</a:t>
            </a:r>
          </a:p>
          <a:p>
            <a:pPr marL="285750" lvl="0" indent="-285750">
              <a:buFont typeface="Arial" panose="020B0604020202020204" pitchFamily="34" charset="0"/>
              <a:buChar char="•"/>
            </a:pPr>
            <a:r>
              <a:rPr lang="en-US" sz="1800" kern="100" dirty="0">
                <a:effectLst/>
                <a:latin typeface="Calibri" panose="020F0502020204030204" pitchFamily="34" charset="0"/>
                <a:ea typeface="M PLUS 2" pitchFamily="2" charset="-128"/>
                <a:cs typeface="Calibri" panose="020F0502020204030204" pitchFamily="34" charset="0"/>
              </a:rPr>
              <a:t>Relevance for investors, issuers, and regulators in EM debt markets</a:t>
            </a:r>
          </a:p>
        </p:txBody>
      </p:sp>
      <p:sp>
        <p:nvSpPr>
          <p:cNvPr id="3" name="TextBox 6">
            <a:extLst>
              <a:ext uri="{FF2B5EF4-FFF2-40B4-BE49-F238E27FC236}">
                <a16:creationId xmlns:a16="http://schemas.microsoft.com/office/drawing/2014/main" id="{23E35338-F181-1E46-E55E-B559695C839C}"/>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Conclusions &amp; contributions</a:t>
            </a:r>
          </a:p>
        </p:txBody>
      </p:sp>
    </p:spTree>
    <p:extLst>
      <p:ext uri="{BB962C8B-B14F-4D97-AF65-F5344CB8AC3E}">
        <p14:creationId xmlns:p14="http://schemas.microsoft.com/office/powerpoint/2010/main" val="2965223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601EF-3D2A-BB93-E7E0-2DAB584A3AC0}"/>
            </a:ext>
          </a:extLst>
        </p:cNvPr>
        <p:cNvGrpSpPr/>
        <p:nvPr/>
      </p:nvGrpSpPr>
      <p:grpSpPr>
        <a:xfrm>
          <a:off x="0" y="0"/>
          <a:ext cx="0" cy="0"/>
          <a:chOff x="0" y="0"/>
          <a:chExt cx="0" cy="0"/>
        </a:xfrm>
      </p:grpSpPr>
      <p:sp>
        <p:nvSpPr>
          <p:cNvPr id="4" name="Retângulo 12">
            <a:extLst>
              <a:ext uri="{FF2B5EF4-FFF2-40B4-BE49-F238E27FC236}">
                <a16:creationId xmlns:a16="http://schemas.microsoft.com/office/drawing/2014/main" id="{20FA0F32-2A98-FCFF-0D33-9486E5D86812}"/>
              </a:ext>
            </a:extLst>
          </p:cNvPr>
          <p:cNvSpPr/>
          <p:nvPr/>
        </p:nvSpPr>
        <p:spPr>
          <a:xfrm>
            <a:off x="413318" y="2587951"/>
            <a:ext cx="6627489" cy="1833953"/>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6" name="Retângulo 13">
            <a:extLst>
              <a:ext uri="{FF2B5EF4-FFF2-40B4-BE49-F238E27FC236}">
                <a16:creationId xmlns:a16="http://schemas.microsoft.com/office/drawing/2014/main" id="{18F1DE22-5597-7E17-9C40-1575C73469B4}"/>
              </a:ext>
            </a:extLst>
          </p:cNvPr>
          <p:cNvSpPr/>
          <p:nvPr/>
        </p:nvSpPr>
        <p:spPr>
          <a:xfrm>
            <a:off x="763535" y="2503322"/>
            <a:ext cx="1341707" cy="15682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Motivation</a:t>
            </a:r>
          </a:p>
        </p:txBody>
      </p:sp>
      <p:sp>
        <p:nvSpPr>
          <p:cNvPr id="12" name="TextBox 11">
            <a:extLst>
              <a:ext uri="{FF2B5EF4-FFF2-40B4-BE49-F238E27FC236}">
                <a16:creationId xmlns:a16="http://schemas.microsoft.com/office/drawing/2014/main" id="{16CE56FB-B91B-4375-E1DE-94D63FBDD75F}"/>
              </a:ext>
            </a:extLst>
          </p:cNvPr>
          <p:cNvSpPr txBox="1"/>
          <p:nvPr/>
        </p:nvSpPr>
        <p:spPr>
          <a:xfrm>
            <a:off x="488125" y="3057437"/>
            <a:ext cx="6552682"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Results suggest a non-standard sovereign-corporate transmission</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Market-based measures (spreads) may react faster than ratings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Ratings capture structural, long-term credit risk</a:t>
            </a:r>
            <a:endParaRPr lang="en-US" sz="1800" dirty="0">
              <a:latin typeface="+mj-lt"/>
              <a:ea typeface="M PLUS 2" pitchFamily="2" charset="-128"/>
            </a:endParaRPr>
          </a:p>
        </p:txBody>
      </p:sp>
      <p:sp>
        <p:nvSpPr>
          <p:cNvPr id="15" name="Retângulo 12">
            <a:extLst>
              <a:ext uri="{FF2B5EF4-FFF2-40B4-BE49-F238E27FC236}">
                <a16:creationId xmlns:a16="http://schemas.microsoft.com/office/drawing/2014/main" id="{4013EF9C-6610-26BF-E12E-3B9C04892E29}"/>
              </a:ext>
            </a:extLst>
          </p:cNvPr>
          <p:cNvSpPr/>
          <p:nvPr/>
        </p:nvSpPr>
        <p:spPr>
          <a:xfrm>
            <a:off x="7240771" y="2628058"/>
            <a:ext cx="4605252" cy="1793847"/>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6" name="Retângulo 13">
            <a:extLst>
              <a:ext uri="{FF2B5EF4-FFF2-40B4-BE49-F238E27FC236}">
                <a16:creationId xmlns:a16="http://schemas.microsoft.com/office/drawing/2014/main" id="{E0B8DECD-5322-5C54-8581-F8101C1416DC}"/>
              </a:ext>
            </a:extLst>
          </p:cNvPr>
          <p:cNvSpPr/>
          <p:nvPr/>
        </p:nvSpPr>
        <p:spPr>
          <a:xfrm>
            <a:off x="7389627" y="2543427"/>
            <a:ext cx="2150202" cy="15493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Proposed extension</a:t>
            </a:r>
          </a:p>
        </p:txBody>
      </p:sp>
      <p:sp>
        <p:nvSpPr>
          <p:cNvPr id="18" name="TextBox 17">
            <a:extLst>
              <a:ext uri="{FF2B5EF4-FFF2-40B4-BE49-F238E27FC236}">
                <a16:creationId xmlns:a16="http://schemas.microsoft.com/office/drawing/2014/main" id="{6241D63D-3370-4D75-F369-1AA77B89BA9C}"/>
              </a:ext>
            </a:extLst>
          </p:cNvPr>
          <p:cNvSpPr txBox="1"/>
          <p:nvPr/>
        </p:nvSpPr>
        <p:spPr>
          <a:xfrm>
            <a:off x="7389627" y="2821467"/>
            <a:ext cx="4497572" cy="1477328"/>
          </a:xfrm>
          <a:prstGeom prst="rect">
            <a:avLst/>
          </a:prstGeom>
          <a:noFill/>
        </p:spPr>
        <p:txBody>
          <a:bodyPr wrap="square">
            <a:spAutoFit/>
          </a:bodyPr>
          <a:lstStyle/>
          <a:p>
            <a:pPr lvl="0"/>
            <a:r>
              <a:rPr lang="en-US" sz="1800" kern="100" dirty="0">
                <a:effectLst/>
                <a:latin typeface="+mj-lt"/>
                <a:ea typeface="M PLUS 2" pitchFamily="2" charset="-128"/>
                <a:cs typeface="Calibri" panose="020F0502020204030204" pitchFamily="34" charset="0"/>
              </a:rPr>
              <a:t>Incorporate long-term local-currency ratings:</a:t>
            </a:r>
          </a:p>
          <a:p>
            <a:pPr marL="285750" lvl="1"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Sovereign ratings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Corporate ratings</a:t>
            </a:r>
          </a:p>
          <a:p>
            <a:pPr lvl="0"/>
            <a:r>
              <a:rPr lang="en-US" sz="1800" kern="100" dirty="0">
                <a:effectLst/>
                <a:latin typeface="+mj-lt"/>
                <a:ea typeface="M PLUS 2" pitchFamily="2" charset="-128"/>
                <a:cs typeface="Calibri" panose="020F0502020204030204" pitchFamily="34" charset="0"/>
              </a:rPr>
              <a:t>Focus on Brazil, 2010-2025</a:t>
            </a:r>
          </a:p>
          <a:p>
            <a:pPr lvl="0"/>
            <a:r>
              <a:rPr lang="en-US" sz="1800" kern="100" dirty="0">
                <a:effectLst/>
                <a:latin typeface="+mj-lt"/>
                <a:ea typeface="M PLUS 2" pitchFamily="2" charset="-128"/>
                <a:cs typeface="Calibri" panose="020F0502020204030204" pitchFamily="34" charset="0"/>
              </a:rPr>
              <a:t>Track rating changes and persistence</a:t>
            </a:r>
          </a:p>
        </p:txBody>
      </p:sp>
      <p:sp>
        <p:nvSpPr>
          <p:cNvPr id="19" name="Retângulo 12">
            <a:extLst>
              <a:ext uri="{FF2B5EF4-FFF2-40B4-BE49-F238E27FC236}">
                <a16:creationId xmlns:a16="http://schemas.microsoft.com/office/drawing/2014/main" id="{94AE407D-FE65-9487-B1B6-7870E7CDA950}"/>
              </a:ext>
            </a:extLst>
          </p:cNvPr>
          <p:cNvSpPr/>
          <p:nvPr/>
        </p:nvSpPr>
        <p:spPr>
          <a:xfrm>
            <a:off x="413318" y="4710759"/>
            <a:ext cx="6637424" cy="1593255"/>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21" name="Retângulo 13">
            <a:extLst>
              <a:ext uri="{FF2B5EF4-FFF2-40B4-BE49-F238E27FC236}">
                <a16:creationId xmlns:a16="http://schemas.microsoft.com/office/drawing/2014/main" id="{D7F75FCA-3375-9A3C-A257-509ED624EB9C}"/>
              </a:ext>
            </a:extLst>
          </p:cNvPr>
          <p:cNvSpPr/>
          <p:nvPr/>
        </p:nvSpPr>
        <p:spPr>
          <a:xfrm>
            <a:off x="703041" y="4632252"/>
            <a:ext cx="2168551" cy="12612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Research questions</a:t>
            </a:r>
          </a:p>
        </p:txBody>
      </p:sp>
      <p:sp>
        <p:nvSpPr>
          <p:cNvPr id="22" name="TextBox 21">
            <a:extLst>
              <a:ext uri="{FF2B5EF4-FFF2-40B4-BE49-F238E27FC236}">
                <a16:creationId xmlns:a16="http://schemas.microsoft.com/office/drawing/2014/main" id="{A85B9368-A076-57DF-F2E3-D2E0962C858C}"/>
              </a:ext>
            </a:extLst>
          </p:cNvPr>
          <p:cNvSpPr txBox="1"/>
          <p:nvPr/>
        </p:nvSpPr>
        <p:spPr>
          <a:xfrm>
            <a:off x="488125" y="4904169"/>
            <a:ext cx="6552682" cy="923330"/>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Do corporate spreads anticipate rating changes?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How closely do corporate ratings follow sovereign rating cycles?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Does the sovereign ceiling operate differently across rating tiers?</a:t>
            </a:r>
          </a:p>
        </p:txBody>
      </p:sp>
      <p:sp>
        <p:nvSpPr>
          <p:cNvPr id="3" name="Retângulo 12">
            <a:extLst>
              <a:ext uri="{FF2B5EF4-FFF2-40B4-BE49-F238E27FC236}">
                <a16:creationId xmlns:a16="http://schemas.microsoft.com/office/drawing/2014/main" id="{D6F6ACE1-8410-7A96-B305-0B58AECA2690}"/>
              </a:ext>
            </a:extLst>
          </p:cNvPr>
          <p:cNvSpPr/>
          <p:nvPr/>
        </p:nvSpPr>
        <p:spPr>
          <a:xfrm>
            <a:off x="7181081" y="4710760"/>
            <a:ext cx="4664942" cy="1593256"/>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5" name="Retângulo 13">
            <a:extLst>
              <a:ext uri="{FF2B5EF4-FFF2-40B4-BE49-F238E27FC236}">
                <a16:creationId xmlns:a16="http://schemas.microsoft.com/office/drawing/2014/main" id="{59BA6E04-A011-B6E3-61ED-E7A3D8B62275}"/>
              </a:ext>
            </a:extLst>
          </p:cNvPr>
          <p:cNvSpPr/>
          <p:nvPr/>
        </p:nvSpPr>
        <p:spPr>
          <a:xfrm>
            <a:off x="7442920" y="4541196"/>
            <a:ext cx="2261338" cy="32377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Expected contribution</a:t>
            </a:r>
          </a:p>
        </p:txBody>
      </p:sp>
      <p:sp>
        <p:nvSpPr>
          <p:cNvPr id="7" name="TextBox 6">
            <a:extLst>
              <a:ext uri="{FF2B5EF4-FFF2-40B4-BE49-F238E27FC236}">
                <a16:creationId xmlns:a16="http://schemas.microsoft.com/office/drawing/2014/main" id="{1ACE7EF6-1E72-5528-6FE9-F9CE632C2532}"/>
              </a:ext>
            </a:extLst>
          </p:cNvPr>
          <p:cNvSpPr txBox="1"/>
          <p:nvPr/>
        </p:nvSpPr>
        <p:spPr>
          <a:xfrm>
            <a:off x="7181081" y="4904169"/>
            <a:ext cx="4664941"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Bridge market signals vs. agency assessments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Clarify long-run sovereign-corporate linkage</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Improve understanding of credit risk transmission in EM local-currency markets</a:t>
            </a:r>
          </a:p>
        </p:txBody>
      </p:sp>
      <p:sp>
        <p:nvSpPr>
          <p:cNvPr id="13" name="Retângulo 12">
            <a:extLst>
              <a:ext uri="{FF2B5EF4-FFF2-40B4-BE49-F238E27FC236}">
                <a16:creationId xmlns:a16="http://schemas.microsoft.com/office/drawing/2014/main" id="{B60BAFBB-FF31-FB0A-491E-377E16C7CD4C}"/>
              </a:ext>
            </a:extLst>
          </p:cNvPr>
          <p:cNvSpPr/>
          <p:nvPr/>
        </p:nvSpPr>
        <p:spPr>
          <a:xfrm>
            <a:off x="1616149" y="912997"/>
            <a:ext cx="8474148" cy="1483914"/>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latin typeface="+mj-lt"/>
            </a:endParaRPr>
          </a:p>
        </p:txBody>
      </p:sp>
      <p:sp>
        <p:nvSpPr>
          <p:cNvPr id="14" name="Retângulo 13">
            <a:extLst>
              <a:ext uri="{FF2B5EF4-FFF2-40B4-BE49-F238E27FC236}">
                <a16:creationId xmlns:a16="http://schemas.microsoft.com/office/drawing/2014/main" id="{EE0FF3C3-01AB-EE67-686C-A151E4461F05}"/>
              </a:ext>
            </a:extLst>
          </p:cNvPr>
          <p:cNvSpPr/>
          <p:nvPr/>
        </p:nvSpPr>
        <p:spPr>
          <a:xfrm>
            <a:off x="2871592" y="770252"/>
            <a:ext cx="1366550" cy="26891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72000" rIns="36000" rtlCol="0" anchor="ctr"/>
          <a:lstStyle/>
          <a:p>
            <a:pPr algn="ctr"/>
            <a:r>
              <a:rPr lang="en-US" sz="1800" b="1" i="1" dirty="0">
                <a:solidFill>
                  <a:srgbClr val="012EA5"/>
                </a:solidFill>
                <a:latin typeface="+mj-lt"/>
                <a:cs typeface="Times New Roman" panose="02020603050405020304" pitchFamily="18" charset="0"/>
              </a:rPr>
              <a:t>Limitations</a:t>
            </a:r>
          </a:p>
        </p:txBody>
      </p:sp>
      <p:sp>
        <p:nvSpPr>
          <p:cNvPr id="17" name="TextBox 16">
            <a:extLst>
              <a:ext uri="{FF2B5EF4-FFF2-40B4-BE49-F238E27FC236}">
                <a16:creationId xmlns:a16="http://schemas.microsoft.com/office/drawing/2014/main" id="{D15E8617-7C80-1C95-ACD3-1FA47DD04868}"/>
              </a:ext>
            </a:extLst>
          </p:cNvPr>
          <p:cNvSpPr txBox="1"/>
          <p:nvPr/>
        </p:nvSpPr>
        <p:spPr>
          <a:xfrm>
            <a:off x="2717384" y="1106405"/>
            <a:ext cx="5859330" cy="1200329"/>
          </a:xfrm>
          <a:prstGeom prst="rect">
            <a:avLst/>
          </a:prstGeom>
          <a:noFill/>
        </p:spPr>
        <p:txBody>
          <a:bodyPr wrap="square">
            <a:spAutoFit/>
          </a:bodyPr>
          <a:lstStyle/>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OTC market: prices are indicative, not transaction-level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Ratings not included in the baseline econometric model</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Monthly frequency limits microstructure analysis</a:t>
            </a:r>
          </a:p>
          <a:p>
            <a:pPr marL="285750" lvl="0" indent="-285750">
              <a:buFont typeface="Arial" panose="020B0604020202020204" pitchFamily="34" charset="0"/>
              <a:buChar char="•"/>
            </a:pPr>
            <a:r>
              <a:rPr lang="en-US" sz="1800" kern="100" dirty="0">
                <a:effectLst/>
                <a:latin typeface="+mj-lt"/>
                <a:ea typeface="M PLUS 2" pitchFamily="2" charset="-128"/>
                <a:cs typeface="Calibri" panose="020F0502020204030204" pitchFamily="34" charset="0"/>
              </a:rPr>
              <a:t>Results specific to IPCA-linked bonds in Brazil</a:t>
            </a:r>
          </a:p>
        </p:txBody>
      </p:sp>
      <p:sp>
        <p:nvSpPr>
          <p:cNvPr id="8" name="TextBox 6">
            <a:extLst>
              <a:ext uri="{FF2B5EF4-FFF2-40B4-BE49-F238E27FC236}">
                <a16:creationId xmlns:a16="http://schemas.microsoft.com/office/drawing/2014/main" id="{66CB4C0B-DD42-09E1-30E7-ABE0D5DD4B36}"/>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mj-lt"/>
                <a:ea typeface="M PLUS 2" pitchFamily="2" charset="-128"/>
              </a:rPr>
              <a:t>Limitations &amp; Future research on Credit Ratings</a:t>
            </a:r>
          </a:p>
        </p:txBody>
      </p:sp>
      <p:sp>
        <p:nvSpPr>
          <p:cNvPr id="9" name="TextBox 8">
            <a:extLst>
              <a:ext uri="{FF2B5EF4-FFF2-40B4-BE49-F238E27FC236}">
                <a16:creationId xmlns:a16="http://schemas.microsoft.com/office/drawing/2014/main" id="{1F7F9137-1BC8-AF20-70D9-7D5A240143FA}"/>
              </a:ext>
            </a:extLst>
          </p:cNvPr>
          <p:cNvSpPr txBox="1"/>
          <p:nvPr/>
        </p:nvSpPr>
        <p:spPr>
          <a:xfrm>
            <a:off x="179400" y="6450740"/>
            <a:ext cx="6096000" cy="307777"/>
          </a:xfrm>
          <a:prstGeom prst="rect">
            <a:avLst/>
          </a:prstGeom>
          <a:noFill/>
        </p:spPr>
        <p:txBody>
          <a:bodyPr wrap="square">
            <a:spAutoFit/>
          </a:bodyPr>
          <a:lstStyle/>
          <a:p>
            <a:r>
              <a:rPr lang="en-US" dirty="0">
                <a:latin typeface="+mj-lt"/>
              </a:rPr>
              <a:t>(Comments: Extension complements current spread-based analysis)</a:t>
            </a:r>
          </a:p>
        </p:txBody>
      </p:sp>
    </p:spTree>
    <p:extLst>
      <p:ext uri="{BB962C8B-B14F-4D97-AF65-F5344CB8AC3E}">
        <p14:creationId xmlns:p14="http://schemas.microsoft.com/office/powerpoint/2010/main" val="2924837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tângulo 12">
            <a:extLst>
              <a:ext uri="{FF2B5EF4-FFF2-40B4-BE49-F238E27FC236}">
                <a16:creationId xmlns:a16="http://schemas.microsoft.com/office/drawing/2014/main" id="{BED2396E-7611-480C-1885-A3FEDE8EB7BC}"/>
              </a:ext>
            </a:extLst>
          </p:cNvPr>
          <p:cNvSpPr/>
          <p:nvPr/>
        </p:nvSpPr>
        <p:spPr>
          <a:xfrm>
            <a:off x="1158949" y="808074"/>
            <a:ext cx="4167963" cy="5821870"/>
          </a:xfrm>
          <a:prstGeom prst="rect">
            <a:avLst/>
          </a:prstGeom>
          <a:noFill/>
          <a:ln>
            <a:solidFill>
              <a:srgbClr val="012EA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6" name="Picture 5" descr="A screenshot of a document&#10;&#10;AI-generated content may be incorrect.">
            <a:extLst>
              <a:ext uri="{FF2B5EF4-FFF2-40B4-BE49-F238E27FC236}">
                <a16:creationId xmlns:a16="http://schemas.microsoft.com/office/drawing/2014/main" id="{D2A797BB-FACA-AFF0-5CCE-EAA2D063C270}"/>
              </a:ext>
            </a:extLst>
          </p:cNvPr>
          <p:cNvPicPr>
            <a:picLocks noChangeAspect="1"/>
          </p:cNvPicPr>
          <p:nvPr/>
        </p:nvPicPr>
        <p:blipFill>
          <a:blip r:embed="rId3"/>
          <a:stretch>
            <a:fillRect/>
          </a:stretch>
        </p:blipFill>
        <p:spPr>
          <a:xfrm>
            <a:off x="1245360" y="894992"/>
            <a:ext cx="3627593" cy="5549581"/>
          </a:xfrm>
          <a:prstGeom prst="rect">
            <a:avLst/>
          </a:prstGeom>
          <a:solidFill>
            <a:srgbClr val="1E2454"/>
          </a:solidFill>
          <a:ln>
            <a:noFill/>
          </a:ln>
        </p:spPr>
      </p:pic>
      <p:sp>
        <p:nvSpPr>
          <p:cNvPr id="2" name="TextBox 6">
            <a:extLst>
              <a:ext uri="{FF2B5EF4-FFF2-40B4-BE49-F238E27FC236}">
                <a16:creationId xmlns:a16="http://schemas.microsoft.com/office/drawing/2014/main" id="{3E120263-B2CC-1DC2-CF18-1DF6553232EC}"/>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Roadmap</a:t>
            </a:r>
          </a:p>
        </p:txBody>
      </p:sp>
      <p:sp>
        <p:nvSpPr>
          <p:cNvPr id="4" name="Seta: Pentágono 3">
            <a:extLst>
              <a:ext uri="{FF2B5EF4-FFF2-40B4-BE49-F238E27FC236}">
                <a16:creationId xmlns:a16="http://schemas.microsoft.com/office/drawing/2014/main" id="{F821A14A-340A-9569-95A2-5461C9F504C5}"/>
              </a:ext>
            </a:extLst>
          </p:cNvPr>
          <p:cNvSpPr/>
          <p:nvPr/>
        </p:nvSpPr>
        <p:spPr>
          <a:xfrm>
            <a:off x="5824196" y="1390051"/>
            <a:ext cx="5760720" cy="374953"/>
          </a:xfrm>
          <a:prstGeom prst="homePlate">
            <a:avLst>
              <a:gd name="adj" fmla="val 0"/>
            </a:avLst>
          </a:prstGeom>
          <a:solidFill>
            <a:srgbClr val="1E2454"/>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r>
              <a:rPr lang="en-US" sz="2000" dirty="0">
                <a:solidFill>
                  <a:schemeClr val="bg1"/>
                </a:solidFill>
                <a:latin typeface="Calibri" panose="020F0502020204030204" pitchFamily="34" charset="0"/>
                <a:ea typeface="M PLUS 2" pitchFamily="2" charset="-128"/>
                <a:cs typeface="Calibri" panose="020F0502020204030204" pitchFamily="34" charset="0"/>
              </a:rPr>
              <a:t>Papers</a:t>
            </a:r>
          </a:p>
        </p:txBody>
      </p:sp>
      <p:sp>
        <p:nvSpPr>
          <p:cNvPr id="7" name="CaixaDeTexto 6">
            <a:extLst>
              <a:ext uri="{FF2B5EF4-FFF2-40B4-BE49-F238E27FC236}">
                <a16:creationId xmlns:a16="http://schemas.microsoft.com/office/drawing/2014/main" id="{7C981F83-398A-17A8-1D60-DAE6A67C151A}"/>
              </a:ext>
            </a:extLst>
          </p:cNvPr>
          <p:cNvSpPr txBox="1"/>
          <p:nvPr/>
        </p:nvSpPr>
        <p:spPr>
          <a:xfrm>
            <a:off x="5824196" y="1853750"/>
            <a:ext cx="5760720" cy="877163"/>
          </a:xfrm>
          <a:prstGeom prst="rect">
            <a:avLst/>
          </a:prstGeom>
          <a:solidFill>
            <a:srgbClr val="FEE1B9"/>
          </a:solidFill>
          <a:ln w="3175">
            <a:noFill/>
          </a:ln>
        </p:spPr>
        <p:txBody>
          <a:bodyPr wrap="square" lIns="36000" tIns="0" rIns="36000">
            <a:spAutoFit/>
          </a:bodyPr>
          <a:lstStyle/>
          <a:p>
            <a:r>
              <a:rPr lang="en-US" sz="1800" b="1" i="0" u="sng" strike="noStrike" baseline="0" dirty="0">
                <a:solidFill>
                  <a:srgbClr val="000000"/>
                </a:solidFill>
                <a:latin typeface="Calibri" panose="020F0502020204030204" pitchFamily="34" charset="0"/>
                <a:cs typeface="Calibri" panose="020F0502020204030204" pitchFamily="34" charset="0"/>
              </a:rPr>
              <a:t>1# </a:t>
            </a:r>
            <a:r>
              <a:rPr lang="es-ES" sz="1800" b="0" i="0" u="none" strike="noStrike" baseline="0" dirty="0">
                <a:solidFill>
                  <a:srgbClr val="000000"/>
                </a:solidFill>
                <a:latin typeface="Calibri" panose="020F0502020204030204" pitchFamily="34" charset="0"/>
                <a:cs typeface="Calibri" panose="020F0502020204030204" pitchFamily="34" charset="0"/>
              </a:rPr>
              <a:t>Del Campo al Mercado: Explorando las Dinámicas de las Cadenas Agroindustriales en Brasil; </a:t>
            </a:r>
            <a:r>
              <a:rPr lang="es-ES" sz="1800" dirty="0">
                <a:latin typeface="Calibri" panose="020F0502020204030204" pitchFamily="34" charset="0"/>
                <a:cs typeface="Calibri" panose="020F0502020204030204" pitchFamily="34" charset="0"/>
              </a:rPr>
              <a:t>Economía Agropecuaria - Prof. Roberto </a:t>
            </a:r>
            <a:r>
              <a:rPr lang="es-ES" sz="1800" dirty="0" err="1">
                <a:latin typeface="Calibri" panose="020F0502020204030204" pitchFamily="34" charset="0"/>
                <a:cs typeface="Calibri" panose="020F0502020204030204" pitchFamily="34" charset="0"/>
              </a:rPr>
              <a:t>Bisang</a:t>
            </a:r>
            <a:r>
              <a:rPr lang="es-ES" sz="1800" b="0" i="0" u="none" strike="noStrike" baseline="0" dirty="0">
                <a:solidFill>
                  <a:srgbClr val="000000"/>
                </a:solidFill>
                <a:latin typeface="Calibri" panose="020F0502020204030204" pitchFamily="34" charset="0"/>
                <a:cs typeface="Calibri" panose="020F0502020204030204" pitchFamily="34" charset="0"/>
              </a:rPr>
              <a:t>	</a:t>
            </a:r>
            <a:endParaRPr lang="en-US" sz="1800" dirty="0">
              <a:latin typeface="Calibri" panose="020F0502020204030204" pitchFamily="34" charset="0"/>
              <a:cs typeface="Calibri" panose="020F0502020204030204" pitchFamily="34" charset="0"/>
            </a:endParaRPr>
          </a:p>
        </p:txBody>
      </p:sp>
      <p:sp>
        <p:nvSpPr>
          <p:cNvPr id="8" name="CaixaDeTexto 7">
            <a:extLst>
              <a:ext uri="{FF2B5EF4-FFF2-40B4-BE49-F238E27FC236}">
                <a16:creationId xmlns:a16="http://schemas.microsoft.com/office/drawing/2014/main" id="{E5AD2DA4-E5F6-CA1F-19C9-3249A132A3C1}"/>
              </a:ext>
            </a:extLst>
          </p:cNvPr>
          <p:cNvSpPr txBox="1"/>
          <p:nvPr/>
        </p:nvSpPr>
        <p:spPr>
          <a:xfrm>
            <a:off x="5824196" y="2819659"/>
            <a:ext cx="5760720" cy="877163"/>
          </a:xfrm>
          <a:prstGeom prst="rect">
            <a:avLst/>
          </a:prstGeom>
          <a:solidFill>
            <a:srgbClr val="FEE1B9"/>
          </a:solidFill>
          <a:ln w="3175">
            <a:noFill/>
          </a:ln>
        </p:spPr>
        <p:txBody>
          <a:bodyPr wrap="square" lIns="36000" tIns="0" rIns="36000">
            <a:spAutoFit/>
          </a:bodyPr>
          <a:lstStyle/>
          <a:p>
            <a:r>
              <a:rPr lang="en-US" sz="1800" b="1" i="0" u="sng" strike="noStrike" baseline="0" dirty="0">
                <a:solidFill>
                  <a:srgbClr val="000000"/>
                </a:solidFill>
                <a:latin typeface="Calibri" panose="020F0502020204030204" pitchFamily="34" charset="0"/>
                <a:cs typeface="Calibri" panose="020F0502020204030204" pitchFamily="34" charset="0"/>
              </a:rPr>
              <a:t>2# </a:t>
            </a:r>
            <a:r>
              <a:rPr lang="es-ES" sz="1800" i="0" u="none" strike="noStrike" baseline="0" dirty="0">
                <a:solidFill>
                  <a:srgbClr val="000000"/>
                </a:solidFill>
                <a:latin typeface="Calibri" panose="020F0502020204030204" pitchFamily="34" charset="0"/>
                <a:cs typeface="Calibri" panose="020F0502020204030204" pitchFamily="34" charset="0"/>
              </a:rPr>
              <a:t>Análisis de Estados Financieros  </a:t>
            </a:r>
            <a:r>
              <a:rPr lang="es-ES" sz="1800" dirty="0">
                <a:latin typeface="Calibri" panose="020F0502020204030204" pitchFamily="34" charset="0"/>
                <a:cs typeface="Calibri" panose="020F0502020204030204" pitchFamily="34" charset="0"/>
              </a:rPr>
              <a:t>y Valuación de la Transportadora de Gas del Sur S.A; Valuación de Activos - Prof. Daniel </a:t>
            </a:r>
            <a:r>
              <a:rPr lang="es-ES" sz="1800" dirty="0" err="1">
                <a:latin typeface="Calibri" panose="020F0502020204030204" pitchFamily="34" charset="0"/>
                <a:cs typeface="Calibri" panose="020F0502020204030204" pitchFamily="34" charset="0"/>
              </a:rPr>
              <a:t>Milia</a:t>
            </a:r>
            <a:endParaRPr lang="en-US" sz="1800" b="1" dirty="0">
              <a:latin typeface="Calibri" panose="020F0502020204030204" pitchFamily="34" charset="0"/>
              <a:cs typeface="Calibri" panose="020F0502020204030204" pitchFamily="34" charset="0"/>
            </a:endParaRPr>
          </a:p>
        </p:txBody>
      </p:sp>
      <p:sp>
        <p:nvSpPr>
          <p:cNvPr id="9" name="CaixaDeTexto 8">
            <a:extLst>
              <a:ext uri="{FF2B5EF4-FFF2-40B4-BE49-F238E27FC236}">
                <a16:creationId xmlns:a16="http://schemas.microsoft.com/office/drawing/2014/main" id="{D48B8956-27EB-48DE-C3C5-F9EAA2567F57}"/>
              </a:ext>
            </a:extLst>
          </p:cNvPr>
          <p:cNvSpPr txBox="1"/>
          <p:nvPr/>
        </p:nvSpPr>
        <p:spPr>
          <a:xfrm>
            <a:off x="5824196" y="3785568"/>
            <a:ext cx="5760720" cy="1154162"/>
          </a:xfrm>
          <a:prstGeom prst="rect">
            <a:avLst/>
          </a:prstGeom>
          <a:solidFill>
            <a:srgbClr val="FEE1B9"/>
          </a:solidFill>
          <a:ln w="3175">
            <a:noFill/>
          </a:ln>
        </p:spPr>
        <p:txBody>
          <a:bodyPr wrap="square" lIns="36000" tIns="0" rIns="36000">
            <a:spAutoFit/>
          </a:bodyPr>
          <a:lstStyle>
            <a:defPPr>
              <a:defRPr lang="en-US"/>
            </a:defPPr>
            <a:lvl1pPr>
              <a:defRPr sz="1000" b="1" i="0" u="none" strike="noStrike" baseline="0">
                <a:solidFill>
                  <a:srgbClr val="000000"/>
                </a:solidFill>
              </a:defRPr>
            </a:lvl1pPr>
          </a:lstStyle>
          <a:p>
            <a:r>
              <a:rPr lang="en-US" sz="1800" u="sng" dirty="0">
                <a:latin typeface="Calibri" panose="020F0502020204030204" pitchFamily="34" charset="0"/>
                <a:cs typeface="Calibri" panose="020F0502020204030204" pitchFamily="34" charset="0"/>
              </a:rPr>
              <a:t>3#</a:t>
            </a:r>
            <a:r>
              <a:rPr lang="en-US" sz="1800" b="0" dirty="0">
                <a:latin typeface="Calibri" panose="020F0502020204030204" pitchFamily="34" charset="0"/>
                <a:cs typeface="Calibri" panose="020F0502020204030204" pitchFamily="34" charset="0"/>
              </a:rPr>
              <a:t>:Understanding the Impact of Policy Decisions on Economic Performance: A Case Study of Brazil's Deindustrialization; </a:t>
            </a:r>
            <a:r>
              <a:rPr lang="es-ES" sz="1800" b="0" dirty="0">
                <a:latin typeface="Calibri" panose="020F0502020204030204" pitchFamily="34" charset="0"/>
                <a:cs typeface="Calibri" panose="020F0502020204030204" pitchFamily="34" charset="0"/>
              </a:rPr>
              <a:t>Economía Política de las Políticas Públicas - Prof. Juan Pablo Gonzalez</a:t>
            </a:r>
            <a:endParaRPr lang="en-US" sz="1800" dirty="0">
              <a:latin typeface="Calibri" panose="020F0502020204030204" pitchFamily="34" charset="0"/>
              <a:cs typeface="Calibri" panose="020F0502020204030204" pitchFamily="34" charset="0"/>
            </a:endParaRPr>
          </a:p>
        </p:txBody>
      </p:sp>
      <p:sp>
        <p:nvSpPr>
          <p:cNvPr id="11" name="CaixaDeTexto 10">
            <a:extLst>
              <a:ext uri="{FF2B5EF4-FFF2-40B4-BE49-F238E27FC236}">
                <a16:creationId xmlns:a16="http://schemas.microsoft.com/office/drawing/2014/main" id="{060BEE0D-C0B5-0585-E8EC-FA8B76A20681}"/>
              </a:ext>
            </a:extLst>
          </p:cNvPr>
          <p:cNvSpPr txBox="1"/>
          <p:nvPr/>
        </p:nvSpPr>
        <p:spPr>
          <a:xfrm>
            <a:off x="5824196" y="5028477"/>
            <a:ext cx="5760720" cy="877163"/>
          </a:xfrm>
          <a:prstGeom prst="rect">
            <a:avLst/>
          </a:prstGeom>
          <a:solidFill>
            <a:srgbClr val="FEE1B9"/>
          </a:solidFill>
          <a:ln w="3175">
            <a:noFill/>
          </a:ln>
        </p:spPr>
        <p:txBody>
          <a:bodyPr wrap="square" lIns="36000" tIns="0" rIns="36000">
            <a:spAutoFit/>
          </a:bodyPr>
          <a:lstStyle>
            <a:defPPr>
              <a:defRPr lang="en-US"/>
            </a:defPPr>
            <a:lvl1pPr>
              <a:defRPr sz="1000" b="1" i="0" u="none" strike="noStrike" baseline="0">
                <a:solidFill>
                  <a:srgbClr val="000000"/>
                </a:solidFill>
              </a:defRPr>
            </a:lvl1pPr>
          </a:lstStyle>
          <a:p>
            <a:r>
              <a:rPr lang="en-US" sz="1800" u="sng" dirty="0">
                <a:solidFill>
                  <a:schemeClr val="tx1"/>
                </a:solidFill>
                <a:latin typeface="Calibri" panose="020F0502020204030204" pitchFamily="34" charset="0"/>
                <a:cs typeface="Calibri" panose="020F0502020204030204" pitchFamily="34" charset="0"/>
              </a:rPr>
              <a:t>4#</a:t>
            </a:r>
            <a:r>
              <a:rPr lang="es-ES" sz="1800" b="0" dirty="0">
                <a:solidFill>
                  <a:schemeClr val="tx1"/>
                </a:solidFill>
                <a:latin typeface="Calibri" panose="020F0502020204030204" pitchFamily="34" charset="0"/>
                <a:cs typeface="Calibri" panose="020F0502020204030204" pitchFamily="34" charset="0"/>
              </a:rPr>
              <a:t>:Cómo el efecto certeza y la percepción del riesgo moldean nuestras decisiones; Conducta y Psicología de las Decisiones Económicas - Prof. Pablo Javier Mira </a:t>
            </a:r>
            <a:r>
              <a:rPr lang="es-ES" sz="1800" b="0" dirty="0" err="1">
                <a:solidFill>
                  <a:schemeClr val="tx1"/>
                </a:solidFill>
                <a:latin typeface="Calibri" panose="020F0502020204030204" pitchFamily="34" charset="0"/>
                <a:cs typeface="Calibri" panose="020F0502020204030204" pitchFamily="34" charset="0"/>
              </a:rPr>
              <a:t>Llambi</a:t>
            </a:r>
            <a:endParaRPr lang="en-US" sz="1800" dirty="0">
              <a:solidFill>
                <a:schemeClr val="tx1"/>
              </a:solidFill>
              <a:latin typeface="Calibri" panose="020F0502020204030204" pitchFamily="34" charset="0"/>
              <a:cs typeface="Calibri" panose="020F0502020204030204" pitchFamily="34" charset="0"/>
            </a:endParaRPr>
          </a:p>
        </p:txBody>
      </p:sp>
      <p:sp>
        <p:nvSpPr>
          <p:cNvPr id="16" name="Isosceles Triangle 15">
            <a:extLst>
              <a:ext uri="{FF2B5EF4-FFF2-40B4-BE49-F238E27FC236}">
                <a16:creationId xmlns:a16="http://schemas.microsoft.com/office/drawing/2014/main" id="{074329BE-2DBF-768F-F5C0-33F5216E66DB}"/>
              </a:ext>
            </a:extLst>
          </p:cNvPr>
          <p:cNvSpPr/>
          <p:nvPr/>
        </p:nvSpPr>
        <p:spPr>
          <a:xfrm rot="5400000">
            <a:off x="5038081" y="1432689"/>
            <a:ext cx="914703" cy="358306"/>
          </a:xfrm>
          <a:prstGeom prst="triangle">
            <a:avLst/>
          </a:prstGeom>
          <a:solidFill>
            <a:srgbClr val="1E2454"/>
          </a:solidFill>
          <a:ln>
            <a:noFill/>
          </a:ln>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algn="ctr"/>
            <a:endParaRPr lang="en-US" sz="2000">
              <a:solidFill>
                <a:schemeClr val="bg1"/>
              </a:solidFill>
              <a:latin typeface="Calibri" panose="020F0502020204030204" pitchFamily="34" charset="0"/>
              <a:ea typeface="M PLUS 2" pitchFamily="2" charset="-128"/>
              <a:cs typeface="Calibri" panose="020F0502020204030204" pitchFamily="34" charset="0"/>
            </a:endParaRPr>
          </a:p>
        </p:txBody>
      </p:sp>
    </p:spTree>
    <p:extLst>
      <p:ext uri="{BB962C8B-B14F-4D97-AF65-F5344CB8AC3E}">
        <p14:creationId xmlns:p14="http://schemas.microsoft.com/office/powerpoint/2010/main" val="3718022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a:extLst>
              <a:ext uri="{FF2B5EF4-FFF2-40B4-BE49-F238E27FC236}">
                <a16:creationId xmlns:a16="http://schemas.microsoft.com/office/drawing/2014/main" id="{545D9955-955B-F50A-BCAE-EF63EF54E23E}"/>
              </a:ext>
            </a:extLst>
          </p:cNvPr>
          <p:cNvSpPr txBox="1"/>
          <p:nvPr/>
        </p:nvSpPr>
        <p:spPr>
          <a:xfrm>
            <a:off x="498380" y="933301"/>
            <a:ext cx="11452620" cy="5655394"/>
          </a:xfrm>
          <a:prstGeom prst="rect">
            <a:avLst/>
          </a:prstGeom>
        </p:spPr>
        <p:txBody>
          <a:bodyPr wrap="square" lIns="0" tIns="0" rIns="0" bIns="0" rtlCol="0" anchor="t">
            <a:spAutoFit/>
          </a:bodyPr>
          <a:lstStyle/>
          <a:p>
            <a:pPr marL="179388" indent="-179388" defTabSz="609630"/>
            <a:r>
              <a:rPr lang="pt-BR" sz="1050" dirty="0">
                <a:solidFill>
                  <a:prstClr val="black"/>
                </a:solidFill>
                <a:latin typeface="Calibri" panose="020F0502020204030204" pitchFamily="34" charset="0"/>
                <a:cs typeface="Calibri" panose="020F0502020204030204" pitchFamily="34" charset="0"/>
              </a:rPr>
              <a:t>Arora, N., Gandhi, P., &amp; Longstaff, F. A. (2012). Counterparty Credit Risk and the Credit Default Swap Market. Journal of Financial and Quantitative Analysis, 47(1), 119–138. https://doi.org/10.1017/S0022109011000590</a:t>
            </a:r>
          </a:p>
          <a:p>
            <a:pPr marL="179388" indent="-179388" defTabSz="609630"/>
            <a:r>
              <a:rPr lang="pt-BR" sz="1050" dirty="0">
                <a:solidFill>
                  <a:prstClr val="black"/>
                </a:solidFill>
                <a:latin typeface="Calibri" panose="020F0502020204030204" pitchFamily="34" charset="0"/>
                <a:cs typeface="Calibri" panose="020F0502020204030204" pitchFamily="34" charset="0"/>
              </a:rPr>
              <a:t>Banco Central do Brasil (BCB). (varios años). Indicadores económicos y financieros. https://www.bcb.gov.br</a:t>
            </a:r>
          </a:p>
          <a:p>
            <a:pPr marL="179388" indent="-179388" defTabSz="609630"/>
            <a:r>
              <a:rPr lang="pt-BR" sz="1050" dirty="0">
                <a:solidFill>
                  <a:prstClr val="black"/>
                </a:solidFill>
                <a:latin typeface="Calibri" panose="020F0502020204030204" pitchFamily="34" charset="0"/>
                <a:cs typeface="Calibri" panose="020F0502020204030204" pitchFamily="34" charset="0"/>
              </a:rPr>
              <a:t>B3. (2025a). Taxas referenciais DI x Pré – Histórico. Recuperado de: https://www2.bmf.com.br/pages/portal/bmfbovespa/boletim1/txref1.asp</a:t>
            </a:r>
          </a:p>
          <a:p>
            <a:pPr marL="179388" indent="-179388" defTabSz="609630"/>
            <a:r>
              <a:rPr lang="pt-BR" sz="1050" dirty="0">
                <a:solidFill>
                  <a:prstClr val="black"/>
                </a:solidFill>
                <a:latin typeface="Calibri" panose="020F0502020204030204" pitchFamily="34" charset="0"/>
                <a:cs typeface="Calibri" panose="020F0502020204030204" pitchFamily="34" charset="0"/>
              </a:rPr>
              <a:t>B3. (n.d.). Taxas referenciais BM&amp;FBOVESPA. B3 – Brasil, Bolsa, Balcão. Retrieved July 20, 2025, from https://www.b3.com.br/pt_br/market-data-e-indices/servicos-de-dados/market-data/consultas/mercado-de-derivativos/precos-referenciais/taxas-referenciais-bm-fbovespa/</a:t>
            </a:r>
          </a:p>
          <a:p>
            <a:pPr marL="179388" indent="-179388" defTabSz="609630"/>
            <a:r>
              <a:rPr lang="pt-BR" sz="1050" dirty="0">
                <a:solidFill>
                  <a:prstClr val="black"/>
                </a:solidFill>
                <a:latin typeface="Calibri" panose="020F0502020204030204" pitchFamily="34" charset="0"/>
                <a:cs typeface="Calibri" panose="020F0502020204030204" pitchFamily="34" charset="0"/>
              </a:rPr>
              <a:t>Banco de Pagos Internacionales (BIS). (varios años). Base de datos de estadísticas macrofinancieras. https://www.bis.org/statistics/</a:t>
            </a:r>
          </a:p>
          <a:p>
            <a:pPr marL="179388" indent="-179388" defTabSz="609630"/>
            <a:r>
              <a:rPr lang="pt-BR" sz="1050" dirty="0">
                <a:solidFill>
                  <a:prstClr val="black"/>
                </a:solidFill>
                <a:latin typeface="Calibri" panose="020F0502020204030204" pitchFamily="34" charset="0"/>
                <a:cs typeface="Calibri" panose="020F0502020204030204" pitchFamily="34" charset="0"/>
              </a:rPr>
              <a:t>Blundell, R., &amp; Bond, S. (1998). Initial conditions and moment restrictions in dynamic panel data models. Journal of Econometrics, 87(1), 115–143. https://doi.org/10.1016/S0304-4076(98)00009-8</a:t>
            </a:r>
          </a:p>
          <a:p>
            <a:pPr marL="179388" indent="-179388" defTabSz="609630"/>
            <a:r>
              <a:rPr lang="pt-BR" sz="1050" dirty="0">
                <a:solidFill>
                  <a:prstClr val="black"/>
                </a:solidFill>
                <a:latin typeface="Calibri" panose="020F0502020204030204" pitchFamily="34" charset="0"/>
                <a:cs typeface="Calibri" panose="020F0502020204030204" pitchFamily="34" charset="0"/>
              </a:rPr>
              <a:t>Carvalho, A. G. de, &amp; Marques, F. T. (2020). The microstructure of the Brazilian market for corporate bonds. Revista Brasileira de Gestão de Negócios, 22(Special Issue), 482–500. https://doi.org/10.7819/rbgn.v22i0.4061</a:t>
            </a:r>
          </a:p>
          <a:p>
            <a:pPr marL="179388" indent="-179388" defTabSz="609630"/>
            <a:r>
              <a:rPr lang="pt-BR" sz="1050" dirty="0">
                <a:solidFill>
                  <a:prstClr val="black"/>
                </a:solidFill>
                <a:latin typeface="Calibri" panose="020F0502020204030204" pitchFamily="34" charset="0"/>
                <a:cs typeface="Calibri" panose="020F0502020204030204" pitchFamily="34" charset="0"/>
              </a:rPr>
              <a:t>Duffie, D. (1999). Credit Swap Valuation. Financial Analysts Journal, 55(1), 73–87. https://doi.org/10.2469/faj.v55.n1.2240</a:t>
            </a:r>
          </a:p>
          <a:p>
            <a:pPr marL="179388" indent="-179388" defTabSz="609630"/>
            <a:r>
              <a:rPr lang="pt-BR" sz="1050" dirty="0">
                <a:solidFill>
                  <a:prstClr val="black"/>
                </a:solidFill>
                <a:latin typeface="Calibri" panose="020F0502020204030204" pitchFamily="34" charset="0"/>
                <a:cs typeface="Calibri" panose="020F0502020204030204" pitchFamily="34" charset="0"/>
              </a:rPr>
              <a:t>Durbin, E., &amp; Ng, D. (2001). The sovereign ceiling and emerging market corporate bond spreads: A new dataset and methodology (World Bank Policy Research Working Paper No. 2561). https://documents.worldbank.org/en/publication/documents-reports/documentdetail/372801468739801225</a:t>
            </a:r>
          </a:p>
          <a:p>
            <a:pPr marL="179388" indent="-179388" defTabSz="609630"/>
            <a:r>
              <a:rPr lang="pt-BR" sz="1050" dirty="0">
                <a:solidFill>
                  <a:prstClr val="black"/>
                </a:solidFill>
                <a:latin typeface="Calibri" panose="020F0502020204030204" pitchFamily="34" charset="0"/>
                <a:cs typeface="Calibri" panose="020F0502020204030204" pitchFamily="34" charset="0"/>
              </a:rPr>
              <a:t>Espinoza, R. A., &amp; Prasad, A. (2012). Sovereign credit ratings and spreads in emerging markets: Does investment grade matter? (IMF Working Paper No. 12/140). https://www.imf.org/en/Publications/WP/Issues/2016/12/31/Sovereign-Credit-Ratings-and-Spreads-in-Emerging-Markets-Does-Investment-Grade-Matter-25984</a:t>
            </a:r>
          </a:p>
          <a:p>
            <a:pPr marL="179388" indent="-179388" defTabSz="609630"/>
            <a:r>
              <a:rPr lang="pt-BR" sz="1050" dirty="0">
                <a:solidFill>
                  <a:prstClr val="black"/>
                </a:solidFill>
                <a:latin typeface="Calibri" panose="020F0502020204030204" pitchFamily="34" charset="0"/>
                <a:cs typeface="Calibri" panose="020F0502020204030204" pitchFamily="34" charset="0"/>
              </a:rPr>
              <a:t>Fondo Monetario Internacional (FMI). (varios años). World Economic Outlook Database y International Financial Statistics. https://www.imf.org</a:t>
            </a:r>
          </a:p>
          <a:p>
            <a:pPr marL="179388" indent="-179388" defTabSz="609630"/>
            <a:r>
              <a:rPr lang="pt-BR" sz="1050" dirty="0">
                <a:solidFill>
                  <a:prstClr val="black"/>
                </a:solidFill>
                <a:latin typeface="Calibri" panose="020F0502020204030204" pitchFamily="34" charset="0"/>
                <a:cs typeface="Calibri" panose="020F0502020204030204" pitchFamily="34" charset="0"/>
              </a:rPr>
              <a:t>Gómez-González, J. E., Uribe, J. M., &amp; Valencia, O. M. (2022). Risk spillovers between global corporations and Latin American sovereigns: Global factors matter. Applied Economics, 55(13), 1477–1496. https://doi.org/10.1080/00036846.2022.2097193</a:t>
            </a:r>
          </a:p>
          <a:p>
            <a:pPr marL="179388" indent="-179388" defTabSz="609630"/>
            <a:r>
              <a:rPr lang="pt-BR" sz="1050" dirty="0">
                <a:solidFill>
                  <a:prstClr val="black"/>
                </a:solidFill>
                <a:latin typeface="Calibri" panose="020F0502020204030204" pitchFamily="34" charset="0"/>
                <a:cs typeface="Calibri" panose="020F0502020204030204" pitchFamily="34" charset="0"/>
              </a:rPr>
              <a:t>González‐Rozada, M., &amp; Levy Yeyati, E. (2008). Global factors and emerging market spreads. The Economic Journal, 118(533), 1917–1936. https://doi.org/10.1111/j.1468-0297.2008.02196.x</a:t>
            </a:r>
          </a:p>
          <a:p>
            <a:pPr marL="179388" indent="-179388" defTabSz="609630"/>
            <a:r>
              <a:rPr lang="pt-BR" sz="1050" dirty="0">
                <a:solidFill>
                  <a:prstClr val="black"/>
                </a:solidFill>
                <a:latin typeface="Calibri" panose="020F0502020204030204" pitchFamily="34" charset="0"/>
                <a:cs typeface="Calibri" panose="020F0502020204030204" pitchFamily="34" charset="0"/>
              </a:rPr>
              <a:t>Grandes, M., &amp; Peter, M. (2005). How important is sovereign risk in determining corporate default premia? The case of South Africa (IMF Working Paper No. 05/217). https://www.imf.org/en/Publications/WP/Issues/2016/12/31/How-Important-Is-Sovereign-Risk-in-Determining-Corporate-Default-Premia-The-Case-of-South-18634</a:t>
            </a:r>
          </a:p>
          <a:p>
            <a:pPr marL="179388" indent="-179388" defTabSz="609630"/>
            <a:r>
              <a:rPr lang="pt-BR" sz="1050" dirty="0">
                <a:solidFill>
                  <a:prstClr val="black"/>
                </a:solidFill>
                <a:latin typeface="Calibri" panose="020F0502020204030204" pitchFamily="34" charset="0"/>
                <a:cs typeface="Calibri" panose="020F0502020204030204" pitchFamily="34" charset="0"/>
              </a:rPr>
              <a:t>Grandes, M., Panigo, D. T., &amp; Pasquini, R. A. (2017). Corporate credit spreads and the sovereign ceiling in Latin America. Emerging Markets Finance and Trade, 53(5), 1217–1240. https://doi.org/10.1080/1540496X.2016.1174853</a:t>
            </a:r>
          </a:p>
          <a:p>
            <a:pPr marL="179388" indent="-179388" defTabSz="609630"/>
            <a:r>
              <a:rPr lang="pt-BR" sz="1050" dirty="0">
                <a:solidFill>
                  <a:prstClr val="black"/>
                </a:solidFill>
                <a:latin typeface="Calibri" panose="020F0502020204030204" pitchFamily="34" charset="0"/>
                <a:cs typeface="Calibri" panose="020F0502020204030204" pitchFamily="34" charset="0"/>
              </a:rPr>
              <a:t>Insper. (2024a). DI Surprise as Monetary Policy Shock Identification: Brazil Case Study. CEFIN – Centro de Estudos em Finanças. https://cefim-insper.github.io/projects/DI_Surprise_MPshock.html</a:t>
            </a:r>
          </a:p>
          <a:p>
            <a:pPr marL="179388" indent="-179388" defTabSz="609630"/>
            <a:r>
              <a:rPr lang="pt-BR" sz="1050" dirty="0">
                <a:solidFill>
                  <a:prstClr val="black"/>
                </a:solidFill>
                <a:latin typeface="Calibri" panose="020F0502020204030204" pitchFamily="34" charset="0"/>
                <a:cs typeface="Calibri" panose="020F0502020204030204" pitchFamily="34" charset="0"/>
              </a:rPr>
              <a:t>Insper. (2024b). Prêmio de Risco na Estrutura a Termo da Taxa de Juros: Uma aplicação ao Brasil (2005–2016). https://repositorio-api.insper.edu.br/server/api/core/bitstreams/2afa065a-aca4-48a6-9687-05d328b7df5b/content</a:t>
            </a:r>
          </a:p>
          <a:p>
            <a:pPr marL="179388" indent="-179388" defTabSz="609630"/>
            <a:r>
              <a:rPr lang="pt-BR" sz="1050" dirty="0">
                <a:solidFill>
                  <a:prstClr val="black"/>
                </a:solidFill>
                <a:latin typeface="Calibri" panose="020F0502020204030204" pitchFamily="34" charset="0"/>
                <a:cs typeface="Calibri" panose="020F0502020204030204" pitchFamily="34" charset="0"/>
              </a:rPr>
              <a:t>JP Morgan. (varios años). EMBI Global Index.</a:t>
            </a:r>
          </a:p>
          <a:p>
            <a:pPr marL="179388" indent="-179388" defTabSz="609630"/>
            <a:r>
              <a:rPr lang="pt-BR" sz="1050" dirty="0">
                <a:solidFill>
                  <a:prstClr val="black"/>
                </a:solidFill>
                <a:latin typeface="Calibri" panose="020F0502020204030204" pitchFamily="34" charset="0"/>
                <a:cs typeface="Calibri" panose="020F0502020204030204" pitchFamily="34" charset="0"/>
              </a:rPr>
              <a:t>Liu, Z., &amp; Spencer, P. (2013). Modelling sovereign credit spreads with international macro-factors: The case of Brazil 1998–2009. Journal of Banking &amp; Finance, 37(2), 241–256. https://doi.org/10.1016/j.jbankfin.2012.08.012</a:t>
            </a:r>
          </a:p>
          <a:p>
            <a:pPr marL="179388" indent="-179388" defTabSz="609630"/>
            <a:r>
              <a:rPr lang="pt-BR" sz="1050" dirty="0">
                <a:solidFill>
                  <a:prstClr val="black"/>
                </a:solidFill>
                <a:latin typeface="Calibri" panose="020F0502020204030204" pitchFamily="34" charset="0"/>
                <a:cs typeface="Calibri" panose="020F0502020204030204" pitchFamily="34" charset="0"/>
              </a:rPr>
              <a:t>O’Kane, D. (2012). The CDS–Bond Basis. London: Risk Books.</a:t>
            </a:r>
          </a:p>
          <a:p>
            <a:pPr marL="179388" indent="-179388" defTabSz="609630"/>
            <a:r>
              <a:rPr lang="pt-BR" sz="1050" dirty="0">
                <a:solidFill>
                  <a:prstClr val="black"/>
                </a:solidFill>
                <a:latin typeface="Calibri" panose="020F0502020204030204" pitchFamily="34" charset="0"/>
                <a:cs typeface="Calibri" panose="020F0502020204030204" pitchFamily="34" charset="0"/>
              </a:rPr>
              <a:t>OECD, ECLAC, CAF, &amp; European Commission. (2024). Mercado de capitales [Capital Markets] (Chapter 3). In Latin American Economic Outlook 2024: Financing Sustainable Development (pp. 119–174). OECD Publishing. https://doi.org/10.1787/c437947f-en</a:t>
            </a:r>
          </a:p>
          <a:p>
            <a:pPr marL="179388" indent="-179388" defTabSz="609630"/>
            <a:r>
              <a:rPr lang="pt-BR" sz="1050" dirty="0">
                <a:solidFill>
                  <a:prstClr val="black"/>
                </a:solidFill>
                <a:latin typeface="Calibri" panose="020F0502020204030204" pitchFamily="34" charset="0"/>
                <a:cs typeface="Calibri" panose="020F0502020204030204" pitchFamily="34" charset="0"/>
              </a:rPr>
              <a:t>Silva, E. O., &amp; Paulo, W. L. (2015). Determinants of sovereign CDS spreads: Evidence from Brazil. International Business Research, 8(7), 102–112. https://pdfs.semanticscholar.org/1558/e90ca70eec0d1e1208ed07261f14ea76dee8.pdf</a:t>
            </a:r>
          </a:p>
          <a:p>
            <a:pPr marL="179388" indent="-179388" defTabSz="609630"/>
            <a:r>
              <a:rPr lang="pt-BR" sz="1050" dirty="0">
                <a:solidFill>
                  <a:prstClr val="black"/>
                </a:solidFill>
                <a:latin typeface="Calibri" panose="020F0502020204030204" pitchFamily="34" charset="0"/>
                <a:cs typeface="Calibri" panose="020F0502020204030204" pitchFamily="34" charset="0"/>
              </a:rPr>
              <a:t>Wooldridge, J. M. (2019). Introductory Econometrics: A Modern Approach (7th ed.). Cengage.</a:t>
            </a:r>
          </a:p>
        </p:txBody>
      </p:sp>
      <p:sp>
        <p:nvSpPr>
          <p:cNvPr id="4" name="TextBox 6">
            <a:extLst>
              <a:ext uri="{FF2B5EF4-FFF2-40B4-BE49-F238E27FC236}">
                <a16:creationId xmlns:a16="http://schemas.microsoft.com/office/drawing/2014/main" id="{C4E5DB40-2522-3417-5069-C2E6896D59B3}"/>
              </a:ext>
            </a:extLst>
          </p:cNvPr>
          <p:cNvSpPr txBox="1"/>
          <p:nvPr/>
        </p:nvSpPr>
        <p:spPr>
          <a:xfrm>
            <a:off x="179400" y="56951"/>
            <a:ext cx="10810420" cy="492443"/>
          </a:xfrm>
          <a:prstGeom prst="rect">
            <a:avLst/>
          </a:prstGeom>
        </p:spPr>
        <p:txBody>
          <a:bodyPr wrap="square" lIns="0" tIns="0" rIns="0" bIns="0" rtlCol="0" anchor="t">
            <a:spAutoFit/>
          </a:bodyPr>
          <a:lstStyle/>
          <a:p>
            <a:pPr defTabSz="609630"/>
            <a:r>
              <a:rPr lang="en-US" sz="3200" b="1" dirty="0">
                <a:solidFill>
                  <a:prstClr val="black"/>
                </a:solidFill>
                <a:latin typeface="Calibri" panose="020F0502020204030204" pitchFamily="34" charset="0"/>
                <a:ea typeface="M PLUS 2" pitchFamily="2" charset="-128"/>
                <a:cs typeface="Calibri" panose="020F0502020204030204" pitchFamily="34" charset="0"/>
              </a:rPr>
              <a:t>References</a:t>
            </a:r>
          </a:p>
        </p:txBody>
      </p:sp>
    </p:spTree>
    <p:extLst>
      <p:ext uri="{BB962C8B-B14F-4D97-AF65-F5344CB8AC3E}">
        <p14:creationId xmlns:p14="http://schemas.microsoft.com/office/powerpoint/2010/main" val="3150011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25540-9F24-DC41-541A-16DCA36154DB}"/>
            </a:ext>
          </a:extLst>
        </p:cNvPr>
        <p:cNvGrpSpPr/>
        <p:nvPr/>
      </p:nvGrpSpPr>
      <p:grpSpPr>
        <a:xfrm>
          <a:off x="0" y="0"/>
          <a:ext cx="0" cy="0"/>
          <a:chOff x="0" y="0"/>
          <a:chExt cx="0" cy="0"/>
        </a:xfrm>
      </p:grpSpPr>
      <p:sp>
        <p:nvSpPr>
          <p:cNvPr id="200" name="Google Shape;200;p30">
            <a:extLst>
              <a:ext uri="{FF2B5EF4-FFF2-40B4-BE49-F238E27FC236}">
                <a16:creationId xmlns:a16="http://schemas.microsoft.com/office/drawing/2014/main" id="{C6A81FAE-DB51-0B4F-69E6-9F875683102D}"/>
              </a:ext>
            </a:extLst>
          </p:cNvPr>
          <p:cNvSpPr/>
          <p:nvPr/>
        </p:nvSpPr>
        <p:spPr>
          <a:xfrm>
            <a:off x="2954898" y="1737318"/>
            <a:ext cx="2241832" cy="643950"/>
          </a:xfrm>
          <a:prstGeom prst="rect">
            <a:avLst/>
          </a:prstGeom>
          <a:noFill/>
          <a:ln>
            <a:noFill/>
          </a:ln>
        </p:spPr>
        <p:txBody>
          <a:bodyPr spcFirstLastPara="1" wrap="square" lIns="0" tIns="0" rIns="0" bIns="0" anchor="t" anchorCtr="0">
            <a:noAutofit/>
          </a:bodyPr>
          <a:lstStyle/>
          <a:p>
            <a:pPr marL="0" marR="0" lvl="0" indent="0" algn="l" rtl="0">
              <a:lnSpc>
                <a:spcPct val="147222"/>
              </a:lnSpc>
              <a:spcBef>
                <a:spcPts val="0"/>
              </a:spcBef>
              <a:spcAft>
                <a:spcPts val="0"/>
              </a:spcAft>
              <a:buNone/>
            </a:pPr>
            <a:endParaRPr sz="2400" dirty="0">
              <a:solidFill>
                <a:schemeClr val="tx1"/>
              </a:solidFill>
              <a:latin typeface="Calibri" panose="020F0502020204030204" pitchFamily="34" charset="0"/>
              <a:ea typeface="Gelasio"/>
              <a:cs typeface="Calibri" panose="020F0502020204030204" pitchFamily="34" charset="0"/>
              <a:sym typeface="Gelasio"/>
            </a:endParaRPr>
          </a:p>
        </p:txBody>
      </p:sp>
      <p:sp>
        <p:nvSpPr>
          <p:cNvPr id="2" name="Google Shape;200;p30">
            <a:extLst>
              <a:ext uri="{FF2B5EF4-FFF2-40B4-BE49-F238E27FC236}">
                <a16:creationId xmlns:a16="http://schemas.microsoft.com/office/drawing/2014/main" id="{10A101E9-87D3-041D-A7A8-BAD61BC8380C}"/>
              </a:ext>
            </a:extLst>
          </p:cNvPr>
          <p:cNvSpPr/>
          <p:nvPr/>
        </p:nvSpPr>
        <p:spPr>
          <a:xfrm>
            <a:off x="2839219" y="1400077"/>
            <a:ext cx="6513562" cy="2193264"/>
          </a:xfrm>
          <a:prstGeom prst="rect">
            <a:avLst/>
          </a:prstGeom>
          <a:noFill/>
          <a:ln>
            <a:noFill/>
          </a:ln>
        </p:spPr>
        <p:txBody>
          <a:bodyPr spcFirstLastPara="1" wrap="square" lIns="0" tIns="0" rIns="0" bIns="0" anchor="t" anchorCtr="0">
            <a:noAutofit/>
          </a:bodyPr>
          <a:lstStyle/>
          <a:p>
            <a:pPr algn="ctr">
              <a:lnSpc>
                <a:spcPct val="147222"/>
              </a:lnSpc>
            </a:pPr>
            <a:r>
              <a:rPr lang="es-ES" sz="3200" b="1" dirty="0" err="1">
                <a:solidFill>
                  <a:schemeClr val="tx1"/>
                </a:solidFill>
                <a:latin typeface="Calibri" panose="020F0502020204030204" pitchFamily="34" charset="0"/>
                <a:ea typeface="Gelasio"/>
                <a:cs typeface="Calibri" panose="020F0502020204030204" pitchFamily="34" charset="0"/>
                <a:sym typeface="Gelasio"/>
              </a:rPr>
              <a:t>Thank</a:t>
            </a:r>
            <a:r>
              <a:rPr lang="es-ES" sz="3200" b="1" dirty="0">
                <a:solidFill>
                  <a:schemeClr val="tx1"/>
                </a:solidFill>
                <a:latin typeface="Calibri" panose="020F0502020204030204" pitchFamily="34" charset="0"/>
                <a:ea typeface="Gelasio"/>
                <a:cs typeface="Calibri" panose="020F0502020204030204" pitchFamily="34" charset="0"/>
                <a:sym typeface="Gelasio"/>
              </a:rPr>
              <a:t> </a:t>
            </a:r>
            <a:r>
              <a:rPr lang="es-ES" sz="3200" b="1" dirty="0" err="1">
                <a:solidFill>
                  <a:schemeClr val="tx1"/>
                </a:solidFill>
                <a:latin typeface="Calibri" panose="020F0502020204030204" pitchFamily="34" charset="0"/>
                <a:ea typeface="Gelasio"/>
                <a:cs typeface="Calibri" panose="020F0502020204030204" pitchFamily="34" charset="0"/>
                <a:sym typeface="Gelasio"/>
              </a:rPr>
              <a:t>you</a:t>
            </a:r>
            <a:r>
              <a:rPr lang="es-ES" sz="3200" b="1" dirty="0">
                <a:solidFill>
                  <a:schemeClr val="tx1"/>
                </a:solidFill>
                <a:latin typeface="Calibri" panose="020F0502020204030204" pitchFamily="34" charset="0"/>
                <a:ea typeface="Gelasio"/>
                <a:cs typeface="Calibri" panose="020F0502020204030204" pitchFamily="34" charset="0"/>
                <a:sym typeface="Gelasio"/>
              </a:rPr>
              <a:t>!</a:t>
            </a:r>
          </a:p>
          <a:p>
            <a:pPr algn="ctr">
              <a:lnSpc>
                <a:spcPct val="147222"/>
              </a:lnSpc>
            </a:pPr>
            <a:endParaRPr lang="es-ES" sz="3200" b="1"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3200" dirty="0">
                <a:solidFill>
                  <a:schemeClr val="tx1"/>
                </a:solidFill>
                <a:latin typeface="Calibri" panose="020F0502020204030204" pitchFamily="34" charset="0"/>
                <a:ea typeface="Gelasio"/>
                <a:cs typeface="Calibri" panose="020F0502020204030204" pitchFamily="34" charset="0"/>
                <a:sym typeface="Gelasio"/>
              </a:rPr>
              <a:t>Thiago Siqueira</a:t>
            </a:r>
            <a:endParaRPr sz="32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dirty="0" err="1">
                <a:solidFill>
                  <a:schemeClr val="tx1"/>
                </a:solidFill>
                <a:latin typeface="Calibri" panose="020F0502020204030204" pitchFamily="34" charset="0"/>
                <a:ea typeface="Gelasio"/>
                <a:cs typeface="Calibri" panose="020F0502020204030204" pitchFamily="34" charset="0"/>
                <a:sym typeface="Gelasio"/>
              </a:rPr>
              <a:t>Phone</a:t>
            </a:r>
            <a:r>
              <a:rPr lang="es-ES" sz="2400" dirty="0">
                <a:solidFill>
                  <a:schemeClr val="tx1"/>
                </a:solidFill>
                <a:latin typeface="Calibri" panose="020F0502020204030204" pitchFamily="34" charset="0"/>
                <a:ea typeface="Gelasio"/>
                <a:cs typeface="Calibri" panose="020F0502020204030204" pitchFamily="34" charset="0"/>
                <a:sym typeface="Gelasio"/>
              </a:rPr>
              <a:t> / </a:t>
            </a:r>
            <a:r>
              <a:rPr lang="es-ES" sz="2400" dirty="0" err="1">
                <a:solidFill>
                  <a:schemeClr val="tx1"/>
                </a:solidFill>
                <a:latin typeface="Calibri" panose="020F0502020204030204" pitchFamily="34" charset="0"/>
                <a:ea typeface="Gelasio"/>
                <a:cs typeface="Calibri" panose="020F0502020204030204" pitchFamily="34" charset="0"/>
                <a:sym typeface="Gelasio"/>
              </a:rPr>
              <a:t>Whatsapp</a:t>
            </a:r>
            <a:r>
              <a:rPr lang="es-ES" sz="2400" dirty="0">
                <a:solidFill>
                  <a:schemeClr val="tx1"/>
                </a:solidFill>
                <a:latin typeface="Calibri" panose="020F0502020204030204" pitchFamily="34" charset="0"/>
                <a:ea typeface="Gelasio"/>
                <a:cs typeface="Calibri" panose="020F0502020204030204" pitchFamily="34" charset="0"/>
                <a:sym typeface="Gelasio"/>
              </a:rPr>
              <a:t>: (55 11) 95344-7612</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u="sng" dirty="0">
                <a:solidFill>
                  <a:schemeClr val="tx1"/>
                </a:solidFill>
                <a:latin typeface="Calibri" panose="020F0502020204030204" pitchFamily="34" charset="0"/>
                <a:ea typeface="Gelasio"/>
                <a:cs typeface="Calibri" panose="020F0502020204030204" pitchFamily="34" charset="0"/>
                <a:sym typeface="Gelasio"/>
              </a:rPr>
              <a:t>www.linkedin.com/in/thiago-siqueira</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r>
              <a:rPr lang="es-ES" sz="2400" dirty="0">
                <a:solidFill>
                  <a:schemeClr val="tx1"/>
                </a:solidFill>
                <a:latin typeface="Calibri" panose="020F0502020204030204" pitchFamily="34" charset="0"/>
                <a:ea typeface="Gelasio"/>
                <a:cs typeface="Calibri" panose="020F0502020204030204" pitchFamily="34" charset="0"/>
                <a:sym typeface="Gelasio"/>
              </a:rPr>
              <a:t>t_siqueira@hotmail.com </a:t>
            </a:r>
            <a:endParaRPr sz="2400" dirty="0">
              <a:solidFill>
                <a:schemeClr val="tx1"/>
              </a:solidFill>
              <a:latin typeface="Calibri" panose="020F0502020204030204" pitchFamily="34" charset="0"/>
              <a:ea typeface="Gelasio"/>
              <a:cs typeface="Calibri" panose="020F0502020204030204" pitchFamily="34" charset="0"/>
              <a:sym typeface="Gelasio"/>
            </a:endParaRPr>
          </a:p>
          <a:p>
            <a:pPr marL="0" marR="0" lvl="0" indent="0" algn="ctr" rtl="0">
              <a:lnSpc>
                <a:spcPct val="147222"/>
              </a:lnSpc>
              <a:spcBef>
                <a:spcPts val="0"/>
              </a:spcBef>
              <a:spcAft>
                <a:spcPts val="0"/>
              </a:spcAft>
              <a:buNone/>
            </a:pPr>
            <a:endParaRPr sz="2400" dirty="0">
              <a:solidFill>
                <a:schemeClr val="tx1"/>
              </a:solidFill>
              <a:latin typeface="Calibri" panose="020F0502020204030204" pitchFamily="34" charset="0"/>
              <a:ea typeface="Gelasio"/>
              <a:cs typeface="Calibri" panose="020F0502020204030204" pitchFamily="34" charset="0"/>
              <a:sym typeface="Gelasio"/>
            </a:endParaRPr>
          </a:p>
        </p:txBody>
      </p:sp>
    </p:spTree>
    <p:extLst>
      <p:ext uri="{BB962C8B-B14F-4D97-AF65-F5344CB8AC3E}">
        <p14:creationId xmlns:p14="http://schemas.microsoft.com/office/powerpoint/2010/main" val="242748238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13954</TotalTime>
  <Words>5814</Words>
  <Application>Microsoft Office PowerPoint</Application>
  <PresentationFormat>Widescreen</PresentationFormat>
  <Paragraphs>520</Paragraphs>
  <Slides>21</Slides>
  <Notes>21</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Calibri</vt:lpstr>
      <vt:lpstr>Arial</vt:lpstr>
      <vt:lpstr>Cambria Math</vt:lpstr>
      <vt:lpstr>Courier New</vt:lpstr>
      <vt:lpstr>Play</vt:lpstr>
      <vt:lpstr>Office Theme</vt:lpstr>
      <vt:lpstr>1_Office Theme</vt:lpstr>
      <vt:lpstr>Master’s Thesis in Economics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Siqueira, Thiago</dc:creator>
  <cp:lastModifiedBy>Siqueira, Thiago</cp:lastModifiedBy>
  <cp:revision>35</cp:revision>
  <dcterms:modified xsi:type="dcterms:W3CDTF">2026-04-04T12:17:39Z</dcterms:modified>
</cp:coreProperties>
</file>